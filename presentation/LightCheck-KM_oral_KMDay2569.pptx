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เปิดเรื่อง" id="{17936f10-99f4-d24c-bea5-03b893af21e8}">
          <p14:sldIdLst>
            <p14:sldId id="256"/>
          </p14:sldIdLst>
        </p14:section>
        <p14:section name="ทำไมต้องวัดแสง" id="{26eccc3b-3642-d069-ac08-b4899e2772a9}">
          <p14:sldIdLst>
            <p14:sldId id="257"/>
            <p14:sldId id="258"/>
            <p14:sldId id="259"/>
          </p14:sldIdLst>
        </p14:section>
        <p14:section name="แนวคิดและวิธีการ" id="{300297dc-fe0a-0803-448c-a4b827e35c91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ผลลัพธ์" id="{823abad3-d600-900d-ee95-60a6eb59dc42}">
          <p14:sldIdLst>
            <p14:sldId id="266"/>
            <p14:sldId id="267"/>
          </p14:sldIdLst>
        </p14:section>
        <p14:section name="ใช้ประโยชน์และเผยแพร่" id="{4c25e5d2-9e39-e981-761c-bb5bde7ec14f}">
          <p14:sldIdLst>
            <p14:sldId id="268"/>
            <p14:sldId id="269"/>
            <p14:sldId id="270"/>
            <p14:sldId id="271"/>
          </p14:sldIdLst>
        </p14:section>
        <p14:section name="สรุป" id="{8979e561-8ad4-dacc-4b7c-9037ef54d564}">
          <p14:sldIdLst>
            <p14:sldId id="272"/>
          </p14:sldIdLst>
        </p14:section>
        <p14:section name="สำรองตอบคำถาม" id="{beb1c7a4-d5e3-28f8-cc5c-b3827324e5a7}">
          <p14:sldIdLst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ราคา (บาท)</c:v>
                </c:pt>
              </c:strCache>
            </c:strRef>
          </c:tx>
          <c:spPr>
            <a:solidFill>
              <a:srgbClr val="00766A"/>
            </a:solidFill>
            <a:effectLst/>
          </c:spPr>
          <c:invertIfNegative val="0"/>
          <c:dLbls>
            <c:numFmt formatCode="#,##0&quot; ฿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202B"/>
                    </a:solidFill>
                    <a:latin typeface="+mn-lt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766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163A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LightCheck KM (ต้นแบบ)</c:v>
                  </c:pt>
                  <c:pt idx="1">
                    <c:v>HIOKI FT3424 (รวม VAT)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385</c:v>
                </c:pt>
                <c:pt idx="1">
                  <c:v>28184</c:v>
                </c:pt>
              </c:numCache>
            </c:numRef>
          </c:val>
        </c:ser>
        <c:dLbls>
          <c:numFmt formatCode="#,##0&quot; ฿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4202B"/>
                  </a:solidFill>
                  <a:latin typeface="+mn-lt"/>
                  <a:cs typeface="+mn-c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A5866"/>
                </a:solidFill>
                <a:latin typeface="+mn-lt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3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866"/>
                </a:solidFill>
                <a:latin typeface="+mn-lt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02B"/>
                </a:solidFill>
                <a:latin typeface="+mn-lt"/>
                <a:cs typeface="+mn-cs"/>
              </a:defRPr>
            </a:pPr>
            <a:r>
              <a:rPr sz="1300" b="0" i="0" u="none" strike="noStrike">
                <a:solidFill>
                  <a:srgbClr val="14202B"/>
                </a:solidFill>
                <a:latin typeface="+mn-lt"/>
                <a:cs typeface="+mn-cs"/>
              </a:rPr>
              <a:t>ความแกว่งของค่าที่อ่าน (CV, %) เมื่อแสงแกว่งต่อครั้งระดับต่าง ๆ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ค่าแต่ละครั้ง</c:v>
                </c:pt>
              </c:strCache>
            </c:strRef>
          </c:tx>
          <c:spPr>
            <a:solidFill>
              <a:srgbClr val="B4D5E5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0.7%</c:v>
                  </c:pt>
                  <c:pt idx="1">
                    <c:v>1.5%</c:v>
                  </c:pt>
                  <c:pt idx="2">
                    <c:v>3.0%</c:v>
                  </c:pt>
                  <c:pt idx="3">
                    <c:v>6.0%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</c:v>
                </c:pt>
                <c:pt idx="1">
                  <c:v>1.5</c:v>
                </c:pt>
                <c:pt idx="2">
                  <c:v>3</c:v>
                </c:pt>
                <c:pt idx="3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ค่าบนจอ (เฉลี่ย 5 ค่า)</c:v>
                </c:pt>
              </c:strCache>
            </c:strRef>
          </c:tx>
          <c:spPr>
            <a:solidFill>
              <a:srgbClr val="00766A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0.7%</c:v>
                  </c:pt>
                  <c:pt idx="1">
                    <c:v>1.5%</c:v>
                  </c:pt>
                  <c:pt idx="2">
                    <c:v>3.0%</c:v>
                  </c:pt>
                  <c:pt idx="3">
                    <c:v>6.0%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0.33</c:v>
                </c:pt>
                <c:pt idx="1">
                  <c:v>0.64</c:v>
                </c:pt>
                <c:pt idx="2">
                  <c:v>1.53</c:v>
                </c:pt>
                <c:pt idx="3">
                  <c:v>2.61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  <a:cs typeface="+mn-c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866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A5866"/>
                    </a:solidFill>
                    <a:latin typeface="Arial"/>
                  </a:rPr>
                  <a:t>ความแกว่งของแสงต่อการอ่านหนึ่งครั้ง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866"/>
                </a:solidFill>
                <a:latin typeface="+mn-lt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9525" cap="flat">
              <a:solidFill>
                <a:srgbClr val="DDE5EC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866"/>
                </a:solidFill>
                <a:latin typeface="+mn-lt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ก่อนชดเชย (Raw)</c:v>
                </c:pt>
              </c:strCache>
            </c:strRef>
          </c:tx>
          <c:spPr>
            <a:solidFill>
              <a:srgbClr val="E0601A"/>
            </a:solidFill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E0601A"/>
              </a:solidFill>
              <a:ln w="9525" cap="flat">
                <a:solidFill>
                  <a:srgbClr val="E0601A"/>
                </a:solidFill>
                <a:prstDash val="solid"/>
                <a:round/>
              </a:ln>
              <a:effectLst/>
            </c:spPr>
          </c:marker>
          <c:xVal>
            <c:numRef>
              <c:f>Sheet1!$A$2:$A$25</c:f>
              <c:numCache>
                <c:formatCode>General</c:formatCode>
                <c:ptCount val="24"/>
                <c:pt idx="0">
                  <c:v>100</c:v>
                </c:pt>
                <c:pt idx="1">
                  <c:v>102</c:v>
                </c:pt>
                <c:pt idx="2">
                  <c:v>106</c:v>
                </c:pt>
                <c:pt idx="3">
                  <c:v>142</c:v>
                </c:pt>
                <c:pt idx="4">
                  <c:v>147</c:v>
                </c:pt>
                <c:pt idx="5">
                  <c:v>157</c:v>
                </c:pt>
                <c:pt idx="6">
                  <c:v>186</c:v>
                </c:pt>
                <c:pt idx="7">
                  <c:v>187</c:v>
                </c:pt>
                <c:pt idx="8">
                  <c:v>188</c:v>
                </c:pt>
                <c:pt idx="9">
                  <c:v>281</c:v>
                </c:pt>
                <c:pt idx="10">
                  <c:v>304</c:v>
                </c:pt>
                <c:pt idx="11">
                  <c:v>319</c:v>
                </c:pt>
                <c:pt idx="12">
                  <c:v>398</c:v>
                </c:pt>
                <c:pt idx="13">
                  <c:v>406</c:v>
                </c:pt>
                <c:pt idx="14">
                  <c:v>425</c:v>
                </c:pt>
                <c:pt idx="15">
                  <c:v>473</c:v>
                </c:pt>
                <c:pt idx="16">
                  <c:v>474</c:v>
                </c:pt>
                <c:pt idx="17">
                  <c:v>499</c:v>
                </c:pt>
                <c:pt idx="18">
                  <c:v>704</c:v>
                </c:pt>
                <c:pt idx="19">
                  <c:v>731</c:v>
                </c:pt>
                <c:pt idx="20">
                  <c:v>783</c:v>
                </c:pt>
                <c:pt idx="21">
                  <c:v>953</c:v>
                </c:pt>
                <c:pt idx="22">
                  <c:v>971</c:v>
                </c:pt>
                <c:pt idx="23">
                  <c:v>1071</c:v>
                </c:pt>
              </c:numCache>
            </c:numRef>
          </c:xVal>
          <c:yVal>
            <c:numRef>
              <c:f>Sheet1!$B$2:$B$25</c:f>
              <c:numCache>
                <c:formatCode>General</c:formatCode>
                <c:ptCount val="24"/>
                <c:pt idx="0">
                  <c:v>66.7</c:v>
                </c:pt>
                <c:pt idx="1">
                  <c:v>64</c:v>
                </c:pt>
                <c:pt idx="2">
                  <c:v>68</c:v>
                </c:pt>
                <c:pt idx="3">
                  <c:v>91.2</c:v>
                </c:pt>
                <c:pt idx="4">
                  <c:v>93.4</c:v>
                </c:pt>
                <c:pt idx="5">
                  <c:v>100.1</c:v>
                </c:pt>
                <c:pt idx="6">
                  <c:v>120.2</c:v>
                </c:pt>
                <c:pt idx="7">
                  <c:v>119.8</c:v>
                </c:pt>
                <c:pt idx="8">
                  <c:v>123.4</c:v>
                </c:pt>
                <c:pt idx="9">
                  <c:v>184.8</c:v>
                </c:pt>
                <c:pt idx="10">
                  <c:v>195.3</c:v>
                </c:pt>
                <c:pt idx="11">
                  <c:v>204.5</c:v>
                </c:pt>
                <c:pt idx="12">
                  <c:v>228</c:v>
                </c:pt>
                <c:pt idx="13">
                  <c:v>272.1</c:v>
                </c:pt>
                <c:pt idx="14">
                  <c:v>271.6</c:v>
                </c:pt>
                <c:pt idx="15">
                  <c:v>309.9</c:v>
                </c:pt>
                <c:pt idx="16">
                  <c:v>301.7</c:v>
                </c:pt>
                <c:pt idx="17">
                  <c:v>327.4</c:v>
                </c:pt>
                <c:pt idx="18">
                  <c:v>460.5</c:v>
                </c:pt>
                <c:pt idx="19">
                  <c:v>465.7</c:v>
                </c:pt>
                <c:pt idx="20">
                  <c:v>504.5</c:v>
                </c:pt>
                <c:pt idx="21">
                  <c:v>594.4</c:v>
                </c:pt>
                <c:pt idx="22">
                  <c:v>613</c:v>
                </c:pt>
                <c:pt idx="23">
                  <c:v>634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หลังชดเชย</c:v>
                </c:pt>
              </c:strCache>
            </c:strRef>
          </c:tx>
          <c:spPr>
            <a:solidFill>
              <a:srgbClr val="00766A"/>
            </a:solidFill>
            <a:ln>
              <a:noFill/>
            </a:ln>
            <a:effectLst/>
          </c:spPr>
          <c:marker>
            <c:symbol val="circle"/>
            <c:size val="8"/>
            <c:spPr>
              <a:solidFill>
                <a:srgbClr val="00766A"/>
              </a:solidFill>
              <a:ln w="9525" cap="flat">
                <a:solidFill>
                  <a:srgbClr val="00766A"/>
                </a:solidFill>
                <a:prstDash val="solid"/>
                <a:round/>
              </a:ln>
              <a:effectLst/>
            </c:spPr>
          </c:marker>
          <c:xVal>
            <c:numRef>
              <c:f>Sheet1!$A$2:$A$25</c:f>
              <c:numCache>
                <c:formatCode>General</c:formatCode>
                <c:ptCount val="24"/>
                <c:pt idx="0">
                  <c:v>100</c:v>
                </c:pt>
                <c:pt idx="1">
                  <c:v>102</c:v>
                </c:pt>
                <c:pt idx="2">
                  <c:v>106</c:v>
                </c:pt>
                <c:pt idx="3">
                  <c:v>142</c:v>
                </c:pt>
                <c:pt idx="4">
                  <c:v>147</c:v>
                </c:pt>
                <c:pt idx="5">
                  <c:v>157</c:v>
                </c:pt>
                <c:pt idx="6">
                  <c:v>186</c:v>
                </c:pt>
                <c:pt idx="7">
                  <c:v>187</c:v>
                </c:pt>
                <c:pt idx="8">
                  <c:v>188</c:v>
                </c:pt>
                <c:pt idx="9">
                  <c:v>281</c:v>
                </c:pt>
                <c:pt idx="10">
                  <c:v>304</c:v>
                </c:pt>
                <c:pt idx="11">
                  <c:v>319</c:v>
                </c:pt>
                <c:pt idx="12">
                  <c:v>398</c:v>
                </c:pt>
                <c:pt idx="13">
                  <c:v>406</c:v>
                </c:pt>
                <c:pt idx="14">
                  <c:v>425</c:v>
                </c:pt>
                <c:pt idx="15">
                  <c:v>473</c:v>
                </c:pt>
                <c:pt idx="16">
                  <c:v>474</c:v>
                </c:pt>
                <c:pt idx="17">
                  <c:v>499</c:v>
                </c:pt>
                <c:pt idx="18">
                  <c:v>704</c:v>
                </c:pt>
                <c:pt idx="19">
                  <c:v>731</c:v>
                </c:pt>
                <c:pt idx="20">
                  <c:v>783</c:v>
                </c:pt>
                <c:pt idx="21">
                  <c:v>953</c:v>
                </c:pt>
                <c:pt idx="22">
                  <c:v>971</c:v>
                </c:pt>
                <c:pt idx="23">
                  <c:v>1071</c:v>
                </c:pt>
              </c:numCache>
            </c:numRef>
          </c:xVal>
          <c:yVal>
            <c:numRef>
              <c:f>Sheet1!$C$2:$C$25</c:f>
              <c:numCache>
                <c:formatCode>General</c:formatCode>
                <c:ptCount val="24"/>
                <c:pt idx="0">
                  <c:v>102.2</c:v>
                </c:pt>
                <c:pt idx="1">
                  <c:v>97.9</c:v>
                </c:pt>
                <c:pt idx="2">
                  <c:v>104.3</c:v>
                </c:pt>
                <c:pt idx="3">
                  <c:v>141.3</c:v>
                </c:pt>
                <c:pt idx="4">
                  <c:v>144.8</c:v>
                </c:pt>
                <c:pt idx="5">
                  <c:v>155.5</c:v>
                </c:pt>
                <c:pt idx="6">
                  <c:v>187.6</c:v>
                </c:pt>
                <c:pt idx="7">
                  <c:v>187.1</c:v>
                </c:pt>
                <c:pt idx="8">
                  <c:v>192.7</c:v>
                </c:pt>
                <c:pt idx="9">
                  <c:v>290.7</c:v>
                </c:pt>
                <c:pt idx="10">
                  <c:v>307.4</c:v>
                </c:pt>
                <c:pt idx="11">
                  <c:v>322.2</c:v>
                </c:pt>
                <c:pt idx="12">
                  <c:v>359.7</c:v>
                </c:pt>
                <c:pt idx="13">
                  <c:v>430</c:v>
                </c:pt>
                <c:pt idx="14">
                  <c:v>429.2</c:v>
                </c:pt>
                <c:pt idx="15">
                  <c:v>490.5</c:v>
                </c:pt>
                <c:pt idx="16">
                  <c:v>477.3</c:v>
                </c:pt>
                <c:pt idx="17">
                  <c:v>518.4</c:v>
                </c:pt>
                <c:pt idx="18">
                  <c:v>730.8</c:v>
                </c:pt>
                <c:pt idx="19">
                  <c:v>739</c:v>
                </c:pt>
                <c:pt idx="20">
                  <c:v>801</c:v>
                </c:pt>
                <c:pt idx="21">
                  <c:v>944.6</c:v>
                </c:pt>
                <c:pt idx="22">
                  <c:v>974.2</c:v>
                </c:pt>
                <c:pt idx="23">
                  <c:v>1007.6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 = x</c:v>
                </c:pt>
              </c:strCache>
            </c:strRef>
          </c:tx>
          <c:spPr>
            <a:ln w="19050" cap="rnd">
              <a:solidFill>
                <a:srgbClr val="7A8794"/>
              </a:solidFill>
              <a:prstDash val="dash"/>
            </a:ln>
          </c:spPr>
          <c:marker>
            <c:symbol val="none"/>
          </c:marker>
          <c:xVal>
            <c:numRef>
              <c:f>Sheet1!$A$2:$A$25</c:f>
              <c:numCache>
                <c:formatCode>General</c:formatCode>
                <c:ptCount val="24"/>
                <c:pt idx="0">
                  <c:v>100</c:v>
                </c:pt>
                <c:pt idx="1">
                  <c:v>102</c:v>
                </c:pt>
                <c:pt idx="2">
                  <c:v>106</c:v>
                </c:pt>
                <c:pt idx="3">
                  <c:v>142</c:v>
                </c:pt>
                <c:pt idx="4">
                  <c:v>147</c:v>
                </c:pt>
                <c:pt idx="5">
                  <c:v>157</c:v>
                </c:pt>
                <c:pt idx="6">
                  <c:v>186</c:v>
                </c:pt>
                <c:pt idx="7">
                  <c:v>187</c:v>
                </c:pt>
                <c:pt idx="8">
                  <c:v>188</c:v>
                </c:pt>
                <c:pt idx="9">
                  <c:v>281</c:v>
                </c:pt>
                <c:pt idx="10">
                  <c:v>304</c:v>
                </c:pt>
                <c:pt idx="11">
                  <c:v>319</c:v>
                </c:pt>
                <c:pt idx="12">
                  <c:v>398</c:v>
                </c:pt>
                <c:pt idx="13">
                  <c:v>406</c:v>
                </c:pt>
                <c:pt idx="14">
                  <c:v>425</c:v>
                </c:pt>
                <c:pt idx="15">
                  <c:v>473</c:v>
                </c:pt>
                <c:pt idx="16">
                  <c:v>474</c:v>
                </c:pt>
                <c:pt idx="17">
                  <c:v>499</c:v>
                </c:pt>
                <c:pt idx="18">
                  <c:v>704</c:v>
                </c:pt>
                <c:pt idx="19">
                  <c:v>731</c:v>
                </c:pt>
                <c:pt idx="20">
                  <c:v>783</c:v>
                </c:pt>
                <c:pt idx="21">
                  <c:v>953</c:v>
                </c:pt>
                <c:pt idx="22">
                  <c:v>971</c:v>
                </c:pt>
                <c:pt idx="23">
                  <c:v>1071</c:v>
                </c:pt>
              </c:numCache>
            </c:numRef>
          </c:xVal>
          <c:yVal>
            <c:numRef>
              <c:f>Sheet1!$D$2:$D$25</c:f>
              <c:numCache>
                <c:formatCode>General</c:formatCode>
                <c:ptCount val="24"/>
                <c:pt idx="0">
                  <c:v>100</c:v>
                </c:pt>
                <c:pt idx="1">
                  <c:v>102</c:v>
                </c:pt>
                <c:pt idx="2">
                  <c:v>106</c:v>
                </c:pt>
                <c:pt idx="3">
                  <c:v>142</c:v>
                </c:pt>
                <c:pt idx="4">
                  <c:v>147</c:v>
                </c:pt>
                <c:pt idx="5">
                  <c:v>157</c:v>
                </c:pt>
                <c:pt idx="6">
                  <c:v>186</c:v>
                </c:pt>
                <c:pt idx="7">
                  <c:v>187</c:v>
                </c:pt>
                <c:pt idx="8">
                  <c:v>188</c:v>
                </c:pt>
                <c:pt idx="9">
                  <c:v>281</c:v>
                </c:pt>
                <c:pt idx="10">
                  <c:v>304</c:v>
                </c:pt>
                <c:pt idx="11">
                  <c:v>319</c:v>
                </c:pt>
                <c:pt idx="12">
                  <c:v>398</c:v>
                </c:pt>
                <c:pt idx="13">
                  <c:v>406</c:v>
                </c:pt>
                <c:pt idx="14">
                  <c:v>425</c:v>
                </c:pt>
                <c:pt idx="15">
                  <c:v>473</c:v>
                </c:pt>
                <c:pt idx="16">
                  <c:v>474</c:v>
                </c:pt>
                <c:pt idx="17">
                  <c:v>499</c:v>
                </c:pt>
                <c:pt idx="18">
                  <c:v>704</c:v>
                </c:pt>
                <c:pt idx="19">
                  <c:v>731</c:v>
                </c:pt>
                <c:pt idx="20">
                  <c:v>783</c:v>
                </c:pt>
                <c:pt idx="21">
                  <c:v>953</c:v>
                </c:pt>
                <c:pt idx="22">
                  <c:v>971</c:v>
                </c:pt>
                <c:pt idx="23">
                  <c:v>1071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  <a:cs typeface="+mn-c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100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5866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4A5866"/>
                    </a:solidFill>
                    <a:latin typeface="Arial"/>
                  </a:rPr>
                  <a:t>ค่าจากเครื่องอ้างอิงมาตรฐาน (lux)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866"/>
                </a:solidFill>
                <a:latin typeface="+mn-lt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majorUnit val="200"/>
      </c:valAx>
      <c:valAx>
        <c:axId val="2094734552"/>
        <c:scaling>
          <c:orientation val="minMax"/>
          <c:max val="1100"/>
          <c:min val="0"/>
        </c:scaling>
        <c:delete val="0"/>
        <c:axPos val="l"/>
        <c:majorGridlines>
          <c:spPr>
            <a:ln w="9525" cap="flat">
              <a:solidFill>
                <a:srgbClr val="DDE5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5866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4A5866"/>
                    </a:solidFill>
                    <a:latin typeface="Arial"/>
                  </a:rPr>
                  <a:t>ค่าจากต้นแบบ (lux)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866"/>
                </a:solidFill>
                <a:latin typeface="+mn-lt"/>
                <a:cs typeface="+mn-cs"/>
              </a:defRPr>
            </a:pPr>
            <a:endParaRPr lang="en-US"/>
          </a:p>
        </c:txPr>
        <c:crossAx val="2094734554"/>
        <c:crosses val="autoZero"/>
        <c:crossBetween val="midCat"/>
        <c:majorUnit val="20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02B"/>
                </a:solidFill>
                <a:latin typeface="+mn-lt"/>
                <a:cs typeface="+mn-cs"/>
              </a:defRPr>
            </a:pPr>
            <a:r>
              <a:rPr sz="1300" b="0" i="0" u="none" strike="noStrike">
                <a:solidFill>
                  <a:srgbClr val="14202B"/>
                </a:solidFill>
                <a:latin typeface="+mn-lt"/>
                <a:cs typeface="+mn-cs"/>
              </a:rPr>
              <a:t>ตัดสินผ่าน/ไม่ผ่านผิด ที่เกณฑ์ 300 lux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ตัดสินผิด (%)</c:v>
                </c:pt>
              </c:strCache>
            </c:strRef>
          </c:tx>
          <c:spPr>
            <a:solidFill>
              <a:srgbClr val="E0601A"/>
            </a:solidFill>
            <a:effectLst/>
          </c:spPr>
          <c:invertIfNegative val="0"/>
          <c:dLbls>
            <c:numFmt formatCode="0.0#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Raw (ไม่ชดเชย)</c:v>
                  </c:pt>
                  <c:pt idx="1">
                    <c:v>ชดเชยแล้ว</c:v>
                  </c:pt>
                  <c:pt idx="2">
                    <c:v>ชดเชย + guard band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44.9</c:v>
                </c:pt>
                <c:pt idx="1">
                  <c:v>2.21</c:v>
                </c:pt>
                <c:pt idx="2">
                  <c:v>0.07</c:v>
                </c:pt>
              </c:numCache>
            </c:numRef>
          </c:val>
        </c:ser>
        <c:dLbls>
          <c:numFmt formatCode="0.0#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  <a:cs typeface="+mn-c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866"/>
                </a:solidFill>
                <a:latin typeface="+mn-lt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866"/>
                </a:solidFill>
                <a:latin typeface="+mn-lt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แรงดันไฟบ้าน 50 Hz</c:v>
                </c:pt>
              </c:strCache>
            </c:strRef>
          </c:tx>
          <c:spPr>
            <a:solidFill>
              <a:srgbClr val="4A5866"/>
            </a:solidFill>
            <a:ln w="31750" cap="flat">
              <a:solidFill>
                <a:srgbClr val="4A58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4A5866"/>
              </a:solidFill>
              <a:ln w="9525" cap="flat">
                <a:solidFill>
                  <a:srgbClr val="4A58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Sheet1!$A$2:$A$162</c:f>
              <c:multiLvlStrCache>
                <c:ptCount val="16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5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10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15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20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25</c:v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>30</c:v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>35</c:v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>40</c:v>
                  </c:pt>
                </c:lvl>
              </c:multiLvlStrCache>
            </c:multiLvlStrRef>
          </c:cat>
          <c:val>
            <c:numRef>
              <c:f>Sheet1!$B$2:$B$162</c:f>
              <c:numCache>
                <c:formatCode>General</c:formatCode>
                <c:ptCount val="161"/>
                <c:pt idx="0">
                  <c:v>0</c:v>
                </c:pt>
                <c:pt idx="1">
                  <c:v>0.078</c:v>
                </c:pt>
                <c:pt idx="2">
                  <c:v>0.156</c:v>
                </c:pt>
                <c:pt idx="3">
                  <c:v>0.233</c:v>
                </c:pt>
                <c:pt idx="4">
                  <c:v>0.309</c:v>
                </c:pt>
                <c:pt idx="5">
                  <c:v>0.383</c:v>
                </c:pt>
                <c:pt idx="6">
                  <c:v>0.454</c:v>
                </c:pt>
                <c:pt idx="7">
                  <c:v>0.522</c:v>
                </c:pt>
                <c:pt idx="8">
                  <c:v>0.588</c:v>
                </c:pt>
                <c:pt idx="9">
                  <c:v>0.649</c:v>
                </c:pt>
                <c:pt idx="10">
                  <c:v>0.707</c:v>
                </c:pt>
                <c:pt idx="11">
                  <c:v>0.76</c:v>
                </c:pt>
                <c:pt idx="12">
                  <c:v>0.809</c:v>
                </c:pt>
                <c:pt idx="13">
                  <c:v>0.853</c:v>
                </c:pt>
                <c:pt idx="14">
                  <c:v>0.891</c:v>
                </c:pt>
                <c:pt idx="15">
                  <c:v>0.924</c:v>
                </c:pt>
                <c:pt idx="16">
                  <c:v>0.951</c:v>
                </c:pt>
                <c:pt idx="17">
                  <c:v>0.972</c:v>
                </c:pt>
                <c:pt idx="18">
                  <c:v>0.988</c:v>
                </c:pt>
                <c:pt idx="19">
                  <c:v>0.997</c:v>
                </c:pt>
                <c:pt idx="20">
                  <c:v>1</c:v>
                </c:pt>
                <c:pt idx="21">
                  <c:v>0.997</c:v>
                </c:pt>
                <c:pt idx="22">
                  <c:v>0.988</c:v>
                </c:pt>
                <c:pt idx="23">
                  <c:v>0.972</c:v>
                </c:pt>
                <c:pt idx="24">
                  <c:v>0.951</c:v>
                </c:pt>
                <c:pt idx="25">
                  <c:v>0.924</c:v>
                </c:pt>
                <c:pt idx="26">
                  <c:v>0.891</c:v>
                </c:pt>
                <c:pt idx="27">
                  <c:v>0.853</c:v>
                </c:pt>
                <c:pt idx="28">
                  <c:v>0.809</c:v>
                </c:pt>
                <c:pt idx="29">
                  <c:v>0.76</c:v>
                </c:pt>
                <c:pt idx="30">
                  <c:v>0.707</c:v>
                </c:pt>
                <c:pt idx="31">
                  <c:v>0.649</c:v>
                </c:pt>
                <c:pt idx="32">
                  <c:v>0.588</c:v>
                </c:pt>
                <c:pt idx="33">
                  <c:v>0.522</c:v>
                </c:pt>
                <c:pt idx="34">
                  <c:v>0.454</c:v>
                </c:pt>
                <c:pt idx="35">
                  <c:v>0.383</c:v>
                </c:pt>
                <c:pt idx="36">
                  <c:v>0.309</c:v>
                </c:pt>
                <c:pt idx="37">
                  <c:v>0.233</c:v>
                </c:pt>
                <c:pt idx="38">
                  <c:v>0.156</c:v>
                </c:pt>
                <c:pt idx="39">
                  <c:v>0.078</c:v>
                </c:pt>
                <c:pt idx="40">
                  <c:v>0</c:v>
                </c:pt>
                <c:pt idx="41">
                  <c:v>-0.078</c:v>
                </c:pt>
                <c:pt idx="42">
                  <c:v>-0.156</c:v>
                </c:pt>
                <c:pt idx="43">
                  <c:v>-0.233</c:v>
                </c:pt>
                <c:pt idx="44">
                  <c:v>-0.309</c:v>
                </c:pt>
                <c:pt idx="45">
                  <c:v>-0.383</c:v>
                </c:pt>
                <c:pt idx="46">
                  <c:v>-0.454</c:v>
                </c:pt>
                <c:pt idx="47">
                  <c:v>-0.522</c:v>
                </c:pt>
                <c:pt idx="48">
                  <c:v>-0.588</c:v>
                </c:pt>
                <c:pt idx="49">
                  <c:v>-0.649</c:v>
                </c:pt>
                <c:pt idx="50">
                  <c:v>-0.707</c:v>
                </c:pt>
                <c:pt idx="51">
                  <c:v>-0.76</c:v>
                </c:pt>
                <c:pt idx="52">
                  <c:v>-0.809</c:v>
                </c:pt>
                <c:pt idx="53">
                  <c:v>-0.853</c:v>
                </c:pt>
                <c:pt idx="54">
                  <c:v>-0.891</c:v>
                </c:pt>
                <c:pt idx="55">
                  <c:v>-0.924</c:v>
                </c:pt>
                <c:pt idx="56">
                  <c:v>-0.951</c:v>
                </c:pt>
                <c:pt idx="57">
                  <c:v>-0.972</c:v>
                </c:pt>
                <c:pt idx="58">
                  <c:v>-0.988</c:v>
                </c:pt>
                <c:pt idx="59">
                  <c:v>-0.997</c:v>
                </c:pt>
                <c:pt idx="60">
                  <c:v>-1</c:v>
                </c:pt>
                <c:pt idx="61">
                  <c:v>-0.997</c:v>
                </c:pt>
                <c:pt idx="62">
                  <c:v>-0.988</c:v>
                </c:pt>
                <c:pt idx="63">
                  <c:v>-0.972</c:v>
                </c:pt>
                <c:pt idx="64">
                  <c:v>-0.951</c:v>
                </c:pt>
                <c:pt idx="65">
                  <c:v>-0.924</c:v>
                </c:pt>
                <c:pt idx="66">
                  <c:v>-0.891</c:v>
                </c:pt>
                <c:pt idx="67">
                  <c:v>-0.853</c:v>
                </c:pt>
                <c:pt idx="68">
                  <c:v>-0.809</c:v>
                </c:pt>
                <c:pt idx="69">
                  <c:v>-0.76</c:v>
                </c:pt>
                <c:pt idx="70">
                  <c:v>-0.707</c:v>
                </c:pt>
                <c:pt idx="71">
                  <c:v>-0.649</c:v>
                </c:pt>
                <c:pt idx="72">
                  <c:v>-0.588</c:v>
                </c:pt>
                <c:pt idx="73">
                  <c:v>-0.522</c:v>
                </c:pt>
                <c:pt idx="74">
                  <c:v>-0.454</c:v>
                </c:pt>
                <c:pt idx="75">
                  <c:v>-0.383</c:v>
                </c:pt>
                <c:pt idx="76">
                  <c:v>-0.309</c:v>
                </c:pt>
                <c:pt idx="77">
                  <c:v>-0.233</c:v>
                </c:pt>
                <c:pt idx="78">
                  <c:v>-0.156</c:v>
                </c:pt>
                <c:pt idx="79">
                  <c:v>-0.078</c:v>
                </c:pt>
                <c:pt idx="80">
                  <c:v>0</c:v>
                </c:pt>
                <c:pt idx="81">
                  <c:v>0.078</c:v>
                </c:pt>
                <c:pt idx="82">
                  <c:v>0.156</c:v>
                </c:pt>
                <c:pt idx="83">
                  <c:v>0.233</c:v>
                </c:pt>
                <c:pt idx="84">
                  <c:v>0.309</c:v>
                </c:pt>
                <c:pt idx="85">
                  <c:v>0.383</c:v>
                </c:pt>
                <c:pt idx="86">
                  <c:v>0.454</c:v>
                </c:pt>
                <c:pt idx="87">
                  <c:v>0.522</c:v>
                </c:pt>
                <c:pt idx="88">
                  <c:v>0.588</c:v>
                </c:pt>
                <c:pt idx="89">
                  <c:v>0.649</c:v>
                </c:pt>
                <c:pt idx="90">
                  <c:v>0.707</c:v>
                </c:pt>
                <c:pt idx="91">
                  <c:v>0.76</c:v>
                </c:pt>
                <c:pt idx="92">
                  <c:v>0.809</c:v>
                </c:pt>
                <c:pt idx="93">
                  <c:v>0.853</c:v>
                </c:pt>
                <c:pt idx="94">
                  <c:v>0.891</c:v>
                </c:pt>
                <c:pt idx="95">
                  <c:v>0.924</c:v>
                </c:pt>
                <c:pt idx="96">
                  <c:v>0.951</c:v>
                </c:pt>
                <c:pt idx="97">
                  <c:v>0.972</c:v>
                </c:pt>
                <c:pt idx="98">
                  <c:v>0.988</c:v>
                </c:pt>
                <c:pt idx="99">
                  <c:v>0.997</c:v>
                </c:pt>
                <c:pt idx="100">
                  <c:v>1</c:v>
                </c:pt>
                <c:pt idx="101">
                  <c:v>0.997</c:v>
                </c:pt>
                <c:pt idx="102">
                  <c:v>0.988</c:v>
                </c:pt>
                <c:pt idx="103">
                  <c:v>0.972</c:v>
                </c:pt>
                <c:pt idx="104">
                  <c:v>0.951</c:v>
                </c:pt>
                <c:pt idx="105">
                  <c:v>0.924</c:v>
                </c:pt>
                <c:pt idx="106">
                  <c:v>0.891</c:v>
                </c:pt>
                <c:pt idx="107">
                  <c:v>0.853</c:v>
                </c:pt>
                <c:pt idx="108">
                  <c:v>0.809</c:v>
                </c:pt>
                <c:pt idx="109">
                  <c:v>0.76</c:v>
                </c:pt>
                <c:pt idx="110">
                  <c:v>0.707</c:v>
                </c:pt>
                <c:pt idx="111">
                  <c:v>0.649</c:v>
                </c:pt>
                <c:pt idx="112">
                  <c:v>0.588</c:v>
                </c:pt>
                <c:pt idx="113">
                  <c:v>0.522</c:v>
                </c:pt>
                <c:pt idx="114">
                  <c:v>0.454</c:v>
                </c:pt>
                <c:pt idx="115">
                  <c:v>0.383</c:v>
                </c:pt>
                <c:pt idx="116">
                  <c:v>0.309</c:v>
                </c:pt>
                <c:pt idx="117">
                  <c:v>0.233</c:v>
                </c:pt>
                <c:pt idx="118">
                  <c:v>0.156</c:v>
                </c:pt>
                <c:pt idx="119">
                  <c:v>0.078</c:v>
                </c:pt>
                <c:pt idx="120">
                  <c:v>0</c:v>
                </c:pt>
                <c:pt idx="121">
                  <c:v>-0.078</c:v>
                </c:pt>
                <c:pt idx="122">
                  <c:v>-0.156</c:v>
                </c:pt>
                <c:pt idx="123">
                  <c:v>-0.233</c:v>
                </c:pt>
                <c:pt idx="124">
                  <c:v>-0.309</c:v>
                </c:pt>
                <c:pt idx="125">
                  <c:v>-0.383</c:v>
                </c:pt>
                <c:pt idx="126">
                  <c:v>-0.454</c:v>
                </c:pt>
                <c:pt idx="127">
                  <c:v>-0.522</c:v>
                </c:pt>
                <c:pt idx="128">
                  <c:v>-0.588</c:v>
                </c:pt>
                <c:pt idx="129">
                  <c:v>-0.649</c:v>
                </c:pt>
                <c:pt idx="130">
                  <c:v>-0.707</c:v>
                </c:pt>
                <c:pt idx="131">
                  <c:v>-0.76</c:v>
                </c:pt>
                <c:pt idx="132">
                  <c:v>-0.809</c:v>
                </c:pt>
                <c:pt idx="133">
                  <c:v>-0.853</c:v>
                </c:pt>
                <c:pt idx="134">
                  <c:v>-0.891</c:v>
                </c:pt>
                <c:pt idx="135">
                  <c:v>-0.924</c:v>
                </c:pt>
                <c:pt idx="136">
                  <c:v>-0.951</c:v>
                </c:pt>
                <c:pt idx="137">
                  <c:v>-0.972</c:v>
                </c:pt>
                <c:pt idx="138">
                  <c:v>-0.988</c:v>
                </c:pt>
                <c:pt idx="139">
                  <c:v>-0.997</c:v>
                </c:pt>
                <c:pt idx="140">
                  <c:v>-1</c:v>
                </c:pt>
                <c:pt idx="141">
                  <c:v>-0.997</c:v>
                </c:pt>
                <c:pt idx="142">
                  <c:v>-0.988</c:v>
                </c:pt>
                <c:pt idx="143">
                  <c:v>-0.972</c:v>
                </c:pt>
                <c:pt idx="144">
                  <c:v>-0.951</c:v>
                </c:pt>
                <c:pt idx="145">
                  <c:v>-0.924</c:v>
                </c:pt>
                <c:pt idx="146">
                  <c:v>-0.891</c:v>
                </c:pt>
                <c:pt idx="147">
                  <c:v>-0.853</c:v>
                </c:pt>
                <c:pt idx="148">
                  <c:v>-0.809</c:v>
                </c:pt>
                <c:pt idx="149">
                  <c:v>-0.76</c:v>
                </c:pt>
                <c:pt idx="150">
                  <c:v>-0.707</c:v>
                </c:pt>
                <c:pt idx="151">
                  <c:v>-0.649</c:v>
                </c:pt>
                <c:pt idx="152">
                  <c:v>-0.588</c:v>
                </c:pt>
                <c:pt idx="153">
                  <c:v>-0.522</c:v>
                </c:pt>
                <c:pt idx="154">
                  <c:v>-0.454</c:v>
                </c:pt>
                <c:pt idx="155">
                  <c:v>-0.383</c:v>
                </c:pt>
                <c:pt idx="156">
                  <c:v>-0.309</c:v>
                </c:pt>
                <c:pt idx="157">
                  <c:v>-0.233</c:v>
                </c:pt>
                <c:pt idx="158">
                  <c:v>-0.156</c:v>
                </c:pt>
                <c:pt idx="159">
                  <c:v>-0.078</c:v>
                </c:pt>
                <c:pt idx="160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ความสว่าง LED (ตามขนาดกระแส)</c:v>
                </c:pt>
              </c:strCache>
            </c:strRef>
          </c:tx>
          <c:spPr>
            <a:solidFill>
              <a:srgbClr val="F2B233"/>
            </a:solidFill>
            <a:ln w="31750" cap="flat">
              <a:solidFill>
                <a:srgbClr val="F2B2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+mn-lt"/>
                    <a:cs typeface="+mn-c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2B233"/>
              </a:solidFill>
              <a:ln w="9525" cap="flat">
                <a:solidFill>
                  <a:srgbClr val="F2B2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Sheet1!$A$2:$A$162</c:f>
              <c:multiLvlStrCache>
                <c:ptCount val="161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5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>10</c:v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15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20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>25</c:v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>30</c:v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>35</c:v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>40</c:v>
                  </c:pt>
                </c:lvl>
              </c:multiLvlStrCache>
            </c:multiLvlStrRef>
          </c:cat>
          <c:val>
            <c:numRef>
              <c:f>Sheet1!$C$2:$C$162</c:f>
              <c:numCache>
                <c:formatCode>General</c:formatCode>
                <c:ptCount val="161"/>
                <c:pt idx="0">
                  <c:v>0</c:v>
                </c:pt>
                <c:pt idx="1">
                  <c:v>0.078</c:v>
                </c:pt>
                <c:pt idx="2">
                  <c:v>0.156</c:v>
                </c:pt>
                <c:pt idx="3">
                  <c:v>0.233</c:v>
                </c:pt>
                <c:pt idx="4">
                  <c:v>0.309</c:v>
                </c:pt>
                <c:pt idx="5">
                  <c:v>0.383</c:v>
                </c:pt>
                <c:pt idx="6">
                  <c:v>0.454</c:v>
                </c:pt>
                <c:pt idx="7">
                  <c:v>0.522</c:v>
                </c:pt>
                <c:pt idx="8">
                  <c:v>0.588</c:v>
                </c:pt>
                <c:pt idx="9">
                  <c:v>0.649</c:v>
                </c:pt>
                <c:pt idx="10">
                  <c:v>0.707</c:v>
                </c:pt>
                <c:pt idx="11">
                  <c:v>0.76</c:v>
                </c:pt>
                <c:pt idx="12">
                  <c:v>0.809</c:v>
                </c:pt>
                <c:pt idx="13">
                  <c:v>0.853</c:v>
                </c:pt>
                <c:pt idx="14">
                  <c:v>0.891</c:v>
                </c:pt>
                <c:pt idx="15">
                  <c:v>0.924</c:v>
                </c:pt>
                <c:pt idx="16">
                  <c:v>0.951</c:v>
                </c:pt>
                <c:pt idx="17">
                  <c:v>0.972</c:v>
                </c:pt>
                <c:pt idx="18">
                  <c:v>0.988</c:v>
                </c:pt>
                <c:pt idx="19">
                  <c:v>0.997</c:v>
                </c:pt>
                <c:pt idx="20">
                  <c:v>1</c:v>
                </c:pt>
                <c:pt idx="21">
                  <c:v>0.997</c:v>
                </c:pt>
                <c:pt idx="22">
                  <c:v>0.988</c:v>
                </c:pt>
                <c:pt idx="23">
                  <c:v>0.972</c:v>
                </c:pt>
                <c:pt idx="24">
                  <c:v>0.951</c:v>
                </c:pt>
                <c:pt idx="25">
                  <c:v>0.924</c:v>
                </c:pt>
                <c:pt idx="26">
                  <c:v>0.891</c:v>
                </c:pt>
                <c:pt idx="27">
                  <c:v>0.853</c:v>
                </c:pt>
                <c:pt idx="28">
                  <c:v>0.809</c:v>
                </c:pt>
                <c:pt idx="29">
                  <c:v>0.76</c:v>
                </c:pt>
                <c:pt idx="30">
                  <c:v>0.707</c:v>
                </c:pt>
                <c:pt idx="31">
                  <c:v>0.649</c:v>
                </c:pt>
                <c:pt idx="32">
                  <c:v>0.588</c:v>
                </c:pt>
                <c:pt idx="33">
                  <c:v>0.522</c:v>
                </c:pt>
                <c:pt idx="34">
                  <c:v>0.454</c:v>
                </c:pt>
                <c:pt idx="35">
                  <c:v>0.383</c:v>
                </c:pt>
                <c:pt idx="36">
                  <c:v>0.309</c:v>
                </c:pt>
                <c:pt idx="37">
                  <c:v>0.233</c:v>
                </c:pt>
                <c:pt idx="38">
                  <c:v>0.156</c:v>
                </c:pt>
                <c:pt idx="39">
                  <c:v>0.078</c:v>
                </c:pt>
                <c:pt idx="40">
                  <c:v>0</c:v>
                </c:pt>
                <c:pt idx="41">
                  <c:v>0.078</c:v>
                </c:pt>
                <c:pt idx="42">
                  <c:v>0.156</c:v>
                </c:pt>
                <c:pt idx="43">
                  <c:v>0.233</c:v>
                </c:pt>
                <c:pt idx="44">
                  <c:v>0.309</c:v>
                </c:pt>
                <c:pt idx="45">
                  <c:v>0.383</c:v>
                </c:pt>
                <c:pt idx="46">
                  <c:v>0.454</c:v>
                </c:pt>
                <c:pt idx="47">
                  <c:v>0.522</c:v>
                </c:pt>
                <c:pt idx="48">
                  <c:v>0.588</c:v>
                </c:pt>
                <c:pt idx="49">
                  <c:v>0.649</c:v>
                </c:pt>
                <c:pt idx="50">
                  <c:v>0.707</c:v>
                </c:pt>
                <c:pt idx="51">
                  <c:v>0.76</c:v>
                </c:pt>
                <c:pt idx="52">
                  <c:v>0.809</c:v>
                </c:pt>
                <c:pt idx="53">
                  <c:v>0.853</c:v>
                </c:pt>
                <c:pt idx="54">
                  <c:v>0.891</c:v>
                </c:pt>
                <c:pt idx="55">
                  <c:v>0.924</c:v>
                </c:pt>
                <c:pt idx="56">
                  <c:v>0.951</c:v>
                </c:pt>
                <c:pt idx="57">
                  <c:v>0.972</c:v>
                </c:pt>
                <c:pt idx="58">
                  <c:v>0.988</c:v>
                </c:pt>
                <c:pt idx="59">
                  <c:v>0.997</c:v>
                </c:pt>
                <c:pt idx="60">
                  <c:v>1</c:v>
                </c:pt>
                <c:pt idx="61">
                  <c:v>0.997</c:v>
                </c:pt>
                <c:pt idx="62">
                  <c:v>0.988</c:v>
                </c:pt>
                <c:pt idx="63">
                  <c:v>0.972</c:v>
                </c:pt>
                <c:pt idx="64">
                  <c:v>0.951</c:v>
                </c:pt>
                <c:pt idx="65">
                  <c:v>0.924</c:v>
                </c:pt>
                <c:pt idx="66">
                  <c:v>0.891</c:v>
                </c:pt>
                <c:pt idx="67">
                  <c:v>0.853</c:v>
                </c:pt>
                <c:pt idx="68">
                  <c:v>0.809</c:v>
                </c:pt>
                <c:pt idx="69">
                  <c:v>0.76</c:v>
                </c:pt>
                <c:pt idx="70">
                  <c:v>0.707</c:v>
                </c:pt>
                <c:pt idx="71">
                  <c:v>0.649</c:v>
                </c:pt>
                <c:pt idx="72">
                  <c:v>0.588</c:v>
                </c:pt>
                <c:pt idx="73">
                  <c:v>0.522</c:v>
                </c:pt>
                <c:pt idx="74">
                  <c:v>0.454</c:v>
                </c:pt>
                <c:pt idx="75">
                  <c:v>0.383</c:v>
                </c:pt>
                <c:pt idx="76">
                  <c:v>0.309</c:v>
                </c:pt>
                <c:pt idx="77">
                  <c:v>0.233</c:v>
                </c:pt>
                <c:pt idx="78">
                  <c:v>0.156</c:v>
                </c:pt>
                <c:pt idx="79">
                  <c:v>0.078</c:v>
                </c:pt>
                <c:pt idx="80">
                  <c:v>0</c:v>
                </c:pt>
                <c:pt idx="81">
                  <c:v>0.078</c:v>
                </c:pt>
                <c:pt idx="82">
                  <c:v>0.156</c:v>
                </c:pt>
                <c:pt idx="83">
                  <c:v>0.233</c:v>
                </c:pt>
                <c:pt idx="84">
                  <c:v>0.309</c:v>
                </c:pt>
                <c:pt idx="85">
                  <c:v>0.383</c:v>
                </c:pt>
                <c:pt idx="86">
                  <c:v>0.454</c:v>
                </c:pt>
                <c:pt idx="87">
                  <c:v>0.522</c:v>
                </c:pt>
                <c:pt idx="88">
                  <c:v>0.588</c:v>
                </c:pt>
                <c:pt idx="89">
                  <c:v>0.649</c:v>
                </c:pt>
                <c:pt idx="90">
                  <c:v>0.707</c:v>
                </c:pt>
                <c:pt idx="91">
                  <c:v>0.76</c:v>
                </c:pt>
                <c:pt idx="92">
                  <c:v>0.809</c:v>
                </c:pt>
                <c:pt idx="93">
                  <c:v>0.853</c:v>
                </c:pt>
                <c:pt idx="94">
                  <c:v>0.891</c:v>
                </c:pt>
                <c:pt idx="95">
                  <c:v>0.924</c:v>
                </c:pt>
                <c:pt idx="96">
                  <c:v>0.951</c:v>
                </c:pt>
                <c:pt idx="97">
                  <c:v>0.972</c:v>
                </c:pt>
                <c:pt idx="98">
                  <c:v>0.988</c:v>
                </c:pt>
                <c:pt idx="99">
                  <c:v>0.997</c:v>
                </c:pt>
                <c:pt idx="100">
                  <c:v>1</c:v>
                </c:pt>
                <c:pt idx="101">
                  <c:v>0.997</c:v>
                </c:pt>
                <c:pt idx="102">
                  <c:v>0.988</c:v>
                </c:pt>
                <c:pt idx="103">
                  <c:v>0.972</c:v>
                </c:pt>
                <c:pt idx="104">
                  <c:v>0.951</c:v>
                </c:pt>
                <c:pt idx="105">
                  <c:v>0.924</c:v>
                </c:pt>
                <c:pt idx="106">
                  <c:v>0.891</c:v>
                </c:pt>
                <c:pt idx="107">
                  <c:v>0.853</c:v>
                </c:pt>
                <c:pt idx="108">
                  <c:v>0.809</c:v>
                </c:pt>
                <c:pt idx="109">
                  <c:v>0.76</c:v>
                </c:pt>
                <c:pt idx="110">
                  <c:v>0.707</c:v>
                </c:pt>
                <c:pt idx="111">
                  <c:v>0.649</c:v>
                </c:pt>
                <c:pt idx="112">
                  <c:v>0.588</c:v>
                </c:pt>
                <c:pt idx="113">
                  <c:v>0.522</c:v>
                </c:pt>
                <c:pt idx="114">
                  <c:v>0.454</c:v>
                </c:pt>
                <c:pt idx="115">
                  <c:v>0.383</c:v>
                </c:pt>
                <c:pt idx="116">
                  <c:v>0.309</c:v>
                </c:pt>
                <c:pt idx="117">
                  <c:v>0.233</c:v>
                </c:pt>
                <c:pt idx="118">
                  <c:v>0.156</c:v>
                </c:pt>
                <c:pt idx="119">
                  <c:v>0.078</c:v>
                </c:pt>
                <c:pt idx="120">
                  <c:v>0</c:v>
                </c:pt>
                <c:pt idx="121">
                  <c:v>0.078</c:v>
                </c:pt>
                <c:pt idx="122">
                  <c:v>0.156</c:v>
                </c:pt>
                <c:pt idx="123">
                  <c:v>0.233</c:v>
                </c:pt>
                <c:pt idx="124">
                  <c:v>0.309</c:v>
                </c:pt>
                <c:pt idx="125">
                  <c:v>0.383</c:v>
                </c:pt>
                <c:pt idx="126">
                  <c:v>0.454</c:v>
                </c:pt>
                <c:pt idx="127">
                  <c:v>0.522</c:v>
                </c:pt>
                <c:pt idx="128">
                  <c:v>0.588</c:v>
                </c:pt>
                <c:pt idx="129">
                  <c:v>0.649</c:v>
                </c:pt>
                <c:pt idx="130">
                  <c:v>0.707</c:v>
                </c:pt>
                <c:pt idx="131">
                  <c:v>0.76</c:v>
                </c:pt>
                <c:pt idx="132">
                  <c:v>0.809</c:v>
                </c:pt>
                <c:pt idx="133">
                  <c:v>0.853</c:v>
                </c:pt>
                <c:pt idx="134">
                  <c:v>0.891</c:v>
                </c:pt>
                <c:pt idx="135">
                  <c:v>0.924</c:v>
                </c:pt>
                <c:pt idx="136">
                  <c:v>0.951</c:v>
                </c:pt>
                <c:pt idx="137">
                  <c:v>0.972</c:v>
                </c:pt>
                <c:pt idx="138">
                  <c:v>0.988</c:v>
                </c:pt>
                <c:pt idx="139">
                  <c:v>0.997</c:v>
                </c:pt>
                <c:pt idx="140">
                  <c:v>1</c:v>
                </c:pt>
                <c:pt idx="141">
                  <c:v>0.997</c:v>
                </c:pt>
                <c:pt idx="142">
                  <c:v>0.988</c:v>
                </c:pt>
                <c:pt idx="143">
                  <c:v>0.972</c:v>
                </c:pt>
                <c:pt idx="144">
                  <c:v>0.951</c:v>
                </c:pt>
                <c:pt idx="145">
                  <c:v>0.924</c:v>
                </c:pt>
                <c:pt idx="146">
                  <c:v>0.891</c:v>
                </c:pt>
                <c:pt idx="147">
                  <c:v>0.853</c:v>
                </c:pt>
                <c:pt idx="148">
                  <c:v>0.809</c:v>
                </c:pt>
                <c:pt idx="149">
                  <c:v>0.76</c:v>
                </c:pt>
                <c:pt idx="150">
                  <c:v>0.707</c:v>
                </c:pt>
                <c:pt idx="151">
                  <c:v>0.649</c:v>
                </c:pt>
                <c:pt idx="152">
                  <c:v>0.588</c:v>
                </c:pt>
                <c:pt idx="153">
                  <c:v>0.522</c:v>
                </c:pt>
                <c:pt idx="154">
                  <c:v>0.454</c:v>
                </c:pt>
                <c:pt idx="155">
                  <c:v>0.383</c:v>
                </c:pt>
                <c:pt idx="156">
                  <c:v>0.309</c:v>
                </c:pt>
                <c:pt idx="157">
                  <c:v>0.233</c:v>
                </c:pt>
                <c:pt idx="158">
                  <c:v>0.156</c:v>
                </c:pt>
                <c:pt idx="159">
                  <c:v>0.078</c:v>
                </c:pt>
                <c:pt idx="160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+mn-lt"/>
                  <a:cs typeface="+mn-c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5866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4A5866"/>
                    </a:solidFill>
                    <a:latin typeface="Arial"/>
                  </a:rPr>
                  <a:t>เวลา (ms)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866"/>
                </a:solidFill>
                <a:latin typeface="+mn-lt"/>
                <a:cs typeface="+mn-c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20"/>
      </c:catAx>
      <c:valAx>
        <c:axId val="2094734552"/>
        <c:scaling>
          <c:orientation val="minMax"/>
          <c:max val="1.1"/>
          <c:min val="-1.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866"/>
                </a:solidFill>
                <a:latin typeface="+mn-lt"/>
                <a:cs typeface="+mn-c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สวัสดีคณะกรรมการและผู้ร่วมงานทุกท่าน ผลงานนี้ชื่อ LightCheck KM จากเครื่องวัดแสงต้นทุนต่ำ สู่ระบบความรู้ เพื่อยกระดับสภาพแวดล้อมสำนักงานสีเขียว
ใช้เวลาประมาณ 12–15 นาที: ทำไมต้องวัดแสง → แนวคิด → เครื่องมือและบทเรียน → ผลลัพธ์ → ใครนำไปใช้ได้อย่างไร และเชิญร่วมพัฒนาต่อ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เริ่มจากคน ไม่ได้เริ่มจากตัวชี้วัด
สายตาเราปรับตัวกับแสงสลัวได้เก่งมาก จนเรารู้สึกว่าพอ ทั้งที่กล้ามเนื้อตาต้องเพ่งอยู่ตลอดวัน
หน่วยงานความปลอดภัยของสหราชอาณาจักร (HSE) ระบุผลเสียที่เห็นชัดของแสงไม่เหมาะสม คือ ตาล้า ไมเกรน และปวดศีรษะ และยังเชื่อมโยงกับอาการแบบ sick building syndrome เช่น ซึม หงุดหงิด สมาธิลด
CCOHS ของแคนาดาระบุว่าแสงที่เหมาะสมช่วยลดอาการตาล้าและปวดศีรษะ และช่วยให้มองเห็นอันตรายจึงลดอุบัติเหตุ
เป้าหมายของงานนี้จึงไม่ใช่การผ่านตัวชี้วัด แต่คือการถนอมสายตาคนทำงานทุกคน ทุกวัน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ตัวชี้วัดไม่ได้เกิดขึ้นลอย ๆ ต้นทางคือสายตาของคนทำงาน
กรมสวัสดิการและคุ้มครองแรงงานจึงกำหนดมาตรฐานความเข้มแสง: พื้นที่สำนักงานเฉลี่ยไม่น้อยกว่า 300 lux จุดต่ำสุด 150 lux และที่จุดทำงานเขียน พิมพ์ อ่าน 400–500 lux และกำหนดวิธีวัดที่ระนาบ 75 ซม. เป็นกริด 2×2 ม.
Green Office ปี 2569 ข้อ 5.2.1 นำมาตรฐานนี้มาใช้ ให้วัดทุกปีด้วยเครื่องที่สอบเทียบแล้ว และห้ามใช้แอปมือถือ
เราจึงวัดเพื่อคน ตัวเลข 300 lux คือเส้นขั้นต่ำที่สายตาต้องการ ไม่ใช่เป้าหมายในตัวเอง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เครื่องวัดแสงมาตรฐานที่ราคาถูกที่สุดที่สำรวจได้ในตลาดไทยคือ HIOKI FT3424 ราคา 26,340 บาท บวก VAT 7% เป็น 28,183.80 บาท
สำนักงานมีห้องจำนวนมาก แต่ละห้องต้องวัดหลายจุดตามกริด เครื่องไม่กี่เครื่องจึงวัดไม่ทันทุกห้องทุกปี ส่วนแอปมือถือก็ใช้ไม่ได้ตามเกณฑ์
ต้นแบบของเราราว 385 บาท ถูกกว่าราว 73 เท่า แต่เราพูดชัดตั้งแต่ต้นว่า ไม่ได้เทียบเท่าเครื่องมาตรฐาน — ต้นแบบมีไว้คัดกรองให้ทั่ว เครื่องมาตรฐานมีไว้ยืนยันผลทางการ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นี่คือหัวใจของงาน เราไม่ได้ต้องการเครื่องที่อ่านได้ละเอียดถึงทศนิยมสองตำแหน่ง
จอแสดง 305.27 lux ดูแม่นยำ แต่ถ้าความคลาดเคลื่อนจริง ±7% ทศนิยมก็ไม่ได้บอกอะไร คำถามที่คนทำงานต้องการคำตอบคือ ห้องนี้แสงพอหรือไม่
จึงออกแบบเป็นการตัดสินใจ 3 โซนรอบเกณฑ์ 300 lux: ต่ำกว่า 278 = ไม่พอ ปรับปรุงได้เลย, 278–322 = ใกล้เส้น ส่งยืนยันด้วยเครื่องมาตรฐาน, สูงกว่า 322 = พอ
แถบกลางเรียกว่า guard band กว้างเท่าความคลาดเคลื่อน U95 ตามหลัก JCGM 106 ทำให้ใช้เครื่องมาตรฐานเฉพาะจุดที่จำเป็น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ถ้าถามว่าใช่ PDCA หรือไม่ — ใช่ ในระดับปฏิบัติงานเป็น PDCA ของการดูแลแสงตาม Green Office ที่ให้ตรวจ พบปัญหา แก้ไข และตรวจซ้ำ
สิ่งที่เพิ่มคือชั้น KM สองขั้นต่อท้ายทุกรอบ: ถอดบทเรียนจากหน้างานแล้วเขียนเป็นโค้ด SOP และข้อมูล แล้วเผยแพร่ให้ใช้ซ้ำ
รอบถัดไปหรือส่วนงานอื่นจึงเริ่มจากความรู้ที่สะสมไว้ ไม่ต้องเริ่มจากศูนย์ ในมุม SECI คือการแปลง tacit knowledge จากหน้างานเป็น explicit knowledge ที่ทำซ้ำได้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ต้นแบบมีชิ้นส่วนหลัก 3 ชิ้น ราคาจริงที่ซื้อ: เซนเซอร์แสง TSL2591 200 บาท, ไมโครคอนโทรลเลอร์ Wemos D1 mini 89 บาท ซึ่งมี Wi-Fi ในตัว, จอ LCD1602 พร้อม I²C 70 บาท
กล่องพิมพ์ 3 มิติด้วย PLA+ ราคา 480 บาทต่อกิโลกรัม คิดตามน้ำหนักที่คาดว่าจะใช้ 53.6 กรัม เป็นเงินราว 26 บาท โดยคำนวณจากไฟล์ STL ทีละชั้น
รวมประมาณ 385 บาทต่อเครื่อง ไม่รวมสายไฟ สกรู และสาย USB-C ที่มีอยู่แล้ว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ผังวงจรใช้บัส I²C ร่วมกันเพียง 2 สาย คือ SDA ที่ขา D2 และ SCL ที่ขา D1 เซนเซอร์อยู่ที่แอดเดรส 0x29 จออยู่ที่ 0x3F
ไฟเลี้ยงมาจากสาย USB-C 5 V ต่อ power bank หรืออะแดปเตอร์มือถือ บอร์ดจ่าย 5 V ให้จอ และแปลงเป็น 3.3 V ให้เซนเซอร์เอง จึงพกไปวัดทุกห้องได้
กล่องพิมพ์ด้วย Creality Ender-6 ไฟล์ STL เปิดให้ดาวน์โหลด หัวรับแสงเสมอผิวฝาไม่มีขอบบังแสง และมีช่องน็อต 1/4 นิ้วใต้กล่องสำหรับขาตั้งกล้องที่ระดับ 75 ซม. ตามวิธีวัด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ปัญหาที่เจอจริงตอนลงพื้นที่: ค่าที่อ่านใต้โคม LED กระโดดไปมา และไม่สอดคล้องกับจุดที่มีแสงธรรมชาติผสม
ข้อแรก LED มีพลังงานช่วงอินฟราเรดน้อยกว่าแสงแดด สูตรของเซนเซอร์สองช่องจึงคลาดเคลื่อนต่างกันตามแหล่งแสง
ข้อสอง ไฟบ้าน 50 Hz สลับขั้ว 50 รอบต่อวินาที แต่ความสว่างของ LED ขึ้นกับขนาดกระแส ไม่ขึ้นกับทิศ ในหนึ่งรอบจึงสว่างสุด 2 ครั้ง แสงวูบ 100 ครั้งต่อวินาที รายงาน DOE/PNNL ระบุว่าความถี่พื้นฐานของการกระพริบคือ 2 เท่าของความถี่ไฟ
วิธีแก้: integration time 300 ms ซึ่งเท่ากับ 30 รอบของ 100 Hz พอดี (และ 15 รอบของ 50 Hz) เฉลี่ย 5 ค่าล่าสุด และแสดงดาวบนจอเมื่อค่านิ่ง ผลทดสอบในแบบจำลอง firmware ค่าบนจอแกว่งลดลงราว 2 เท่า
ระหว่างทดสอบยังพบบั๊ก auto-range ของ v1.0 ที่แกว่งจนขึ้น SATURATED 41 ระดับจาก 521 ระดับ v1.1 แก้เหลือศูนย์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ค่าจากเซนเซอร์ผ่าน 4 ขั้น: อ่าน ADC สองช่อง แปลงเป็น lux ดิบตามสูตรของไลบรารี เฉลี่ย 5 ค่า แล้วชดเชยด้วยสมการเส้นตรง E corrected = a คูณ E raw เฉลี่ย บวก b
หาค่า a และ b ด้วย least squares จากการวัดคู่กับเครื่องมาตรฐานเพียงครั้งเดียว และทดสอบความแม่นยำบนข้อมูลอีกชุดคนละ session เพื่อไม่ให้หลอกตัวเอง
ตัวอย่างผลจำลอง a = 1.596, b = −4.2: ค่าดิบ 250 lux ชดเชยแล้วได้ 394.8 lux ซึ่งอยู่ในช่วงยืนยันของเกณฑ์ 400 lux จึงต้องวัดซ้ำด้วยเครื่องมาตรฐาน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ยังไม่มีข้อมูลวัดคู่จริงกับเครื่องมาตรฐาน จึงประเมินด้วยวิธีเชิงอัลกอริทึม: จำลองการสอบเทียบ 5,000 รอบ จากความคลาดเคลื่อนตาม datasheet ของ TSL2591 และสเปกของ HIOKI FT3424 ±2%
กราฟซ้าย: จุดสีส้มคือค่าดิบ อ่านต่ำกว่าจริงราว 1 ใน 3 จุดสีเขียวหลังชดเชยเข้าใกล้เส้น y = x
ตัวเลขสำคัญ: ความคลาดเคลื่อน 95% หลังชดเชย ±7.3% MAPE ลดจาก 37% เหลือ 2.5%
และที่สำคัญที่สุดสำหรับคำถาม “พอหรือไม่”: ตัดสินผิดที่เกณฑ์ 300 lux จาก 45% เหลือ 2.2% และเหลือ 0.07% เมื่อใช้ guard band โดยส่งยืนยันราว 13% ของจุด
ย้ำว่าเป็นผลจำลอง และเป็นโจทย์ข้อแรกที่เชิญชวนให้ร่วมวัดคู่จริง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นำ LightCheck KM ไปคัดกรองห้องทำงานของสำนักดิจิทัลเทคโนโลยี พบว่าเกือบทุกห้อง ยกเว้นห้องประชุม มีแสงต่ำกว่าระดับมาตรฐาน 10–30%
ผู้บริหารสำนักฯ วางแผนปรับปรุงทันทีเป็น 2 แนวทาง: ขาดเล็กน้อย เปลี่ยนหลอด LED ให้กำลังวัตต์สูงขึ้น คำนวณจาก P ใหม่ = P เดิม × E เป้าหมาย / E วัดได้ เช่น วัดได้ 270 lux ใช้หลอด 18 W เปลี่ยนเป็น 22 W
ขาดมาก ติดหลอดเพิ่ม N ใหม่ = ปัดขึ้นของ N เดิม × E เป้าหมาย / E วัดได้ เช่น 220 lux จาก 6 ดวงเป็น 9 ดวง
สูตรมาจาก lumen method ห้องเดิมโคมเดิม ความส่องสว่างแปรตามฟลักซ์รวม เป้าหมายตั้งเผื่อความคลาดเคลื่อน = เกณฑ์ × (1 + U95) ≈ 322 lux
ก่อนจัดซื้อให้ยืนยันห้องที่จะลงทุนด้วยเครื่องมาตรฐาน และวัดซ้ำหลังปรับปรุง นี่คือขั้น Act และ Check ของ PDCA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สำหรับคณะหรือส่วนงานที่ไม่มีเจ้าหน้าที่เทคนิค ใช้ได้ใน 5 ขั้น ไม่ต้องรู้เรื่อง firmware หรือสมการ เพราะเครื่องชดเชยค่าให้เอง และจอบอกเมื่อค่านิ่งด้วยเครื่องหมายดาว
1 ขอรับการถ่ายทอดหรือประกอบเองตามคู่มือ 2 พิมพ์ผังจุดวัดและแบบบันทึกจากเครื่องมือ grid planner 3 วางเครื่องที่ระดับ 75 ซม. รอจอขึ้นดาวแล้วจดค่า 4 จุดที่อยู่ในแถบสีเหลืองส่งยืนยันด้วยเครื่องมาตรฐาน 5 ปรับปรุงตามสูตรแล้ววัดซ้ำ
สิ่งที่ได้คือรู้ว่าห้องไหนแสงไม่พอ มีแผนปรับปรุงที่คำนวณได้ และใช้เป็นข้อมูลประกอบ Green Office 5.2.1 ร่วมกับผลยืนยันจากเครื่องมาตรฐาน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สำหรับเจ้าหน้าที่เทคนิคและนักวิจัย ทุกชิ้นเปิดเป็นโค้ด จึงต่อยอดได้ทันที
firmware ส่งค่า Raw และ Corrected ออก Serial เป็น CSV พร้อมรุ่นสมการ ชุดเครื่องมือสอบเทียบมีทั้ง fit, metrics และ guard band แบบจำลอง firmware ทดสอบ logic ได้บนคอมพิวเตอร์โดยไม่ต้องมีฮาร์ดแวร์ และกล่องเป็นแบบ parametric
ตัวอย่างการต่อยอด: ESP8266 มี Wi-Fi อยู่แล้ว ส่งค่าเข้าเซิร์ฟเวอร์ Node.js กับ EJS เก็บใน SQLite หรือ MongoDB แล้วทำ dashboard และแบบรายงาน Green Office อัตโนมัติ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องค์ความรู้ทั้งชุดเปิดเป็น public repository บน GitHub ให้บุคลากรทุกส่วนงานเข้าถึง ทำซ้ำ และต่อยอดได้เองโดยไม่ต้องขอสิทธิ์
มีเอกสารและคู่มือ 20 ฉบับ ไฟล์ STL 2 ไฟล์ เครื่องมือ Python 19 ตัว ใช้สัญญาอนุญาต MIT สำหรับโค้ด และ CC BY 4.0 สำหรับเอกสารและฮาร์ดแวร์
ช่องทางถาม-ตอบและขอรับการถ่ายทอดคือ GitHub Issues คำตอบสะสมเป็นความรู้ให้คนถัดไป และทุกตัวเลขในงานนี้สร้างซ้ำได้ด้วยคำสั่ง make all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เราเปิดเผยข้อจำกัดตรง ๆ และทำให้เป็นโจทย์ให้ร่วมพัฒนา
ข้อที่สำคัญที่สุดคือความแม่นยำที่แสดงยังเป็นผลจำลอง โจทย์ข้อแรกจึงเป็นการวัดคู่จริงกับเครื่องมาตรฐาน ซึ่งเป็นงานระดับง่าย ทำตาม SOP ได้เลย
ข้ออื่น ๆ เช่น สมการแยกตามชนิดหลอด Wi-Fi logging กับ dashboard ฝากระจายแสงลดความคลาดเคลื่อนเชิงมุม แผนที่ความสว่างจากกริด และเซนเซอร์สภาพแวดล้อมเพิ่ม
วิธีร่วม: เลือกหัวข้อในเอกสาร open-problems เปิด Issue ชื่อ [ร่วมพัฒนา] ตามด้วยชื่อหัวข้อ แล้วส่ง Pull Request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สรุป 3 ข้อ: หนึ่ง เราเริ่มจากคน ตัวชี้วัดมีไว้ปกป้องสายตา สอง เราไม่ต้องการทศนิยมหลายตำแหน่ง แค่ต้องตอบให้ได้ว่าพอหรือไม่ เครื่องละราว 385 บาทคัดกรองได้ทุกห้อง และยืนยันเฉพาะจุดใกล้เส้น สาม ทุกอย่างเป็นความรู้ขององค์กรที่เปิดให้ใช้ซ้ำและร่วมพัฒนาต่อ สแกน QR ได้เลย ขอบคุณ และยินดีตอบคำถาม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ใช้ตอบคำถามเรื่อง PDCA: ทุกขั้นมีหลักฐานใน repository ส่วนที่ต่างจาก PDCA ทั่วไปคือ 2 ขั้นท้ายที่ทำให้ความรู้ไม่หายไปกับคน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แบบจำลองสร้างการสอบเทียบเสมือน 5,000 ชุด แต่ละชุดสุ่มความไวของเซนเซอร์ตามช่วงใน datasheet สุ่มความคลาดเคลื่อนของเครื่องอ้างอิงตามสเปก ±2% แล้ว fit สมการบนชุดหนึ่งและวัดผลบนอีกชุด
ผลจึงบอกว่า “ถ้าเซนเซอร์เป็นไปตาม datasheet จะได้ประมาณนี้” ไม่ได้แทนข้อมูลจริง ทุกสไลด์ที่ใช้ผลนี้ติดป้ายผลจำลองไว้ และจะแทนด้วยข้อมูลวัดคู่จริงเป็นโจทย์ข้อแรก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ราคาอุปกรณ์เป็นราคาที่ซื้อจริง ส่วนกล่องคิดตามน้ำหนักเส้นพลาสติกที่คาดว่าจะใช้ โดยตัดไฟล์ STL เป็นชั้นละ 0.4 มม. ขอบ 3 เส้นเป็นเนื้อตัน ผิวบนล่าง 0.8 มม. ที่เหลือ infill 20% ได้ 53.6 กรัม คูณ 0.48 บาทต่อกรัม เป็น 25.7 บาท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ไฟบ้าน 50 Hz คือแรงดันสลับขั้ว 50 รอบต่อวินาที แต่ความสว่างขึ้นกับขนาดของกระแส ไม่ขึ้นกับทิศ ในหนึ่งรอบกระแสขึ้นถึงยอด 2 ครั้ง ช่วงบวกและช่วงลบ
driver หลอด LED ส่วนใหญ่ใช้วงจรเรียงกระแสเต็มคลื่น แสงจึงสว่าง-หรี่ 100 ครั้งต่อวินาที คาบ 10 ms รายงาน DOE/PNNL ระบุว่าความถี่พื้นฐานของการกระพริบของแหล่งแสงทั่วไปคือ 2 เท่าของความถี่ไฟ
มีเฉพาะ driver แบบครึ่งคลื่นที่อาจกระพริบ 50 Hz ไม่ว่ากรณีใด integration time 300 ms เท่ากับ 30 รอบของ 100 Hz และ 15 รอบของ 50 Hz พอดี จึงใช้ได้ทั้งสองแบบ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C_TITLE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img/su_se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1480"/>
            <a:ext cx="841248" cy="841248"/>
          </a:xfrm>
          <a:prstGeom prst="rect">
            <a:avLst/>
          </a:prstGeom>
        </p:spPr>
      </p:pic>
      <p:pic>
        <p:nvPicPr>
          <p:cNvPr id="3" name="Image 1" descr="/home/claude/work/deck/img/bdt_logo_stacke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768" y="411480"/>
            <a:ext cx="905256" cy="84124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03120"/>
            <a:ext cx="676656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246120"/>
            <a:ext cx="6400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C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img/bdt_logo_horizon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2" y="310896"/>
            <a:ext cx="1325880" cy="226771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"/>
            <a:ext cx="86868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603504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6254496"/>
            <a:ext cx="10378440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C_DARK">
    <p:bg>
      <p:bgPr>
        <a:solidFill>
          <a:srgbClr val="0F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deck/img/bdt_logo_horizont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365760"/>
            <a:ext cx="1216152" cy="207569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48640"/>
            <a:ext cx="95097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4D5E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4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anpot/LightCheck-KM" TargetMode="External"/><Relationship Id="rId3" Type="http://schemas.openxmlformats.org/officeDocument/2006/relationships/hyperlink" Target="https://github.com/banpot/LightCheck-KM" TargetMode="External"/><Relationship Id="rId1" Type="http://schemas.openxmlformats.org/officeDocument/2006/relationships/image" Target="../media/image-15-1.png"/><Relationship Id="rId4" Type="http://schemas.openxmlformats.org/officeDocument/2006/relationships/image" Target="../media/image-15-2.jpg"/><Relationship Id="rId5" Type="http://schemas.openxmlformats.org/officeDocument/2006/relationships/image" Target="../media/image-15-3.png"/><Relationship Id="rId6" Type="http://schemas.openxmlformats.org/officeDocument/2006/relationships/image" Target="../media/image-15-4.png"/><Relationship Id="rId7" Type="http://schemas.openxmlformats.org/officeDocument/2006/relationships/image" Target="../media/image-15-5.png"/><Relationship Id="rId8" Type="http://schemas.openxmlformats.org/officeDocument/2006/relationships/image" Target="../media/image-15-6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hyperlink" Target="https://github.com/banpot/LightCheck-KM" TargetMode="External"/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ข้อความ 1"/>
          <p:cNvSpPr txBox="1"/>
          <p:nvPr/>
        </p:nvSpPr>
        <p:spPr>
          <a:xfrm>
            <a:off x="54864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400" b="1" spc="100" kern="0" dirty="0">
                <a:solidFill>
                  <a:schemeClr val="accent4"/>
                </a:solidFill>
              </a:rPr>
              <a:t>SILPAKORN KM DAY 2569  ·  ORAL PRESENTATION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10312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>
                <a:solidFill>
                  <a:schemeClr val="bg1"/>
                </a:solidFill>
              </a:rPr>
              <a:t>LightCheck </a:t>
            </a:r>
            <a:pPr algn="l" indent="0" marL="0">
              <a:buNone/>
            </a:pPr>
            <a:r>
              <a:rPr lang="en-US" sz="6000" dirty="0">
                <a:solidFill>
                  <a:schemeClr val="accent4"/>
                </a:solidFill>
              </a:rPr>
              <a:t>KM</a:t>
            </a:r>
            <a:endParaRPr lang="en-US" sz="6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32461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จากเครื่องวัดแสงต้นทุนต่ำ สู่ระบบความรู้</a:t>
            </a:r>
            <a:endParaRPr lang="en-US" sz="2400" dirty="0"/>
          </a:p>
          <a:p>
            <a:pPr algn="l"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เพื่อยกระดับสภาพแวดล้อมสำนักงานสีเขียว</a:t>
            </a:r>
            <a:endParaRPr lang="en-US" sz="2400" dirty="0"/>
          </a:p>
        </p:txBody>
      </p:sp>
      <p:sp>
        <p:nvSpPr>
          <p:cNvPr id="5" name="ข้อความ 2"/>
          <p:cNvSpPr txBox="1"/>
          <p:nvPr/>
        </p:nvSpPr>
        <p:spPr>
          <a:xfrm>
            <a:off x="548640" y="48006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th-TH" altLang="en-US" sz="20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ว่าที่ ร.ต. ดร. บรรพต ดลวิทยากุล</a:t>
            </a:r>
            <a:endParaRPr lang="th-TH" sz="1600" dirty="0"/>
          </a:p>
          <a:p>
            <a:pPr indent="0" marL="0">
              <a:spcAft>
                <a:spcPts val="400"/>
              </a:spcAft>
              <a:buNone/>
            </a:pPr>
            <a:r>
              <a:rPr lang="th-TH" altLang="en-US" sz="1400" dirty="0">
                <a:solidFill>
                  <a:schemeClr val="accent6"/>
                </a:solidFill>
              </a:rPr>
              <a:t>ฝ่ายบริหารและพัฒนาดิจิทัลเทคโนโลยี สำนักดิจิทัลเทคโนโลยี มหาวิทยาลัยศิลปากร</a:t>
            </a:r>
            <a:endParaRPr lang="th-TH" sz="1600" dirty="0"/>
          </a:p>
        </p:txBody>
      </p:sp>
      <p:sp>
        <p:nvSpPr>
          <p:cNvPr id="6" name="ข้อความ 3"/>
          <p:cNvSpPr txBox="1"/>
          <p:nvPr/>
        </p:nvSpPr>
        <p:spPr>
          <a:xfrm>
            <a:off x="548640" y="59893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chemeClr val="accent6"/>
                </a:solidFill>
              </a:rPr>
              <a:t>ด้านการบริหารจัดการและสร้างนวัตกรรม  ·  18 ธันวาคม 2569</a:t>
            </a:r>
            <a:endParaRPr lang="th-TH" sz="1300" dirty="0"/>
          </a:p>
        </p:txBody>
      </p:sp>
      <p:pic>
        <p:nvPicPr>
          <p:cNvPr id="7" name="ภาพเครื่อง LightCheck KM" descr="/home/claude/work/deck/img/enclosure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2148840"/>
            <a:ext cx="4754880" cy="28896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743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คนทำงานเป็นศูนย์กลาง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0350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“รู้สึกว่าพอ” อาจไม่พอ สำหรับสายตาคนทำงานทั้งวัน</a:t>
            </a:r>
            <a:endParaRPr lang="en-US" sz="3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254496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อ้างอิง: HSE (1997). Lighting at work, HSG38. hse.gov.uk/pubns/books/hsg38.htm   ·   CCOHS (2025). Lighting Ergonomics – General. ccohs.ca/oshanswers/ergonomics/lighting_general.html</a:t>
            </a:r>
            <a:endParaRPr lang="en-US" sz="1000" dirty="0"/>
          </a:p>
        </p:txBody>
      </p:sp>
      <p:sp>
        <p:nvSpPr>
          <p:cNvPr id="6" name="ข้อความ 4"/>
          <p:cNvSpPr txBox="1"/>
          <p:nvPr/>
        </p:nvSpPr>
        <p:spPr>
          <a:xfrm>
            <a:off x="548640" y="160020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th-TH" altLang="en-US" sz="24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สายตาปรับตัวกับแสงสลัวจนเราไม่ทันสังเกต</a:t>
            </a:r>
            <a:endParaRPr lang="th-TH" sz="1600" dirty="0"/>
          </a:p>
          <a:p>
            <a:pPr indent="0" marL="0">
              <a:lnSpc>
                <a:spcPct val="105000"/>
              </a:lnSpc>
              <a:spcAft>
                <a:spcPts val="1000"/>
              </a:spcAft>
              <a:buNone/>
            </a:pPr>
            <a:r>
              <a:rPr lang="th-TH" altLang="en-US" sz="1800" dirty="0">
                <a:solidFill>
                  <a:schemeClr val="tx1"/>
                </a:solidFill>
              </a:rPr>
              <a:t>แต่กล้ามเนื้อตายังต้องเพ่งอยู่ตลอดวันทำงาน ผลเสียจึงสะสมโดยไม่รู้ตัว และกระทบทั้งสุขภาพ ความปลอดภัย และคุณภาพงาน</a:t>
            </a:r>
            <a:endParaRPr lang="th-TH" sz="1600" dirty="0"/>
          </a:p>
        </p:txBody>
      </p:sp>
      <p:sp>
        <p:nvSpPr>
          <p:cNvPr id="7" name="การ์ดผลเสีย 5"/>
          <p:cNvSpPr/>
          <p:nvPr/>
        </p:nvSpPr>
        <p:spPr>
          <a:xfrm>
            <a:off x="5166360" y="1572768"/>
            <a:ext cx="3090672" cy="1691640"/>
          </a:xfrm>
          <a:prstGeom prst="roundRect">
            <a:avLst>
              <a:gd name="adj" fmla="val 6486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8" name="วงกลมไอคอน 6"/>
          <p:cNvSpPr/>
          <p:nvPr/>
        </p:nvSpPr>
        <p:spPr>
          <a:xfrm>
            <a:off x="5394960" y="1828800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ไอคอน FaEyeLowVision 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2719" y="2006559"/>
            <a:ext cx="302849" cy="302849"/>
          </a:xfrm>
          <a:prstGeom prst="rect">
            <a:avLst/>
          </a:prstGeom>
        </p:spPr>
      </p:pic>
      <p:sp>
        <p:nvSpPr>
          <p:cNvPr id="10" name="ข้อความ 8"/>
          <p:cNvSpPr txBox="1"/>
          <p:nvPr/>
        </p:nvSpPr>
        <p:spPr>
          <a:xfrm>
            <a:off x="6190488" y="18288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9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ตาล้า ปวดตา</a:t>
            </a:r>
            <a:endParaRPr lang="th-TH" sz="1900" dirty="0"/>
          </a:p>
        </p:txBody>
      </p:sp>
      <p:sp>
        <p:nvSpPr>
          <p:cNvPr id="11" name="ข้อความ 9"/>
          <p:cNvSpPr txBox="1"/>
          <p:nvPr/>
        </p:nvSpPr>
        <p:spPr>
          <a:xfrm>
            <a:off x="5394960" y="25786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ต้องเพ่งเพื่อให้เห็นชัด</a:t>
            </a:r>
            <a:endParaRPr lang="th-TH" sz="1400" dirty="0"/>
          </a:p>
        </p:txBody>
      </p:sp>
      <p:sp>
        <p:nvSpPr>
          <p:cNvPr id="12" name="ข้อความ 10"/>
          <p:cNvSpPr txBox="1"/>
          <p:nvPr/>
        </p:nvSpPr>
        <p:spPr>
          <a:xfrm>
            <a:off x="5394960" y="28986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chemeClr val="accent5"/>
                </a:solidFill>
              </a:rPr>
              <a:t>ที่มา: HSE</a:t>
            </a:r>
            <a:endParaRPr lang="en-US" sz="1100" dirty="0"/>
          </a:p>
        </p:txBody>
      </p:sp>
      <p:sp>
        <p:nvSpPr>
          <p:cNvPr id="13" name="การ์ดผลเสีย 11"/>
          <p:cNvSpPr/>
          <p:nvPr/>
        </p:nvSpPr>
        <p:spPr>
          <a:xfrm>
            <a:off x="8439912" y="1572768"/>
            <a:ext cx="3090672" cy="1691640"/>
          </a:xfrm>
          <a:prstGeom prst="roundRect">
            <a:avLst>
              <a:gd name="adj" fmla="val 6486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14" name="วงกลมไอคอน 12"/>
          <p:cNvSpPr/>
          <p:nvPr/>
        </p:nvSpPr>
        <p:spPr>
          <a:xfrm>
            <a:off x="8668512" y="1828800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ไอคอน FaFaceTired 1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6271" y="2006559"/>
            <a:ext cx="302849" cy="302849"/>
          </a:xfrm>
          <a:prstGeom prst="rect">
            <a:avLst/>
          </a:prstGeom>
        </p:spPr>
      </p:pic>
      <p:sp>
        <p:nvSpPr>
          <p:cNvPr id="16" name="ข้อความ 14"/>
          <p:cNvSpPr txBox="1"/>
          <p:nvPr/>
        </p:nvSpPr>
        <p:spPr>
          <a:xfrm>
            <a:off x="9464040" y="18288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9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ปวดศีรษะ ไมเกรน</a:t>
            </a:r>
            <a:endParaRPr lang="th-TH" sz="1900" dirty="0"/>
          </a:p>
        </p:txBody>
      </p:sp>
      <p:sp>
        <p:nvSpPr>
          <p:cNvPr id="17" name="ข้อความ 15"/>
          <p:cNvSpPr txBox="1"/>
          <p:nvPr/>
        </p:nvSpPr>
        <p:spPr>
          <a:xfrm>
            <a:off x="8668512" y="257860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อาการที่พบบ่อยจากแสงไม่เหมาะสม</a:t>
            </a:r>
            <a:endParaRPr lang="th-TH" sz="1400" dirty="0"/>
          </a:p>
        </p:txBody>
      </p:sp>
      <p:sp>
        <p:nvSpPr>
          <p:cNvPr id="18" name="ข้อความ 16"/>
          <p:cNvSpPr txBox="1"/>
          <p:nvPr/>
        </p:nvSpPr>
        <p:spPr>
          <a:xfrm>
            <a:off x="8668512" y="28986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chemeClr val="accent5"/>
                </a:solidFill>
              </a:rPr>
              <a:t>ที่มา: HSE · CCOHS</a:t>
            </a:r>
            <a:endParaRPr lang="en-US" sz="1100" dirty="0"/>
          </a:p>
        </p:txBody>
      </p:sp>
      <p:sp>
        <p:nvSpPr>
          <p:cNvPr id="19" name="การ์ดผลเสีย 17"/>
          <p:cNvSpPr/>
          <p:nvPr/>
        </p:nvSpPr>
        <p:spPr>
          <a:xfrm>
            <a:off x="5166360" y="3447288"/>
            <a:ext cx="3090672" cy="1691640"/>
          </a:xfrm>
          <a:prstGeom prst="roundRect">
            <a:avLst>
              <a:gd name="adj" fmla="val 6486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20" name="วงกลมไอคอน 18"/>
          <p:cNvSpPr/>
          <p:nvPr/>
        </p:nvSpPr>
        <p:spPr>
          <a:xfrm>
            <a:off x="5394960" y="3703320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ไอคอน FaBrain 1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719" y="3881079"/>
            <a:ext cx="302849" cy="302849"/>
          </a:xfrm>
          <a:prstGeom prst="rect">
            <a:avLst/>
          </a:prstGeom>
        </p:spPr>
      </p:pic>
      <p:sp>
        <p:nvSpPr>
          <p:cNvPr id="22" name="ข้อความ 20"/>
          <p:cNvSpPr txBox="1"/>
          <p:nvPr/>
        </p:nvSpPr>
        <p:spPr>
          <a:xfrm>
            <a:off x="6190488" y="37033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9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ซึม สมาธิลด</a:t>
            </a:r>
            <a:endParaRPr lang="th-TH" sz="1900" dirty="0"/>
          </a:p>
        </p:txBody>
      </p:sp>
      <p:sp>
        <p:nvSpPr>
          <p:cNvPr id="23" name="ข้อความ 21"/>
          <p:cNvSpPr txBox="1"/>
          <p:nvPr/>
        </p:nvSpPr>
        <p:spPr>
          <a:xfrm>
            <a:off x="5394960" y="44531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หงุดหงิด งานผิดพลาดง่ายขึ้น</a:t>
            </a:r>
            <a:endParaRPr lang="th-TH" sz="1400" dirty="0"/>
          </a:p>
        </p:txBody>
      </p:sp>
      <p:sp>
        <p:nvSpPr>
          <p:cNvPr id="24" name="ข้อความ 22"/>
          <p:cNvSpPr txBox="1"/>
          <p:nvPr/>
        </p:nvSpPr>
        <p:spPr>
          <a:xfrm>
            <a:off x="5394960" y="47731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chemeClr val="accent5"/>
                </a:solidFill>
              </a:rPr>
              <a:t>ที่มา: HSE</a:t>
            </a:r>
            <a:endParaRPr lang="en-US" sz="1100" dirty="0"/>
          </a:p>
        </p:txBody>
      </p:sp>
      <p:sp>
        <p:nvSpPr>
          <p:cNvPr id="25" name="การ์ดผลเสีย 23"/>
          <p:cNvSpPr/>
          <p:nvPr/>
        </p:nvSpPr>
        <p:spPr>
          <a:xfrm>
            <a:off x="8439912" y="3447288"/>
            <a:ext cx="3090672" cy="1691640"/>
          </a:xfrm>
          <a:prstGeom prst="roundRect">
            <a:avLst>
              <a:gd name="adj" fmla="val 6486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26" name="วงกลมไอคอน 24"/>
          <p:cNvSpPr/>
          <p:nvPr/>
        </p:nvSpPr>
        <p:spPr>
          <a:xfrm>
            <a:off x="8668512" y="3703320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7" name="ไอคอน FaPersonFalling 2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271" y="3881079"/>
            <a:ext cx="302849" cy="302849"/>
          </a:xfrm>
          <a:prstGeom prst="rect">
            <a:avLst/>
          </a:prstGeom>
        </p:spPr>
      </p:pic>
      <p:sp>
        <p:nvSpPr>
          <p:cNvPr id="28" name="ข้อความ 26"/>
          <p:cNvSpPr txBox="1"/>
          <p:nvPr/>
        </p:nvSpPr>
        <p:spPr>
          <a:xfrm>
            <a:off x="9464040" y="370332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9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มองเห็นอันตรายช้า</a:t>
            </a:r>
            <a:endParaRPr lang="th-TH" sz="1900" dirty="0"/>
          </a:p>
        </p:txBody>
      </p:sp>
      <p:sp>
        <p:nvSpPr>
          <p:cNvPr id="29" name="ข้อความ 27"/>
          <p:cNvSpPr txBox="1"/>
          <p:nvPr/>
        </p:nvSpPr>
        <p:spPr>
          <a:xfrm>
            <a:off x="8668512" y="445312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เพิ่มความเสี่ยงอุบัติเหตุ</a:t>
            </a:r>
            <a:endParaRPr lang="th-TH" sz="1400" dirty="0"/>
          </a:p>
        </p:txBody>
      </p:sp>
      <p:sp>
        <p:nvSpPr>
          <p:cNvPr id="30" name="ข้อความ 28"/>
          <p:cNvSpPr txBox="1"/>
          <p:nvPr/>
        </p:nvSpPr>
        <p:spPr>
          <a:xfrm>
            <a:off x="8668512" y="47731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100" dirty="0">
                <a:solidFill>
                  <a:schemeClr val="accent5"/>
                </a:solidFill>
              </a:rPr>
              <a:t>ที่มา: CCOHS</a:t>
            </a:r>
            <a:endParaRPr lang="en-US" sz="1100" dirty="0"/>
          </a:p>
        </p:txBody>
      </p:sp>
      <p:sp>
        <p:nvSpPr>
          <p:cNvPr id="31" name="แถบสาระสำคัญ 29"/>
          <p:cNvSpPr/>
          <p:nvPr/>
        </p:nvSpPr>
        <p:spPr>
          <a:xfrm>
            <a:off x="548640" y="5440680"/>
            <a:ext cx="11091672" cy="658368"/>
          </a:xfrm>
          <a:prstGeom prst="roundRect">
            <a:avLst>
              <a:gd name="adj" fmla="val 16667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2" name="วงกลมไอคอน 30"/>
          <p:cNvSpPr/>
          <p:nvPr/>
        </p:nvSpPr>
        <p:spPr>
          <a:xfrm>
            <a:off x="713232" y="552297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3" name="ไอคอน FaHandHoldingHeart 3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552" y="5656296"/>
            <a:ext cx="227137" cy="227137"/>
          </a:xfrm>
          <a:prstGeom prst="rect">
            <a:avLst/>
          </a:prstGeom>
        </p:spPr>
      </p:pic>
      <p:sp>
        <p:nvSpPr>
          <p:cNvPr id="34" name="ข้อความ 32"/>
          <p:cNvSpPr txBox="1"/>
          <p:nvPr/>
        </p:nvSpPr>
        <p:spPr>
          <a:xfrm>
            <a:off x="1371600" y="5440680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20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เป้าหมายไม่ใช่ “ผ่านตัวชี้วัด” </a:t>
            </a:r>
            <a:pPr indent="0" marL="0">
              <a:buNone/>
            </a:pPr>
            <a:r>
              <a:rPr lang="th-TH" altLang="en-US" sz="20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แต่คือการถนอมสายตาคนทำงานทุกคน ทุกวัน</a:t>
            </a:r>
            <a:endParaRPr lang="th-TH" sz="2000" dirty="0"/>
          </a:p>
        </p:txBody>
      </p:sp>
      <p:sp>
        <p:nvSpPr>
          <p:cNvPr id="35" name="ข้อความ 33"/>
          <p:cNvSpPr txBox="1"/>
          <p:nvPr/>
        </p:nvSpPr>
        <p:spPr>
          <a:xfrm>
            <a:off x="548640" y="393192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3200" dirty="0">
                <a:solidFill>
                  <a:schemeClr val="accent3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สายตาปรับตัว</a:t>
            </a:r>
            <a:endParaRPr lang="th-TH" sz="3200" dirty="0"/>
          </a:p>
          <a:p>
            <a:pPr indent="0" marL="0">
              <a:buNone/>
            </a:pPr>
            <a:r>
              <a:rPr lang="th-TH" altLang="en-US" sz="3200" dirty="0">
                <a:solidFill>
                  <a:schemeClr val="accent3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≠ แสงเพียงพอ</a:t>
            </a:r>
            <a:endParaRPr lang="th-TH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743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ที่มาของตัวชี้วัด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0350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ตัวชี้วัดมีที่มา: ต้องวัดแสง เพราะแสงพอหรือไม่พอมีผลต่อคน</a:t>
            </a:r>
            <a:endParaRPr lang="en-US" sz="3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254496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อ้างอิง: กรมสวัสดิการและคุ้มครองแรงงาน (2561). ประกาศ เรื่อง มาตรฐานความเข้มของแสงสว่าง   ·   กรมสวัสดิการและคุ้มครองแรงงาน (2561). หลักเกณฑ์ วิธีการตรวจวัด และการวิเคราะห์สภาวะการทำงานเกี่ยวกับระดับความร้อน แสงสว่าง หรือเสียง   ·   กรมการเปลี่ยนแปลงสภาพภูมิอากาศและสิ่งแวดล้อม (2569). เกณฑ์การประเมินสำนักงานสีเขียว (Green Office) ปี 2569 ข้อ 5.2.1. dcce.go.th/15765</a:t>
            </a:r>
            <a:endParaRPr lang="en-US" sz="1000" dirty="0"/>
          </a:p>
        </p:txBody>
      </p:sp>
      <p:sp>
        <p:nvSpPr>
          <p:cNvPr id="6" name="การ์ดที่มา 34"/>
          <p:cNvSpPr/>
          <p:nvPr/>
        </p:nvSpPr>
        <p:spPr>
          <a:xfrm>
            <a:off x="548640" y="1554480"/>
            <a:ext cx="2542032" cy="2148840"/>
          </a:xfrm>
          <a:prstGeom prst="roundRect">
            <a:avLst>
              <a:gd name="adj" fmla="val 5106"/>
            </a:avLst>
          </a:prstGeom>
          <a:solidFill>
            <a:schemeClr val="accent3">
              <a:alpha val="11000"/>
            </a:schemeClr>
          </a:solidFill>
          <a:ln/>
        </p:spPr>
      </p:sp>
      <p:sp>
        <p:nvSpPr>
          <p:cNvPr id="7" name="วงกลมไอคอน 35"/>
          <p:cNvSpPr/>
          <p:nvPr/>
        </p:nvSpPr>
        <p:spPr>
          <a:xfrm>
            <a:off x="749808" y="17373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8" name="ไอคอน FaEye 3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630" y="1910182"/>
            <a:ext cx="294437" cy="294437"/>
          </a:xfrm>
          <a:prstGeom prst="rect">
            <a:avLst/>
          </a:prstGeom>
        </p:spPr>
      </p:pic>
      <p:sp>
        <p:nvSpPr>
          <p:cNvPr id="9" name="ข้อความ 37"/>
          <p:cNvSpPr txBox="1"/>
          <p:nvPr/>
        </p:nvSpPr>
        <p:spPr>
          <a:xfrm>
            <a:off x="749808" y="2487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สายตาคนทำงาน</a:t>
            </a:r>
            <a:endParaRPr lang="th-TH" sz="1800" dirty="0"/>
          </a:p>
        </p:txBody>
      </p:sp>
      <p:sp>
        <p:nvSpPr>
          <p:cNvPr id="10" name="ข้อความ 38"/>
          <p:cNvSpPr txBox="1"/>
          <p:nvPr/>
        </p:nvSpPr>
        <p:spPr>
          <a:xfrm>
            <a:off x="749808" y="28986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ต้องการแสงที่พอจริงตลอดวัน ไม่ใช่แค่รู้สึกว่าพอ</a:t>
            </a:r>
            <a:endParaRPr lang="th-TH" sz="1400" dirty="0"/>
          </a:p>
        </p:txBody>
      </p:sp>
      <p:sp>
        <p:nvSpPr>
          <p:cNvPr id="11" name="ลูกศร 39"/>
          <p:cNvSpPr/>
          <p:nvPr/>
        </p:nvSpPr>
        <p:spPr>
          <a:xfrm>
            <a:off x="3127248" y="2624328"/>
            <a:ext cx="246888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การ์ดที่มา 40"/>
          <p:cNvSpPr/>
          <p:nvPr/>
        </p:nvSpPr>
        <p:spPr>
          <a:xfrm>
            <a:off x="3410712" y="1554480"/>
            <a:ext cx="2542032" cy="2148840"/>
          </a:xfrm>
          <a:prstGeom prst="roundRect">
            <a:avLst>
              <a:gd name="adj" fmla="val 5106"/>
            </a:avLst>
          </a:prstGeom>
          <a:solidFill>
            <a:schemeClr val="accent2">
              <a:alpha val="11000"/>
            </a:schemeClr>
          </a:solidFill>
          <a:ln/>
        </p:spPr>
      </p:sp>
      <p:sp>
        <p:nvSpPr>
          <p:cNvPr id="13" name="วงกลมไอคอน 41"/>
          <p:cNvSpPr/>
          <p:nvPr/>
        </p:nvSpPr>
        <p:spPr>
          <a:xfrm>
            <a:off x="361188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ไอคอน FaScaleBalanced 4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4702" y="1910182"/>
            <a:ext cx="294437" cy="294437"/>
          </a:xfrm>
          <a:prstGeom prst="rect">
            <a:avLst/>
          </a:prstGeom>
        </p:spPr>
      </p:pic>
      <p:sp>
        <p:nvSpPr>
          <p:cNvPr id="15" name="ข้อความ 43"/>
          <p:cNvSpPr txBox="1"/>
          <p:nvPr/>
        </p:nvSpPr>
        <p:spPr>
          <a:xfrm>
            <a:off x="3611880" y="2487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มาตรฐานความเข้มแสง</a:t>
            </a:r>
            <a:endParaRPr lang="th-TH" sz="1800" dirty="0"/>
          </a:p>
        </p:txBody>
      </p:sp>
      <p:sp>
        <p:nvSpPr>
          <p:cNvPr id="16" name="ข้อความ 44"/>
          <p:cNvSpPr txBox="1"/>
          <p:nvPr/>
        </p:nvSpPr>
        <p:spPr>
          <a:xfrm>
            <a:off x="3611880" y="28986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กรมสวัสดิการฯ 2561 กำหนดค่าขั้นต่ำและวิธีวัด</a:t>
            </a:r>
            <a:endParaRPr lang="th-TH" sz="1400" dirty="0"/>
          </a:p>
        </p:txBody>
      </p:sp>
      <p:sp>
        <p:nvSpPr>
          <p:cNvPr id="17" name="ลูกศร 45"/>
          <p:cNvSpPr/>
          <p:nvPr/>
        </p:nvSpPr>
        <p:spPr>
          <a:xfrm>
            <a:off x="5989320" y="2624328"/>
            <a:ext cx="246888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การ์ดที่มา 46"/>
          <p:cNvSpPr/>
          <p:nvPr/>
        </p:nvSpPr>
        <p:spPr>
          <a:xfrm>
            <a:off x="6272784" y="1554480"/>
            <a:ext cx="2542032" cy="2148840"/>
          </a:xfrm>
          <a:prstGeom prst="roundRect">
            <a:avLst>
              <a:gd name="adj" fmla="val 5106"/>
            </a:avLst>
          </a:prstGeom>
          <a:solidFill>
            <a:schemeClr val="accent1">
              <a:alpha val="11000"/>
            </a:schemeClr>
          </a:solidFill>
          <a:ln/>
        </p:spPr>
      </p:sp>
      <p:sp>
        <p:nvSpPr>
          <p:cNvPr id="19" name="วงกลมไอคอน 47"/>
          <p:cNvSpPr/>
          <p:nvPr/>
        </p:nvSpPr>
        <p:spPr>
          <a:xfrm>
            <a:off x="6473952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ไอคอน FaLeaf 4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6774" y="1910182"/>
            <a:ext cx="294437" cy="294437"/>
          </a:xfrm>
          <a:prstGeom prst="rect">
            <a:avLst/>
          </a:prstGeom>
        </p:spPr>
      </p:pic>
      <p:sp>
        <p:nvSpPr>
          <p:cNvPr id="21" name="ข้อความ 49"/>
          <p:cNvSpPr txBox="1"/>
          <p:nvPr/>
        </p:nvSpPr>
        <p:spPr>
          <a:xfrm>
            <a:off x="6473952" y="2487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Green Office ข้อ 5.2.1</a:t>
            </a:r>
            <a:endParaRPr lang="th-TH" sz="1800" dirty="0"/>
          </a:p>
        </p:txBody>
      </p:sp>
      <p:sp>
        <p:nvSpPr>
          <p:cNvPr id="22" name="ข้อความ 50"/>
          <p:cNvSpPr txBox="1"/>
          <p:nvPr/>
        </p:nvSpPr>
        <p:spPr>
          <a:xfrm>
            <a:off x="6473952" y="28986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วัดทุกปีด้วยเครื่องที่สอบเทียบ ห้ามใช้แอปมือถือ</a:t>
            </a:r>
            <a:endParaRPr lang="th-TH" sz="1400" dirty="0"/>
          </a:p>
        </p:txBody>
      </p:sp>
      <p:sp>
        <p:nvSpPr>
          <p:cNvPr id="23" name="ลูกศร 51"/>
          <p:cNvSpPr/>
          <p:nvPr/>
        </p:nvSpPr>
        <p:spPr>
          <a:xfrm>
            <a:off x="8851392" y="2624328"/>
            <a:ext cx="246888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การ์ดที่มา 52"/>
          <p:cNvSpPr/>
          <p:nvPr/>
        </p:nvSpPr>
        <p:spPr>
          <a:xfrm>
            <a:off x="9134856" y="1554480"/>
            <a:ext cx="2542032" cy="2148840"/>
          </a:xfrm>
          <a:prstGeom prst="roundRect">
            <a:avLst>
              <a:gd name="adj" fmla="val 5106"/>
            </a:avLst>
          </a:prstGeom>
          <a:solidFill>
            <a:schemeClr val="tx2">
              <a:alpha val="11000"/>
            </a:schemeClr>
          </a:solidFill>
          <a:ln/>
        </p:spPr>
      </p:sp>
      <p:sp>
        <p:nvSpPr>
          <p:cNvPr id="25" name="วงกลมไอคอน 53"/>
          <p:cNvSpPr/>
          <p:nvPr/>
        </p:nvSpPr>
        <p:spPr>
          <a:xfrm>
            <a:off x="9336024" y="1737360"/>
            <a:ext cx="640080" cy="64008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6" name="ไอคอน FaLightbulb 5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8846" y="1910182"/>
            <a:ext cx="294437" cy="294437"/>
          </a:xfrm>
          <a:prstGeom prst="rect">
            <a:avLst/>
          </a:prstGeom>
        </p:spPr>
      </p:pic>
      <p:sp>
        <p:nvSpPr>
          <p:cNvPr id="27" name="ข้อความ 55"/>
          <p:cNvSpPr txBox="1"/>
          <p:nvPr/>
        </p:nvSpPr>
        <p:spPr>
          <a:xfrm>
            <a:off x="9336024" y="2487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LightCheck KM</a:t>
            </a:r>
            <a:endParaRPr lang="th-TH" sz="1800" dirty="0"/>
          </a:p>
        </p:txBody>
      </p:sp>
      <p:sp>
        <p:nvSpPr>
          <p:cNvPr id="28" name="ข้อความ 56"/>
          <p:cNvSpPr txBox="1"/>
          <p:nvPr/>
        </p:nvSpPr>
        <p:spPr>
          <a:xfrm>
            <a:off x="9336024" y="28986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คัดกรองทุกห้อง ยืนยันจุดเสี่ยง และปรับปรุง</a:t>
            </a:r>
            <a:endParaRPr lang="th-TH" sz="1400" dirty="0"/>
          </a:p>
        </p:txBody>
      </p:sp>
      <p:sp>
        <p:nvSpPr>
          <p:cNvPr id="29" name="ข้อความ 57"/>
          <p:cNvSpPr txBox="1"/>
          <p:nvPr/>
        </p:nvSpPr>
        <p:spPr>
          <a:xfrm>
            <a:off x="548640" y="3977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altLang="en-US" sz="4800" dirty="0">
                <a:solidFill>
                  <a:schemeClr val="accent2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300</a:t>
            </a:r>
            <a:pPr indent="0" marL="0">
              <a:buNone/>
            </a:pPr>
            <a:r>
              <a:rPr lang="en-US" altLang="en-US" sz="2000" dirty="0">
                <a:solidFill>
                  <a:schemeClr val="accent5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 lux</a:t>
            </a:r>
            <a:endParaRPr lang="en-US" sz="1600" dirty="0"/>
          </a:p>
        </p:txBody>
      </p:sp>
      <p:sp>
        <p:nvSpPr>
          <p:cNvPr id="30" name="ข้อความ 58"/>
          <p:cNvSpPr txBox="1"/>
          <p:nvPr/>
        </p:nvSpPr>
        <p:spPr>
          <a:xfrm>
            <a:off x="548640" y="48280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dirty="0">
                <a:solidFill>
                  <a:schemeClr val="tx1"/>
                </a:solidFill>
              </a:rPr>
              <a:t>ค่าเฉลี่ยพื้นที่สำนักงาน</a:t>
            </a:r>
            <a:endParaRPr lang="th-TH" sz="1500" dirty="0"/>
          </a:p>
        </p:txBody>
      </p:sp>
      <p:sp>
        <p:nvSpPr>
          <p:cNvPr id="31" name="ข้อความ 59"/>
          <p:cNvSpPr txBox="1"/>
          <p:nvPr/>
        </p:nvSpPr>
        <p:spPr>
          <a:xfrm>
            <a:off x="2788920" y="39776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altLang="en-US" sz="4800" dirty="0">
                <a:solidFill>
                  <a:schemeClr val="accent2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150</a:t>
            </a:r>
            <a:pPr indent="0" marL="0">
              <a:buNone/>
            </a:pPr>
            <a:r>
              <a:rPr lang="en-US" altLang="en-US" sz="2000" dirty="0">
                <a:solidFill>
                  <a:schemeClr val="accent5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 lux</a:t>
            </a:r>
            <a:endParaRPr lang="en-US" sz="1600" dirty="0"/>
          </a:p>
        </p:txBody>
      </p:sp>
      <p:sp>
        <p:nvSpPr>
          <p:cNvPr id="32" name="ข้อความ 60"/>
          <p:cNvSpPr txBox="1"/>
          <p:nvPr/>
        </p:nvSpPr>
        <p:spPr>
          <a:xfrm>
            <a:off x="2788920" y="48280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dirty="0">
                <a:solidFill>
                  <a:schemeClr val="tx1"/>
                </a:solidFill>
              </a:rPr>
              <a:t>จุดต่ำสุดของพื้นที่</a:t>
            </a:r>
            <a:endParaRPr lang="th-TH" sz="1500" dirty="0"/>
          </a:p>
        </p:txBody>
      </p:sp>
      <p:sp>
        <p:nvSpPr>
          <p:cNvPr id="33" name="ข้อความ 61"/>
          <p:cNvSpPr txBox="1"/>
          <p:nvPr/>
        </p:nvSpPr>
        <p:spPr>
          <a:xfrm>
            <a:off x="5029200" y="397764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altLang="en-US" sz="48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400–500</a:t>
            </a:r>
            <a:pPr indent="0" marL="0">
              <a:buNone/>
            </a:pPr>
            <a:r>
              <a:rPr lang="en-US" altLang="en-US" sz="2000" dirty="0">
                <a:solidFill>
                  <a:schemeClr val="accent5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 lux</a:t>
            </a:r>
            <a:endParaRPr lang="en-US" sz="1600" dirty="0"/>
          </a:p>
        </p:txBody>
      </p:sp>
      <p:sp>
        <p:nvSpPr>
          <p:cNvPr id="34" name="ข้อความ 62"/>
          <p:cNvSpPr txBox="1"/>
          <p:nvPr/>
        </p:nvSpPr>
        <p:spPr>
          <a:xfrm>
            <a:off x="5029200" y="482803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500" dirty="0">
                <a:solidFill>
                  <a:schemeClr val="tx1"/>
                </a:solidFill>
              </a:rPr>
              <a:t>ณ จุดทำงาน เขียน พิมพ์ อ่าน</a:t>
            </a:r>
            <a:endParaRPr lang="th-TH" sz="1500" dirty="0"/>
          </a:p>
        </p:txBody>
      </p:sp>
      <p:sp>
        <p:nvSpPr>
          <p:cNvPr id="35" name="ข้อความ 63"/>
          <p:cNvSpPr txBox="1"/>
          <p:nvPr/>
        </p:nvSpPr>
        <p:spPr>
          <a:xfrm>
            <a:off x="548640" y="52303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chemeClr val="accent5"/>
                </a:solidFill>
              </a:rPr>
              <a:t>วัดที่ระนาบ 75 ซม. ทุกช่อง 2×2 ม. และ ณ จุดทำงาน ในสภาพทำงานปกติ ช่วงแสงธรรมชาติน้อยที่สุด</a:t>
            </a:r>
            <a:endParaRPr lang="th-TH" sz="1300" dirty="0"/>
          </a:p>
        </p:txBody>
      </p:sp>
      <p:sp>
        <p:nvSpPr>
          <p:cNvPr id="36" name="สาระสำคัญ 64"/>
          <p:cNvSpPr/>
          <p:nvPr/>
        </p:nvSpPr>
        <p:spPr>
          <a:xfrm>
            <a:off x="8275320" y="4023360"/>
            <a:ext cx="3364992" cy="1600200"/>
          </a:xfrm>
          <a:prstGeom prst="roundRect">
            <a:avLst>
              <a:gd name="adj" fmla="val 6857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7" name="ข้อความ 65"/>
          <p:cNvSpPr txBox="1"/>
          <p:nvPr/>
        </p:nvSpPr>
        <p:spPr>
          <a:xfrm>
            <a:off x="8485632" y="411480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7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300 lux ไม่ใช่เป้าหมายในตัวเอง</a:t>
            </a:r>
            <a:endParaRPr lang="th-TH" sz="1700" dirty="0"/>
          </a:p>
          <a:p>
            <a:pPr indent="0" marL="0">
              <a:buNone/>
            </a:pPr>
            <a:r>
              <a:rPr lang="th-TH" altLang="en-US" sz="17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แต่เป็นเส้นขั้นต่ำที่สายตาคนทำงานต้องการ</a:t>
            </a:r>
            <a:endParaRPr lang="th-TH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743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ปัญหา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0350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เครื่องมาตรฐานแพง จึงมีได้ไม่กี่เครื่อง และวัดไม่ทั่วทุกห้อง</a:t>
            </a:r>
            <a:endParaRPr lang="en-US" sz="3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254496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อ้างอิง: HIOKI. LUX METER FT3424 specifications (±2% rdg., JIS C 1609-1 AA). ราคา: Thai Interelectric, 26,340 ฿ + VAT 7%   ·   github.com/banpot/LightCheck-KM/hardware/bom.md   ·   Lorenzo, O. G. et al. (2022). A Low-Cost Luxometer Benchmark … Sensors 22(19), 7107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00200"/>
          <a:ext cx="5394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7" name="รูป HIOKI FT3424 (คลิกขวา &gt; Change Picture)" descr="HIOKI FT3424 lux me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554480"/>
            <a:ext cx="1965960" cy="2359152"/>
          </a:xfrm>
          <a:prstGeom prst="rect">
            <a:avLst/>
          </a:prstGeom>
        </p:spPr>
      </p:pic>
      <p:sp>
        <p:nvSpPr>
          <p:cNvPr id="8" name="ข้อความ 66"/>
          <p:cNvSpPr txBox="1"/>
          <p:nvPr/>
        </p:nvSpPr>
        <p:spPr>
          <a:xfrm>
            <a:off x="6172200" y="39319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000" dirty="0">
                <a:solidFill>
                  <a:schemeClr val="accent5"/>
                </a:solidFill>
              </a:rPr>
              <a:t>HIOKI FT3424 · ภาพ: HIOKI E.E. Corporation</a:t>
            </a:r>
            <a:endParaRPr lang="en-US" sz="1000" dirty="0"/>
          </a:p>
        </p:txBody>
      </p:sp>
      <p:sp>
        <p:nvSpPr>
          <p:cNvPr id="9" name="ข้อความ 67"/>
          <p:cNvSpPr txBox="1"/>
          <p:nvPr/>
        </p:nvSpPr>
        <p:spPr>
          <a:xfrm>
            <a:off x="8458200" y="15087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40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~73×</a:t>
            </a:r>
            <a:endParaRPr lang="en-US" sz="4000" dirty="0"/>
          </a:p>
        </p:txBody>
      </p:sp>
      <p:sp>
        <p:nvSpPr>
          <p:cNvPr id="10" name="ข้อความ 68"/>
          <p:cNvSpPr txBox="1"/>
          <p:nvPr/>
        </p:nvSpPr>
        <p:spPr>
          <a:xfrm>
            <a:off x="10104120" y="150876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ถูกกว่าเครื่องมาตรฐาน</a:t>
            </a:r>
            <a:endParaRPr lang="th-TH" sz="1400" dirty="0"/>
          </a:p>
        </p:txBody>
      </p:sp>
      <p:sp>
        <p:nvSpPr>
          <p:cNvPr id="11" name="ข้อความ 69"/>
          <p:cNvSpPr txBox="1"/>
          <p:nvPr/>
        </p:nvSpPr>
        <p:spPr>
          <a:xfrm>
            <a:off x="8458200" y="253288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4000" dirty="0">
                <a:solidFill>
                  <a:schemeClr val="accent2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1.4%</a:t>
            </a:r>
            <a:endParaRPr lang="en-US" sz="4000" dirty="0"/>
          </a:p>
        </p:txBody>
      </p:sp>
      <p:sp>
        <p:nvSpPr>
          <p:cNvPr id="12" name="ข้อความ 70"/>
          <p:cNvSpPr txBox="1"/>
          <p:nvPr/>
        </p:nvSpPr>
        <p:spPr>
          <a:xfrm>
            <a:off x="10104120" y="2532888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ของราคาเครื่องมาตรฐาน</a:t>
            </a:r>
            <a:endParaRPr lang="th-TH" sz="1400" dirty="0"/>
          </a:p>
        </p:txBody>
      </p:sp>
      <p:sp>
        <p:nvSpPr>
          <p:cNvPr id="13" name="ข้อความ 71"/>
          <p:cNvSpPr txBox="1"/>
          <p:nvPr/>
        </p:nvSpPr>
        <p:spPr>
          <a:xfrm>
            <a:off x="8458200" y="3566160"/>
            <a:ext cx="3182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100" dirty="0">
                <a:solidFill>
                  <a:schemeClr val="accent5"/>
                </a:solidFill>
              </a:rPr>
              <a:t>HIOKI FT3424 = 26,340 ฿ + VAT 7% = 28,183.80 ฿ (ถูกที่สุดที่สำรวจได้) · ต้นแบบ = 89 + 200 + 70 + PLA+ ≈ 26 ฿</a:t>
            </a:r>
            <a:endParaRPr lang="th-TH" sz="1100" dirty="0"/>
          </a:p>
        </p:txBody>
      </p:sp>
      <p:sp>
        <p:nvSpPr>
          <p:cNvPr id="14" name="การ์ดปัญหา 72"/>
          <p:cNvSpPr/>
          <p:nvPr/>
        </p:nvSpPr>
        <p:spPr>
          <a:xfrm>
            <a:off x="548640" y="429768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accent2">
              <a:alpha val="9000"/>
            </a:schemeClr>
          </a:solidFill>
          <a:ln/>
        </p:spPr>
      </p:sp>
      <p:sp>
        <p:nvSpPr>
          <p:cNvPr id="15" name="วงกลมไอคอน 73"/>
          <p:cNvSpPr/>
          <p:nvPr/>
        </p:nvSpPr>
        <p:spPr>
          <a:xfrm>
            <a:off x="749808" y="449884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6" name="ไอคอน FaBuildingColumns 7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879" y="4651919"/>
            <a:ext cx="260787" cy="260787"/>
          </a:xfrm>
          <a:prstGeom prst="rect">
            <a:avLst/>
          </a:prstGeom>
        </p:spPr>
      </p:pic>
      <p:sp>
        <p:nvSpPr>
          <p:cNvPr id="17" name="ข้อความ 75"/>
          <p:cNvSpPr txBox="1"/>
          <p:nvPr/>
        </p:nvSpPr>
        <p:spPr>
          <a:xfrm>
            <a:off x="1463040" y="448056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7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ห้องมาก จุดวัดมาก</a:t>
            </a:r>
            <a:endParaRPr lang="th-TH" sz="1700" dirty="0"/>
          </a:p>
        </p:txBody>
      </p:sp>
      <p:sp>
        <p:nvSpPr>
          <p:cNvPr id="18" name="ข้อความ 76"/>
          <p:cNvSpPr txBox="1"/>
          <p:nvPr/>
        </p:nvSpPr>
        <p:spPr>
          <a:xfrm>
            <a:off x="749808" y="519379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หลายจุดต่อห้องตามกริด 2×2 ม. ทุกปี</a:t>
            </a:r>
            <a:endParaRPr lang="th-TH" sz="1400" dirty="0"/>
          </a:p>
        </p:txBody>
      </p:sp>
      <p:sp>
        <p:nvSpPr>
          <p:cNvPr id="19" name="การ์ดปัญหา 77"/>
          <p:cNvSpPr/>
          <p:nvPr/>
        </p:nvSpPr>
        <p:spPr>
          <a:xfrm>
            <a:off x="4297680" y="429768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accent2">
              <a:alpha val="9000"/>
            </a:schemeClr>
          </a:solidFill>
          <a:ln/>
        </p:spPr>
      </p:sp>
      <p:sp>
        <p:nvSpPr>
          <p:cNvPr id="20" name="วงกลมไอคอน 78"/>
          <p:cNvSpPr/>
          <p:nvPr/>
        </p:nvSpPr>
        <p:spPr>
          <a:xfrm>
            <a:off x="4498848" y="4498848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ไอคอน FaMobileScreen 7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1919" y="4651919"/>
            <a:ext cx="260787" cy="260787"/>
          </a:xfrm>
          <a:prstGeom prst="rect">
            <a:avLst/>
          </a:prstGeom>
        </p:spPr>
      </p:pic>
      <p:sp>
        <p:nvSpPr>
          <p:cNvPr id="22" name="ข้อความ 80"/>
          <p:cNvSpPr txBox="1"/>
          <p:nvPr/>
        </p:nvSpPr>
        <p:spPr>
          <a:xfrm>
            <a:off x="5212080" y="448056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7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แอปมือถือใช้ไม่ได้</a:t>
            </a:r>
            <a:endParaRPr lang="th-TH" sz="1700" dirty="0"/>
          </a:p>
        </p:txBody>
      </p:sp>
      <p:sp>
        <p:nvSpPr>
          <p:cNvPr id="23" name="ข้อความ 81"/>
          <p:cNvSpPr txBox="1"/>
          <p:nvPr/>
        </p:nvSpPr>
        <p:spPr>
          <a:xfrm>
            <a:off x="4498848" y="519379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เกณฑ์ Green Office ไม่รับผลจากแอป</a:t>
            </a:r>
            <a:endParaRPr lang="th-TH" sz="1400" dirty="0"/>
          </a:p>
        </p:txBody>
      </p:sp>
      <p:sp>
        <p:nvSpPr>
          <p:cNvPr id="24" name="การ์ดปัญหา 82"/>
          <p:cNvSpPr/>
          <p:nvPr/>
        </p:nvSpPr>
        <p:spPr>
          <a:xfrm>
            <a:off x="8046720" y="429768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accent2">
              <a:alpha val="9000"/>
            </a:schemeClr>
          </a:solidFill>
          <a:ln/>
        </p:spPr>
      </p:sp>
      <p:sp>
        <p:nvSpPr>
          <p:cNvPr id="25" name="วงกลมไอคอน 83"/>
          <p:cNvSpPr/>
          <p:nvPr/>
        </p:nvSpPr>
        <p:spPr>
          <a:xfrm>
            <a:off x="8247888" y="4498848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6" name="ไอคอน FaTriangleExclamation 8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0959" y="4651919"/>
            <a:ext cx="260787" cy="260787"/>
          </a:xfrm>
          <a:prstGeom prst="rect">
            <a:avLst/>
          </a:prstGeom>
        </p:spPr>
      </p:pic>
      <p:sp>
        <p:nvSpPr>
          <p:cNvPr id="27" name="ข้อความ 85"/>
          <p:cNvSpPr txBox="1"/>
          <p:nvPr/>
        </p:nvSpPr>
        <p:spPr>
          <a:xfrm>
            <a:off x="8961120" y="448056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7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เครื่องถูก ไม่ชดเชย = อ่านต่ำ</a:t>
            </a:r>
            <a:endParaRPr lang="th-TH" sz="1700" dirty="0"/>
          </a:p>
        </p:txBody>
      </p:sp>
      <p:sp>
        <p:nvSpPr>
          <p:cNvPr id="28" name="ข้อความ 86"/>
          <p:cNvSpPr txBox="1"/>
          <p:nvPr/>
        </p:nvSpPr>
        <p:spPr>
          <a:xfrm>
            <a:off x="8247888" y="519379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ค่าดิบต่ำกว่าจริงราว 1/3 (ผลจำลองจาก datasheet)</a:t>
            </a:r>
            <a:endParaRPr lang="th-TH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743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แนวคิดหลัก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0350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ไม่ต้องการทศนิยมหลายตำแหน่ง แค่ต้องรู้ว่า “แสงพอหรือไม่”</a:t>
            </a:r>
            <a:endParaRPr lang="en-US" sz="3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254496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อ้างอิง: JCGM 106:2012. Evaluation of measurement data – The role of measurement uncertainty in conformity assessment   ·   github.com/banpot/LightCheck-KM/docs/measurement-SOP.md</a:t>
            </a:r>
            <a:endParaRPr lang="en-US" sz="1000" dirty="0"/>
          </a:p>
        </p:txBody>
      </p:sp>
      <p:sp>
        <p:nvSpPr>
          <p:cNvPr id="6" name="จอ LCD จำลอง"/>
          <p:cNvSpPr/>
          <p:nvPr/>
        </p:nvSpPr>
        <p:spPr>
          <a:xfrm>
            <a:off x="548640" y="160020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F4FB5"/>
          </a:solidFill>
          <a:ln w="38100">
            <a:solidFill>
              <a:srgbClr val="0F2A3D"/>
            </a:solidFill>
            <a:prstDash val="solid"/>
          </a:ln>
        </p:spPr>
      </p:sp>
      <p:sp>
        <p:nvSpPr>
          <p:cNvPr id="7" name="ข้อความ 87"/>
          <p:cNvSpPr txBox="1"/>
          <p:nvPr/>
        </p:nvSpPr>
        <p:spPr>
          <a:xfrm>
            <a:off x="777240" y="16916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3400" b="1" dirty="0">
                <a:solidFill>
                  <a:srgbClr val="E8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Lux: 305</a:t>
            </a:r>
            <a:pPr indent="0" marL="0">
              <a:buNone/>
            </a:pPr>
            <a:r>
              <a:rPr lang="en-US" altLang="en-US" sz="3400" b="1" dirty="0">
                <a:solidFill>
                  <a:srgbClr val="6F86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.27</a:t>
            </a:r>
            <a:endParaRPr lang="en-US" sz="3400" dirty="0"/>
          </a:p>
        </p:txBody>
      </p:sp>
      <p:sp>
        <p:nvSpPr>
          <p:cNvPr id="8" name="ข้อความ 88"/>
          <p:cNvSpPr txBox="1"/>
          <p:nvPr/>
        </p:nvSpPr>
        <p:spPr>
          <a:xfrm>
            <a:off x="77724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1800" b="1" dirty="0">
                <a:solidFill>
                  <a:srgbClr val="E8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 G:25x  300ms  *</a:t>
            </a:r>
            <a:endParaRPr lang="en-US" sz="1800" dirty="0"/>
          </a:p>
        </p:txBody>
      </p:sp>
      <p:sp>
        <p:nvSpPr>
          <p:cNvPr id="9" name="ข้อความ 89"/>
          <p:cNvSpPr txBox="1"/>
          <p:nvPr/>
        </p:nvSpPr>
        <p:spPr>
          <a:xfrm>
            <a:off x="4892040" y="1600200"/>
            <a:ext cx="67482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th-TH" altLang="en-US" sz="19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ทศนิยม 2 ตำแหน่ง ไม่ได้บอกว่าพอหรือไม่</a:t>
            </a:r>
            <a:endParaRPr lang="th-TH" sz="1600" dirty="0"/>
          </a:p>
          <a:p>
            <a:pPr indent="0" marL="0">
              <a:spcAft>
                <a:spcPts val="600"/>
              </a:spcAft>
              <a:buNone/>
            </a:pPr>
            <a:r>
              <a:rPr lang="th-TH" altLang="en-US" sz="1500" dirty="0">
                <a:solidFill>
                  <a:schemeClr val="accent5"/>
                </a:solidFill>
              </a:rPr>
              <a:t>ความคลาดเคลื่อน ±7.3% ที่ 300 lux = ±22 lux กว้างกว่าความละเอียด 0.01 lux ราว 2,000 เท่า สิ่งที่ต้องรู้จริงคือ “อยู่ฝั่งไหนของเส้น”</a:t>
            </a:r>
            <a:endParaRPr lang="th-TH" sz="1600" dirty="0"/>
          </a:p>
        </p:txBody>
      </p:sp>
      <p:sp>
        <p:nvSpPr>
          <p:cNvPr id="10" name="โซนตัดสินใจ 90"/>
          <p:cNvSpPr/>
          <p:nvPr/>
        </p:nvSpPr>
        <p:spPr>
          <a:xfrm>
            <a:off x="822960" y="3931920"/>
            <a:ext cx="3812854" cy="777240"/>
          </a:xfrm>
          <a:prstGeom prst="rect">
            <a:avLst/>
          </a:prstGeom>
          <a:solidFill>
            <a:schemeClr val="accent3">
              <a:alpha val="8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8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ไม่พอ</a:t>
            </a:r>
            <a:endParaRPr lang="th-TH" sz="1800" dirty="0"/>
          </a:p>
          <a:p>
            <a:pPr algn="ctr" indent="0" marL="0">
              <a:buNone/>
            </a:pPr>
            <a:r>
              <a:rPr lang="th-TH" altLang="en-US" sz="1350" dirty="0">
                <a:solidFill>
                  <a:schemeClr val="bg1"/>
                </a:solidFill>
              </a:rPr>
              <a:t>ปรับปรุงได้ทันที</a:t>
            </a:r>
            <a:endParaRPr lang="th-TH" sz="1800" dirty="0"/>
          </a:p>
        </p:txBody>
      </p:sp>
      <p:sp>
        <p:nvSpPr>
          <p:cNvPr id="11" name="โซนตัดสินใจ 91"/>
          <p:cNvSpPr/>
          <p:nvPr/>
        </p:nvSpPr>
        <p:spPr>
          <a:xfrm>
            <a:off x="4635814" y="3931920"/>
            <a:ext cx="2889892" cy="777240"/>
          </a:xfrm>
          <a:prstGeom prst="rect">
            <a:avLst/>
          </a:prstGeom>
          <a:solidFill>
            <a:schemeClr val="accent4">
              <a:alpha val="7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8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ใกล้เส้น</a:t>
            </a:r>
            <a:endParaRPr lang="th-TH" sz="1800" dirty="0"/>
          </a:p>
          <a:p>
            <a:pPr algn="ctr" indent="0" marL="0">
              <a:buNone/>
            </a:pPr>
            <a:r>
              <a:rPr lang="th-TH" altLang="en-US" sz="1350" dirty="0">
                <a:solidFill>
                  <a:schemeClr val="tx1"/>
                </a:solidFill>
              </a:rPr>
              <a:t>ยืนยันด้วยเครื่องมาตรฐาน</a:t>
            </a:r>
            <a:endParaRPr lang="th-TH" sz="1800" dirty="0"/>
          </a:p>
        </p:txBody>
      </p:sp>
      <p:sp>
        <p:nvSpPr>
          <p:cNvPr id="12" name="โซนตัดสินใจ 92"/>
          <p:cNvSpPr/>
          <p:nvPr/>
        </p:nvSpPr>
        <p:spPr>
          <a:xfrm>
            <a:off x="7525706" y="3931920"/>
            <a:ext cx="3812854" cy="777240"/>
          </a:xfrm>
          <a:prstGeom prst="rect">
            <a:avLst/>
          </a:prstGeom>
          <a:solidFill>
            <a:schemeClr val="accent1">
              <a:alpha val="8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8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พอ</a:t>
            </a:r>
            <a:endParaRPr lang="th-TH" sz="1800" dirty="0"/>
          </a:p>
          <a:p>
            <a:pPr algn="ctr" indent="0" marL="0">
              <a:buNone/>
            </a:pPr>
            <a:r>
              <a:rPr lang="th-TH" altLang="en-US" sz="1350" dirty="0">
                <a:solidFill>
                  <a:schemeClr val="bg1"/>
                </a:solidFill>
              </a:rPr>
              <a:t>ผ่านเกณฑ์</a:t>
            </a:r>
            <a:endParaRPr lang="th-TH" sz="1800" dirty="0"/>
          </a:p>
        </p:txBody>
      </p:sp>
      <p:sp>
        <p:nvSpPr>
          <p:cNvPr id="13" name="ตัวอย่างค่าที่วัด 93"/>
          <p:cNvSpPr/>
          <p:nvPr/>
        </p:nvSpPr>
        <p:spPr>
          <a:xfrm>
            <a:off x="3482721" y="3602736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14202B"/>
            </a:solidFill>
            <a:prstDash val="solid"/>
          </a:ln>
        </p:spPr>
      </p:sp>
      <p:sp>
        <p:nvSpPr>
          <p:cNvPr id="14" name="ข้อความ 94"/>
          <p:cNvSpPr txBox="1"/>
          <p:nvPr/>
        </p:nvSpPr>
        <p:spPr>
          <a:xfrm>
            <a:off x="2577465" y="32461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300" b="1" dirty="0">
                <a:solidFill>
                  <a:schemeClr val="tx1"/>
                </a:solidFill>
              </a:rPr>
              <a:t>ตัวอย่าง A · 262 lx</a:t>
            </a:r>
            <a:endParaRPr lang="th-TH" sz="1300" dirty="0"/>
          </a:p>
        </p:txBody>
      </p:sp>
      <p:sp>
        <p:nvSpPr>
          <p:cNvPr id="15" name="ตัวอย่างค่าที่วัด 95"/>
          <p:cNvSpPr/>
          <p:nvPr/>
        </p:nvSpPr>
        <p:spPr>
          <a:xfrm>
            <a:off x="6374511" y="3602736"/>
            <a:ext cx="201168" cy="201168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14202B"/>
            </a:solidFill>
            <a:prstDash val="solid"/>
          </a:ln>
        </p:spPr>
      </p:sp>
      <p:sp>
        <p:nvSpPr>
          <p:cNvPr id="16" name="ข้อความ 96"/>
          <p:cNvSpPr txBox="1"/>
          <p:nvPr/>
        </p:nvSpPr>
        <p:spPr>
          <a:xfrm>
            <a:off x="5469255" y="32461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300" b="1" dirty="0">
                <a:solidFill>
                  <a:schemeClr val="tx1"/>
                </a:solidFill>
              </a:rPr>
              <a:t>ตัวอย่าง B · 306 lx</a:t>
            </a:r>
            <a:endParaRPr lang="th-TH" sz="1300" dirty="0"/>
          </a:p>
        </p:txBody>
      </p:sp>
      <p:sp>
        <p:nvSpPr>
          <p:cNvPr id="17" name="ตัวอย่างค่าที่วัด 97"/>
          <p:cNvSpPr/>
          <p:nvPr/>
        </p:nvSpPr>
        <p:spPr>
          <a:xfrm>
            <a:off x="9134856" y="3602736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14202B"/>
            </a:solidFill>
            <a:prstDash val="solid"/>
          </a:ln>
        </p:spPr>
      </p:sp>
      <p:sp>
        <p:nvSpPr>
          <p:cNvPr id="18" name="ข้อความ 98"/>
          <p:cNvSpPr txBox="1"/>
          <p:nvPr/>
        </p:nvSpPr>
        <p:spPr>
          <a:xfrm>
            <a:off x="8229600" y="324612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300" b="1" dirty="0">
                <a:solidFill>
                  <a:schemeClr val="tx1"/>
                </a:solidFill>
              </a:rPr>
              <a:t>ตัวอย่าง C · 348 lx</a:t>
            </a:r>
            <a:endParaRPr lang="th-TH" sz="1300" dirty="0"/>
          </a:p>
        </p:txBody>
      </p:sp>
      <p:sp>
        <p:nvSpPr>
          <p:cNvPr id="19" name="ขีดสเกล 99"/>
          <p:cNvSpPr/>
          <p:nvPr/>
        </p:nvSpPr>
        <p:spPr>
          <a:xfrm>
            <a:off x="2137410" y="4709160"/>
            <a:ext cx="0" cy="109728"/>
          </a:xfrm>
          <a:prstGeom prst="line">
            <a:avLst/>
          </a:prstGeom>
          <a:noFill/>
          <a:ln w="12700">
            <a:solidFill>
              <a:srgbClr val="4A5866"/>
            </a:solidFill>
            <a:prstDash val="solid"/>
          </a:ln>
        </p:spPr>
      </p:sp>
      <p:sp>
        <p:nvSpPr>
          <p:cNvPr id="20" name="ข้อความ 100"/>
          <p:cNvSpPr txBox="1"/>
          <p:nvPr/>
        </p:nvSpPr>
        <p:spPr>
          <a:xfrm>
            <a:off x="1771650" y="48371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accent5"/>
                </a:solidFill>
              </a:rPr>
              <a:t>240</a:t>
            </a:r>
            <a:endParaRPr lang="en-US" sz="1300" dirty="0"/>
          </a:p>
        </p:txBody>
      </p:sp>
      <p:sp>
        <p:nvSpPr>
          <p:cNvPr id="21" name="ขีดสเกล 101"/>
          <p:cNvSpPr/>
          <p:nvPr/>
        </p:nvSpPr>
        <p:spPr>
          <a:xfrm>
            <a:off x="3451860" y="4709160"/>
            <a:ext cx="0" cy="109728"/>
          </a:xfrm>
          <a:prstGeom prst="line">
            <a:avLst/>
          </a:prstGeom>
          <a:noFill/>
          <a:ln w="12700">
            <a:solidFill>
              <a:srgbClr val="4A5866"/>
            </a:solidFill>
            <a:prstDash val="solid"/>
          </a:ln>
        </p:spPr>
      </p:sp>
      <p:sp>
        <p:nvSpPr>
          <p:cNvPr id="22" name="ข้อความ 102"/>
          <p:cNvSpPr txBox="1"/>
          <p:nvPr/>
        </p:nvSpPr>
        <p:spPr>
          <a:xfrm>
            <a:off x="3086100" y="48371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accent5"/>
                </a:solidFill>
              </a:rPr>
              <a:t>260</a:t>
            </a:r>
            <a:endParaRPr lang="en-US" sz="1300" dirty="0"/>
          </a:p>
        </p:txBody>
      </p:sp>
      <p:sp>
        <p:nvSpPr>
          <p:cNvPr id="23" name="ขีดสเกล 103"/>
          <p:cNvSpPr/>
          <p:nvPr/>
        </p:nvSpPr>
        <p:spPr>
          <a:xfrm>
            <a:off x="4634865" y="4709160"/>
            <a:ext cx="0" cy="109728"/>
          </a:xfrm>
          <a:prstGeom prst="line">
            <a:avLst/>
          </a:prstGeom>
          <a:noFill/>
          <a:ln w="12700">
            <a:solidFill>
              <a:srgbClr val="4A5866"/>
            </a:solidFill>
            <a:prstDash val="solid"/>
          </a:ln>
        </p:spPr>
      </p:sp>
      <p:sp>
        <p:nvSpPr>
          <p:cNvPr id="24" name="ข้อความ 104"/>
          <p:cNvSpPr txBox="1"/>
          <p:nvPr/>
        </p:nvSpPr>
        <p:spPr>
          <a:xfrm>
            <a:off x="4269105" y="48371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accent5"/>
                </a:solidFill>
              </a:rPr>
              <a:t>278</a:t>
            </a:r>
            <a:endParaRPr lang="en-US" sz="1300" dirty="0"/>
          </a:p>
        </p:txBody>
      </p:sp>
      <p:sp>
        <p:nvSpPr>
          <p:cNvPr id="25" name="ขีดสเกล 105"/>
          <p:cNvSpPr/>
          <p:nvPr/>
        </p:nvSpPr>
        <p:spPr>
          <a:xfrm>
            <a:off x="6080760" y="4709160"/>
            <a:ext cx="0" cy="109728"/>
          </a:xfrm>
          <a:prstGeom prst="line">
            <a:avLst/>
          </a:prstGeom>
          <a:noFill/>
          <a:ln w="12700">
            <a:solidFill>
              <a:srgbClr val="4A5866"/>
            </a:solidFill>
            <a:prstDash val="solid"/>
          </a:ln>
        </p:spPr>
      </p:sp>
      <p:sp>
        <p:nvSpPr>
          <p:cNvPr id="26" name="ข้อความ 106"/>
          <p:cNvSpPr txBox="1"/>
          <p:nvPr/>
        </p:nvSpPr>
        <p:spPr>
          <a:xfrm>
            <a:off x="5715000" y="48371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300</a:t>
            </a:r>
            <a:endParaRPr lang="en-US" sz="1300" dirty="0"/>
          </a:p>
        </p:txBody>
      </p:sp>
      <p:sp>
        <p:nvSpPr>
          <p:cNvPr id="27" name="ขีดสเกล 107"/>
          <p:cNvSpPr/>
          <p:nvPr/>
        </p:nvSpPr>
        <p:spPr>
          <a:xfrm>
            <a:off x="7526655" y="4709160"/>
            <a:ext cx="0" cy="109728"/>
          </a:xfrm>
          <a:prstGeom prst="line">
            <a:avLst/>
          </a:prstGeom>
          <a:noFill/>
          <a:ln w="12700">
            <a:solidFill>
              <a:srgbClr val="4A5866"/>
            </a:solidFill>
            <a:prstDash val="solid"/>
          </a:ln>
        </p:spPr>
      </p:sp>
      <p:sp>
        <p:nvSpPr>
          <p:cNvPr id="28" name="ข้อความ 108"/>
          <p:cNvSpPr txBox="1"/>
          <p:nvPr/>
        </p:nvSpPr>
        <p:spPr>
          <a:xfrm>
            <a:off x="7160895" y="48371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accent5"/>
                </a:solidFill>
              </a:rPr>
              <a:t>322</a:t>
            </a:r>
            <a:endParaRPr lang="en-US" sz="1300" dirty="0"/>
          </a:p>
        </p:txBody>
      </p:sp>
      <p:sp>
        <p:nvSpPr>
          <p:cNvPr id="29" name="ขีดสเกล 109"/>
          <p:cNvSpPr/>
          <p:nvPr/>
        </p:nvSpPr>
        <p:spPr>
          <a:xfrm>
            <a:off x="8709660" y="4709160"/>
            <a:ext cx="0" cy="109728"/>
          </a:xfrm>
          <a:prstGeom prst="line">
            <a:avLst/>
          </a:prstGeom>
          <a:noFill/>
          <a:ln w="12700">
            <a:solidFill>
              <a:srgbClr val="4A5866"/>
            </a:solidFill>
            <a:prstDash val="solid"/>
          </a:ln>
        </p:spPr>
      </p:sp>
      <p:sp>
        <p:nvSpPr>
          <p:cNvPr id="30" name="ข้อความ 110"/>
          <p:cNvSpPr txBox="1"/>
          <p:nvPr/>
        </p:nvSpPr>
        <p:spPr>
          <a:xfrm>
            <a:off x="8343900" y="48371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accent5"/>
                </a:solidFill>
              </a:rPr>
              <a:t>340</a:t>
            </a:r>
            <a:endParaRPr lang="en-US" sz="1300" dirty="0"/>
          </a:p>
        </p:txBody>
      </p:sp>
      <p:sp>
        <p:nvSpPr>
          <p:cNvPr id="31" name="ขีดสเกล 111"/>
          <p:cNvSpPr/>
          <p:nvPr/>
        </p:nvSpPr>
        <p:spPr>
          <a:xfrm>
            <a:off x="10024110" y="4709160"/>
            <a:ext cx="0" cy="109728"/>
          </a:xfrm>
          <a:prstGeom prst="line">
            <a:avLst/>
          </a:prstGeom>
          <a:noFill/>
          <a:ln w="12700">
            <a:solidFill>
              <a:srgbClr val="4A5866"/>
            </a:solidFill>
            <a:prstDash val="solid"/>
          </a:ln>
        </p:spPr>
      </p:sp>
      <p:sp>
        <p:nvSpPr>
          <p:cNvPr id="32" name="ข้อความ 112"/>
          <p:cNvSpPr txBox="1"/>
          <p:nvPr/>
        </p:nvSpPr>
        <p:spPr>
          <a:xfrm>
            <a:off x="9658350" y="483717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300" dirty="0">
                <a:solidFill>
                  <a:schemeClr val="accent5"/>
                </a:solidFill>
              </a:rPr>
              <a:t>360</a:t>
            </a:r>
            <a:endParaRPr lang="en-US" sz="1300" dirty="0"/>
          </a:p>
        </p:txBody>
      </p:sp>
      <p:sp>
        <p:nvSpPr>
          <p:cNvPr id="33" name="ข้อความ 113"/>
          <p:cNvSpPr txBox="1"/>
          <p:nvPr/>
        </p:nvSpPr>
        <p:spPr>
          <a:xfrm>
            <a:off x="11155680" y="48371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300" dirty="0">
                <a:solidFill>
                  <a:schemeClr val="accent5"/>
                </a:solidFill>
              </a:rPr>
              <a:t>lux</a:t>
            </a:r>
            <a:endParaRPr lang="en-US" sz="1300" dirty="0"/>
          </a:p>
        </p:txBody>
      </p:sp>
      <p:sp>
        <p:nvSpPr>
          <p:cNvPr id="34" name="ขีดเกณฑ์ 300 lux"/>
          <p:cNvSpPr/>
          <p:nvPr/>
        </p:nvSpPr>
        <p:spPr>
          <a:xfrm>
            <a:off x="6080760" y="4709160"/>
            <a:ext cx="0" cy="146304"/>
          </a:xfrm>
          <a:prstGeom prst="line">
            <a:avLst/>
          </a:prstGeom>
          <a:noFill/>
          <a:ln w="38100">
            <a:solidFill>
              <a:srgbClr val="14202B"/>
            </a:solidFill>
            <a:prstDash val="solid"/>
          </a:ln>
        </p:spPr>
      </p:sp>
      <p:sp>
        <p:nvSpPr>
          <p:cNvPr id="35" name="ข้อความ 114"/>
          <p:cNvSpPr txBox="1"/>
          <p:nvPr/>
        </p:nvSpPr>
        <p:spPr>
          <a:xfrm>
            <a:off x="2349814" y="5166360"/>
            <a:ext cx="74618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300" dirty="0">
                <a:solidFill>
                  <a:schemeClr val="accent5"/>
                </a:solidFill>
              </a:rPr>
              <a:t>เกณฑ์ 300 lux · guard band ±7.3% (U95) = 278–322 lux</a:t>
            </a:r>
            <a:endParaRPr lang="th-TH" sz="1300" dirty="0"/>
          </a:p>
        </p:txBody>
      </p:sp>
      <p:sp>
        <p:nvSpPr>
          <p:cNvPr id="36" name="ข้อความ 115"/>
          <p:cNvSpPr txBox="1"/>
          <p:nvPr/>
        </p:nvSpPr>
        <p:spPr>
          <a:xfrm>
            <a:off x="548640" y="55778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7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คัดกรองทุกจุดด้วยเครื่องราคาถูก → ใช้เครื่องมาตรฐานเฉพาะแถบสีเหลือง </a:t>
            </a:r>
            <a:pPr algn="ctr" indent="0" marL="0">
              <a:buNone/>
            </a:pPr>
            <a:r>
              <a:rPr lang="th-TH" altLang="en-US" sz="1700" dirty="0">
                <a:solidFill>
                  <a:schemeClr val="accent5"/>
                </a:solidFill>
              </a:rPr>
              <a:t>(ในแบบจำลอง ≈ 13% ของจุด)</a:t>
            </a:r>
            <a:endParaRPr lang="th-TH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743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กระบวนการ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0350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วงจรการทำงาน: PDCA ต่อด้วยชั้นการจัดการความรู้</a:t>
            </a:r>
            <a:endParaRPr lang="en-US" sz="3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254496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อ้างอิง: Deming, W. E. (1986). Out of the Crisis. MIT Press   ·   Nonaka, I., &amp; Takeuchi, H. (1995). The Knowledge-Creating Company. Oxford University Press   ·   github.com/banpot/LightCheck-KM/docs/km-process.md</a:t>
            </a:r>
            <a:endParaRPr lang="en-US" sz="1000" dirty="0"/>
          </a:p>
        </p:txBody>
      </p:sp>
      <p:sp>
        <p:nvSpPr>
          <p:cNvPr id="6" name="ลูกศร 116"/>
          <p:cNvSpPr/>
          <p:nvPr/>
        </p:nvSpPr>
        <p:spPr>
          <a:xfrm>
            <a:off x="2788920" y="2217420"/>
            <a:ext cx="384048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7" name="ลูกศร 117"/>
          <p:cNvSpPr/>
          <p:nvPr/>
        </p:nvSpPr>
        <p:spPr>
          <a:xfrm>
            <a:off x="5349240" y="2217420"/>
            <a:ext cx="384048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ลูกศร 118"/>
          <p:cNvSpPr/>
          <p:nvPr/>
        </p:nvSpPr>
        <p:spPr>
          <a:xfrm>
            <a:off x="6835140" y="2743200"/>
            <a:ext cx="0" cy="1527048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ลูกศร 119"/>
          <p:cNvSpPr/>
          <p:nvPr/>
        </p:nvSpPr>
        <p:spPr>
          <a:xfrm flipH="1">
            <a:off x="5376672" y="4823460"/>
            <a:ext cx="384048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0" name="ลูกศร 120"/>
          <p:cNvSpPr/>
          <p:nvPr/>
        </p:nvSpPr>
        <p:spPr>
          <a:xfrm flipH="1">
            <a:off x="2816352" y="4823460"/>
            <a:ext cx="384048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ลูกศร 121"/>
          <p:cNvSpPr/>
          <p:nvPr/>
        </p:nvSpPr>
        <p:spPr>
          <a:xfrm flipV="1">
            <a:off x="1714500" y="2770632"/>
            <a:ext cx="0" cy="1527048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วงจร: วางแผน 122"/>
          <p:cNvSpPr/>
          <p:nvPr/>
        </p:nvSpPr>
        <p:spPr>
          <a:xfrm>
            <a:off x="685800" y="1737360"/>
            <a:ext cx="2057400" cy="960120"/>
          </a:xfrm>
          <a:prstGeom prst="roundRect">
            <a:avLst>
              <a:gd name="adj" fmla="val 15238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3" name="เลขลำดับ 123"/>
          <p:cNvSpPr/>
          <p:nvPr/>
        </p:nvSpPr>
        <p:spPr>
          <a:xfrm>
            <a:off x="539496" y="159105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ข้อความ 124"/>
          <p:cNvSpPr txBox="1"/>
          <p:nvPr/>
        </p:nvSpPr>
        <p:spPr>
          <a:xfrm>
            <a:off x="777240" y="173736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9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วางแผน</a:t>
            </a:r>
            <a:endParaRPr lang="th-TH" sz="1600" dirty="0"/>
          </a:p>
          <a:p>
            <a:pPr algn="ctr" indent="0" marL="0">
              <a:buNone/>
            </a:pPr>
            <a:r>
              <a:rPr lang="th-TH" altLang="en-US" sz="1250" dirty="0">
                <a:solidFill>
                  <a:schemeClr val="accent5"/>
                </a:solidFill>
              </a:rPr>
              <a:t>P · เกณฑ์ + จุดวัดกริด</a:t>
            </a:r>
            <a:endParaRPr lang="th-TH" sz="1600" dirty="0"/>
          </a:p>
        </p:txBody>
      </p:sp>
      <p:sp>
        <p:nvSpPr>
          <p:cNvPr id="15" name="วงจร: ตรวจวัด 125"/>
          <p:cNvSpPr/>
          <p:nvPr/>
        </p:nvSpPr>
        <p:spPr>
          <a:xfrm>
            <a:off x="3246120" y="1737360"/>
            <a:ext cx="2057400" cy="960120"/>
          </a:xfrm>
          <a:prstGeom prst="roundRect">
            <a:avLst>
              <a:gd name="adj" fmla="val 15238"/>
            </a:avLst>
          </a:prstGeom>
          <a:solidFill>
            <a:schemeClr val="bg1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16" name="เลขลำดับ 126"/>
          <p:cNvSpPr/>
          <p:nvPr/>
        </p:nvSpPr>
        <p:spPr>
          <a:xfrm>
            <a:off x="3099816" y="159105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ข้อความ 127"/>
          <p:cNvSpPr txBox="1"/>
          <p:nvPr/>
        </p:nvSpPr>
        <p:spPr>
          <a:xfrm>
            <a:off x="3337560" y="173736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9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ตรวจวัด</a:t>
            </a:r>
            <a:endParaRPr lang="th-TH" sz="1600" dirty="0"/>
          </a:p>
          <a:p>
            <a:pPr algn="ctr" indent="0" marL="0">
              <a:buNone/>
            </a:pPr>
            <a:r>
              <a:rPr lang="th-TH" altLang="en-US" sz="1250" dirty="0">
                <a:solidFill>
                  <a:schemeClr val="accent5"/>
                </a:solidFill>
              </a:rPr>
              <a:t>D · คัดกรองทุกห้อง</a:t>
            </a:r>
            <a:endParaRPr lang="th-TH" sz="1600" dirty="0"/>
          </a:p>
        </p:txBody>
      </p:sp>
      <p:sp>
        <p:nvSpPr>
          <p:cNvPr id="18" name="วงจร: ตรวจสอบ 128"/>
          <p:cNvSpPr/>
          <p:nvPr/>
        </p:nvSpPr>
        <p:spPr>
          <a:xfrm>
            <a:off x="5806440" y="1737360"/>
            <a:ext cx="2057400" cy="960120"/>
          </a:xfrm>
          <a:prstGeom prst="roundRect">
            <a:avLst>
              <a:gd name="adj" fmla="val 15238"/>
            </a:avLst>
          </a:prstGeom>
          <a:solidFill>
            <a:schemeClr val="bg1"/>
          </a:solidFill>
          <a:ln w="31750">
            <a:solidFill>
              <a:schemeClr val="accent1"/>
            </a:solidFill>
            <a:prstDash val="solid"/>
          </a:ln>
        </p:spPr>
      </p:sp>
      <p:sp>
        <p:nvSpPr>
          <p:cNvPr id="19" name="เลขลำดับ 129"/>
          <p:cNvSpPr/>
          <p:nvPr/>
        </p:nvSpPr>
        <p:spPr>
          <a:xfrm>
            <a:off x="5660136" y="159105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ข้อความ 130"/>
          <p:cNvSpPr txBox="1"/>
          <p:nvPr/>
        </p:nvSpPr>
        <p:spPr>
          <a:xfrm>
            <a:off x="5897880" y="173736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9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ตรวจสอบ</a:t>
            </a:r>
            <a:endParaRPr lang="th-TH" sz="1600" dirty="0"/>
          </a:p>
          <a:p>
            <a:pPr algn="ctr" indent="0" marL="0">
              <a:buNone/>
            </a:pPr>
            <a:r>
              <a:rPr lang="th-TH" altLang="en-US" sz="1250" dirty="0">
                <a:solidFill>
                  <a:schemeClr val="accent5"/>
                </a:solidFill>
              </a:rPr>
              <a:t>C · ยืนยันจุดใกล้เกณฑ์</a:t>
            </a:r>
            <a:endParaRPr lang="th-TH" sz="1600" dirty="0"/>
          </a:p>
        </p:txBody>
      </p:sp>
      <p:sp>
        <p:nvSpPr>
          <p:cNvPr id="21" name="วงจร: ปรับปรุง 131"/>
          <p:cNvSpPr/>
          <p:nvPr/>
        </p:nvSpPr>
        <p:spPr>
          <a:xfrm>
            <a:off x="5806440" y="4343400"/>
            <a:ext cx="2057400" cy="960120"/>
          </a:xfrm>
          <a:prstGeom prst="roundRect">
            <a:avLst>
              <a:gd name="adj" fmla="val 15238"/>
            </a:avLst>
          </a:prstGeom>
          <a:solidFill>
            <a:schemeClr val="bg1"/>
          </a:solidFill>
          <a:ln w="31750">
            <a:solidFill>
              <a:schemeClr val="accent2"/>
            </a:solidFill>
            <a:prstDash val="solid"/>
          </a:ln>
        </p:spPr>
      </p:sp>
      <p:sp>
        <p:nvSpPr>
          <p:cNvPr id="22" name="เลขลำดับ 132"/>
          <p:cNvSpPr/>
          <p:nvPr/>
        </p:nvSpPr>
        <p:spPr>
          <a:xfrm>
            <a:off x="5660136" y="4197096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ข้อความ 133"/>
          <p:cNvSpPr txBox="1"/>
          <p:nvPr/>
        </p:nvSpPr>
        <p:spPr>
          <a:xfrm>
            <a:off x="5897880" y="434340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9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ปรับปรุง</a:t>
            </a:r>
            <a:endParaRPr lang="th-TH" sz="1600" dirty="0"/>
          </a:p>
          <a:p>
            <a:pPr algn="ctr" indent="0" marL="0">
              <a:buNone/>
            </a:pPr>
            <a:r>
              <a:rPr lang="th-TH" altLang="en-US" sz="1250" dirty="0">
                <a:solidFill>
                  <a:schemeClr val="accent5"/>
                </a:solidFill>
              </a:rPr>
              <a:t>A · แก้ไข + วัดซ้ำ</a:t>
            </a:r>
            <a:endParaRPr lang="th-TH" sz="1600" dirty="0"/>
          </a:p>
        </p:txBody>
      </p:sp>
      <p:sp>
        <p:nvSpPr>
          <p:cNvPr id="24" name="วงจร: ถอดบทเรียน 134"/>
          <p:cNvSpPr/>
          <p:nvPr/>
        </p:nvSpPr>
        <p:spPr>
          <a:xfrm>
            <a:off x="3246120" y="4343400"/>
            <a:ext cx="2057400" cy="960120"/>
          </a:xfrm>
          <a:prstGeom prst="roundRect">
            <a:avLst>
              <a:gd name="adj" fmla="val 15238"/>
            </a:avLst>
          </a:prstGeom>
          <a:solidFill>
            <a:schemeClr val="bg1"/>
          </a:solidFill>
          <a:ln w="31750">
            <a:solidFill>
              <a:schemeClr val="accent3"/>
            </a:solidFill>
            <a:prstDash val="solid"/>
          </a:ln>
        </p:spPr>
      </p:sp>
      <p:sp>
        <p:nvSpPr>
          <p:cNvPr id="25" name="เลขลำดับ 135"/>
          <p:cNvSpPr/>
          <p:nvPr/>
        </p:nvSpPr>
        <p:spPr>
          <a:xfrm>
            <a:off x="3099816" y="41970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ข้อความ 136"/>
          <p:cNvSpPr txBox="1"/>
          <p:nvPr/>
        </p:nvSpPr>
        <p:spPr>
          <a:xfrm>
            <a:off x="3337560" y="434340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9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ถอดบทเรียน</a:t>
            </a:r>
            <a:endParaRPr lang="th-TH" sz="1600" dirty="0"/>
          </a:p>
          <a:p>
            <a:pPr algn="ctr" indent="0" marL="0">
              <a:buNone/>
            </a:pPr>
            <a:r>
              <a:rPr lang="th-TH" altLang="en-US" sz="1250" dirty="0">
                <a:solidFill>
                  <a:schemeClr val="accent5"/>
                </a:solidFill>
              </a:rPr>
              <a:t>KM · LL-01…LL-05</a:t>
            </a:r>
            <a:endParaRPr lang="th-TH" sz="1600" dirty="0"/>
          </a:p>
        </p:txBody>
      </p:sp>
      <p:sp>
        <p:nvSpPr>
          <p:cNvPr id="27" name="วงจร: ใช้ซ้ำ 137"/>
          <p:cNvSpPr/>
          <p:nvPr/>
        </p:nvSpPr>
        <p:spPr>
          <a:xfrm>
            <a:off x="685800" y="4343400"/>
            <a:ext cx="2057400" cy="960120"/>
          </a:xfrm>
          <a:prstGeom prst="roundRect">
            <a:avLst>
              <a:gd name="adj" fmla="val 15238"/>
            </a:avLst>
          </a:prstGeom>
          <a:solidFill>
            <a:schemeClr val="bg1"/>
          </a:solidFill>
          <a:ln w="31750">
            <a:solidFill>
              <a:schemeClr val="accent3"/>
            </a:solidFill>
            <a:prstDash val="solid"/>
          </a:ln>
        </p:spPr>
      </p:sp>
      <p:sp>
        <p:nvSpPr>
          <p:cNvPr id="28" name="เลขลำดับ 138"/>
          <p:cNvSpPr/>
          <p:nvPr/>
        </p:nvSpPr>
        <p:spPr>
          <a:xfrm>
            <a:off x="539496" y="4197096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ข้อความ 139"/>
          <p:cNvSpPr txBox="1"/>
          <p:nvPr/>
        </p:nvSpPr>
        <p:spPr>
          <a:xfrm>
            <a:off x="777240" y="434340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9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ใช้ซ้ำ</a:t>
            </a:r>
            <a:endParaRPr lang="th-TH" sz="1600" dirty="0"/>
          </a:p>
          <a:p>
            <a:pPr algn="ctr" indent="0" marL="0">
              <a:buNone/>
            </a:pPr>
            <a:r>
              <a:rPr lang="th-TH" altLang="en-US" sz="1250" dirty="0">
                <a:solidFill>
                  <a:schemeClr val="accent5"/>
                </a:solidFill>
              </a:rPr>
              <a:t>KM · public repo</a:t>
            </a:r>
            <a:endParaRPr lang="th-TH" sz="1600" dirty="0"/>
          </a:p>
        </p:txBody>
      </p:sp>
      <p:sp>
        <p:nvSpPr>
          <p:cNvPr id="30" name="ข้อความ 140"/>
          <p:cNvSpPr txBox="1"/>
          <p:nvPr/>
        </p:nvSpPr>
        <p:spPr>
          <a:xfrm>
            <a:off x="2011680" y="30175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24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LightCheck KM</a:t>
            </a:r>
            <a:endParaRPr lang="th-TH" sz="1600" dirty="0"/>
          </a:p>
          <a:p>
            <a:pPr algn="ctr" indent="0" marL="0">
              <a:buNone/>
            </a:pPr>
            <a:r>
              <a:rPr lang="th-TH" altLang="en-US" sz="1500" b="1" dirty="0">
                <a:solidFill>
                  <a:schemeClr val="tx1"/>
                </a:solidFill>
              </a:rPr>
              <a:t>PDCA + Tacit → Explicit</a:t>
            </a:r>
            <a:endParaRPr lang="th-TH" sz="1600" dirty="0"/>
          </a:p>
        </p:txBody>
      </p:sp>
      <p:sp>
        <p:nvSpPr>
          <p:cNvPr id="31" name="คำตอบ PDCA 141"/>
          <p:cNvSpPr/>
          <p:nvPr/>
        </p:nvSpPr>
        <p:spPr>
          <a:xfrm>
            <a:off x="8275320" y="1600200"/>
            <a:ext cx="3364992" cy="4434840"/>
          </a:xfrm>
          <a:prstGeom prst="roundRect">
            <a:avLst>
              <a:gd name="adj" fmla="val 3261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32" name="ข้อความ 142"/>
          <p:cNvSpPr txBox="1"/>
          <p:nvPr/>
        </p:nvSpPr>
        <p:spPr>
          <a:xfrm>
            <a:off x="8503920" y="1783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0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ใช่ PDCA หรือไม่?</a:t>
            </a:r>
            <a:endParaRPr lang="th-TH" sz="2000" dirty="0"/>
          </a:p>
        </p:txBody>
      </p:sp>
      <p:sp>
        <p:nvSpPr>
          <p:cNvPr id="33" name="ข้อความ 143"/>
          <p:cNvSpPr txBox="1"/>
          <p:nvPr/>
        </p:nvSpPr>
        <p:spPr>
          <a:xfrm>
            <a:off x="8503920" y="2286000"/>
            <a:ext cx="29260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th-TH" altLang="en-US" sz="1500" b="1" dirty="0">
                <a:solidFill>
                  <a:schemeClr val="tx1"/>
                </a:solidFill>
              </a:rPr>
              <a:t>ใช่: </a:t>
            </a:r>
            <a:pPr indent="0" marL="0">
              <a:spcAft>
                <a:spcPts val="900"/>
              </a:spcAft>
              <a:buNone/>
            </a:pPr>
            <a:r>
              <a:rPr lang="th-TH" altLang="en-US" sz="1500" dirty="0">
                <a:solidFill>
                  <a:schemeClr val="tx1"/>
                </a:solidFill>
              </a:rPr>
              <a:t>ระดับปฏิบัติงานคือ PDCA ของการดูแลแสงตาม Green Office 5.2.1</a:t>
            </a:r>
            <a:endParaRPr lang="th-TH" sz="1500" dirty="0"/>
          </a:p>
          <a:p>
            <a:pPr indent="0" marL="0">
              <a:spcAft>
                <a:spcPts val="900"/>
              </a:spcAft>
              <a:buNone/>
            </a:pPr>
            <a:r>
              <a:rPr lang="th-TH" altLang="en-US" sz="1500" b="1" dirty="0">
                <a:solidFill>
                  <a:schemeClr val="accent3"/>
                </a:solidFill>
              </a:rPr>
              <a:t>สิ่งที่เพิ่ม: </a:t>
            </a:r>
            <a:pPr indent="0" marL="0">
              <a:spcAft>
                <a:spcPts val="900"/>
              </a:spcAft>
              <a:buNone/>
            </a:pPr>
            <a:r>
              <a:rPr lang="th-TH" altLang="en-US" sz="1500" dirty="0">
                <a:solidFill>
                  <a:schemeClr val="tx1"/>
                </a:solidFill>
              </a:rPr>
              <a:t>ชั้น KM 2 ขั้น ถอดบทเรียนเป็นโค้ด SOP ข้อมูล แล้วเผยแพร่</a:t>
            </a:r>
            <a:endParaRPr lang="th-TH" sz="1500" dirty="0"/>
          </a:p>
          <a:p>
            <a:pPr indent="0" marL="0">
              <a:spcAft>
                <a:spcPts val="900"/>
              </a:spcAft>
              <a:buNone/>
            </a:pPr>
            <a:r>
              <a:rPr lang="th-TH" altLang="en-US" sz="1500" b="1" dirty="0">
                <a:solidFill>
                  <a:schemeClr val="accent1"/>
                </a:solidFill>
              </a:rPr>
              <a:t>ผล: </a:t>
            </a:r>
            <a:pPr indent="0" marL="0">
              <a:spcAft>
                <a:spcPts val="900"/>
              </a:spcAft>
              <a:buNone/>
            </a:pPr>
            <a:r>
              <a:rPr lang="th-TH" altLang="en-US" sz="1500" dirty="0">
                <a:solidFill>
                  <a:schemeClr val="tx1"/>
                </a:solidFill>
              </a:rPr>
              <a:t>รอบถัดไปและส่วนงานอื่น เริ่มจากความรู้ที่สะสมไว้</a:t>
            </a:r>
            <a:endParaRPr lang="th-TH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743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เครื่องมือ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0350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ต้นแบบราคา ≈ 385 บาท ประกอบเองได้จากชิ้นส่วนทั่วไป</a:t>
            </a:r>
            <a:endParaRPr lang="en-US" sz="3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254496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อ้างอิง: Adafruit. TSL2591 High Dynamic Range Digital Light Sensor (learn.adafruit.com/adafruit-tsl2591)   ·   ams (2018). TSL2591 Light-to-Digital Converter datasheet DS000338   ·   github.com/banpot/LightCheck-KM/hardware/bom.md   ·   ภาพ: Adafruit Industries (CC BY-SA) · Tpkull / Wikimedia Commons (CC BY-SA 4.0)</a:t>
            </a:r>
            <a:endParaRPr lang="en-US" sz="1000" dirty="0"/>
          </a:p>
        </p:txBody>
      </p:sp>
      <p:sp>
        <p:nvSpPr>
          <p:cNvPr id="6" name="การ์ดชิ้นส่วน 144"/>
          <p:cNvSpPr/>
          <p:nvPr/>
        </p:nvSpPr>
        <p:spPr>
          <a:xfrm>
            <a:off x="548640" y="155448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accent2">
              <a:alpha val="8000"/>
            </a:schemeClr>
          </a:solidFill>
          <a:ln/>
        </p:spPr>
      </p:sp>
      <p:pic>
        <p:nvPicPr>
          <p:cNvPr id="7" name="ภาพ TSL2591" descr="/home/claude/work/deck/img/tsl2591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42770"/>
            <a:ext cx="2240280" cy="1617980"/>
          </a:xfrm>
          <a:prstGeom prst="rect">
            <a:avLst/>
          </a:prstGeom>
        </p:spPr>
      </p:pic>
      <p:sp>
        <p:nvSpPr>
          <p:cNvPr id="8" name="ข้อความ 145"/>
          <p:cNvSpPr txBox="1"/>
          <p:nvPr/>
        </p:nvSpPr>
        <p:spPr>
          <a:xfrm>
            <a:off x="731520" y="37033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8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TSL2591</a:t>
            </a:r>
            <a:endParaRPr lang="en-US" sz="1800" dirty="0"/>
          </a:p>
        </p:txBody>
      </p:sp>
      <p:sp>
        <p:nvSpPr>
          <p:cNvPr id="9" name="ข้อความ 146"/>
          <p:cNvSpPr txBox="1"/>
          <p:nvPr/>
        </p:nvSpPr>
        <p:spPr>
          <a:xfrm>
            <a:off x="731520" y="409651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50" dirty="0">
                <a:solidFill>
                  <a:schemeClr val="accent5"/>
                </a:solidFill>
              </a:rPr>
              <a:t>หัวรับแสง I²C · 0x29</a:t>
            </a:r>
            <a:endParaRPr lang="th-TH" sz="1350" dirty="0"/>
          </a:p>
        </p:txBody>
      </p:sp>
      <p:sp>
        <p:nvSpPr>
          <p:cNvPr id="10" name="ข้อความ 147"/>
          <p:cNvSpPr txBox="1"/>
          <p:nvPr/>
        </p:nvSpPr>
        <p:spPr>
          <a:xfrm>
            <a:off x="731520" y="448056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30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200 ฿</a:t>
            </a:r>
            <a:endParaRPr lang="en-US" sz="3000" dirty="0"/>
          </a:p>
        </p:txBody>
      </p:sp>
      <p:sp>
        <p:nvSpPr>
          <p:cNvPr id="11" name="การ์ดชิ้นส่วน 148"/>
          <p:cNvSpPr/>
          <p:nvPr/>
        </p:nvSpPr>
        <p:spPr>
          <a:xfrm>
            <a:off x="3383280" y="155448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accent2">
              <a:alpha val="8000"/>
            </a:schemeClr>
          </a:solidFill>
          <a:ln/>
        </p:spPr>
      </p:sp>
      <p:pic>
        <p:nvPicPr>
          <p:cNvPr id="12" name="ภาพ Wemos D1 mini" descr="/home/claude/work/deck/img/wemos_d1_mini_front_cro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743326"/>
            <a:ext cx="2240280" cy="1816867"/>
          </a:xfrm>
          <a:prstGeom prst="rect">
            <a:avLst/>
          </a:prstGeom>
        </p:spPr>
      </p:pic>
      <p:sp>
        <p:nvSpPr>
          <p:cNvPr id="13" name="ข้อความ 149"/>
          <p:cNvSpPr txBox="1"/>
          <p:nvPr/>
        </p:nvSpPr>
        <p:spPr>
          <a:xfrm>
            <a:off x="3566160" y="37033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8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Wemos D1 mini</a:t>
            </a:r>
            <a:endParaRPr lang="en-US" sz="1800" dirty="0"/>
          </a:p>
        </p:txBody>
      </p:sp>
      <p:sp>
        <p:nvSpPr>
          <p:cNvPr id="14" name="ข้อความ 150"/>
          <p:cNvSpPr txBox="1"/>
          <p:nvPr/>
        </p:nvSpPr>
        <p:spPr>
          <a:xfrm>
            <a:off x="3566160" y="409651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50" dirty="0">
                <a:solidFill>
                  <a:schemeClr val="accent5"/>
                </a:solidFill>
              </a:rPr>
              <a:t>ESP8266 · Wi-Fi ในตัว</a:t>
            </a:r>
            <a:endParaRPr lang="th-TH" sz="1350" dirty="0"/>
          </a:p>
        </p:txBody>
      </p:sp>
      <p:sp>
        <p:nvSpPr>
          <p:cNvPr id="15" name="ข้อความ 151"/>
          <p:cNvSpPr txBox="1"/>
          <p:nvPr/>
        </p:nvSpPr>
        <p:spPr>
          <a:xfrm>
            <a:off x="3566160" y="448056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30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89 ฿</a:t>
            </a:r>
            <a:endParaRPr lang="en-US" sz="3000" dirty="0"/>
          </a:p>
        </p:txBody>
      </p:sp>
      <p:sp>
        <p:nvSpPr>
          <p:cNvPr id="16" name="การ์ดชิ้นส่วน 152"/>
          <p:cNvSpPr/>
          <p:nvPr/>
        </p:nvSpPr>
        <p:spPr>
          <a:xfrm>
            <a:off x="6217920" y="155448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accent2">
              <a:alpha val="8000"/>
            </a:schemeClr>
          </a:solidFill>
          <a:ln/>
        </p:spPr>
      </p:sp>
      <p:pic>
        <p:nvPicPr>
          <p:cNvPr id="17" name="ภาพ LCD1602 + I²C" descr="/home/claude/work/deck/img/component_lcd1602_fro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61299"/>
            <a:ext cx="2240280" cy="980923"/>
          </a:xfrm>
          <a:prstGeom prst="rect">
            <a:avLst/>
          </a:prstGeom>
        </p:spPr>
      </p:pic>
      <p:sp>
        <p:nvSpPr>
          <p:cNvPr id="18" name="ข้อความ 153"/>
          <p:cNvSpPr txBox="1"/>
          <p:nvPr/>
        </p:nvSpPr>
        <p:spPr>
          <a:xfrm>
            <a:off x="6400800" y="37033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8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LCD1602 + I²C</a:t>
            </a:r>
            <a:endParaRPr lang="en-US" sz="1800" dirty="0"/>
          </a:p>
        </p:txBody>
      </p:sp>
      <p:sp>
        <p:nvSpPr>
          <p:cNvPr id="19" name="ข้อความ 154"/>
          <p:cNvSpPr txBox="1"/>
          <p:nvPr/>
        </p:nvSpPr>
        <p:spPr>
          <a:xfrm>
            <a:off x="6400800" y="409651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50" dirty="0">
                <a:solidFill>
                  <a:schemeClr val="accent5"/>
                </a:solidFill>
              </a:rPr>
              <a:t>จอแสดงผล 16×2</a:t>
            </a:r>
            <a:endParaRPr lang="th-TH" sz="1350" dirty="0"/>
          </a:p>
        </p:txBody>
      </p:sp>
      <p:sp>
        <p:nvSpPr>
          <p:cNvPr id="20" name="ข้อความ 155"/>
          <p:cNvSpPr txBox="1"/>
          <p:nvPr/>
        </p:nvSpPr>
        <p:spPr>
          <a:xfrm>
            <a:off x="6400800" y="448056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30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70 ฿</a:t>
            </a:r>
            <a:endParaRPr lang="en-US" sz="3000" dirty="0"/>
          </a:p>
        </p:txBody>
      </p:sp>
      <p:sp>
        <p:nvSpPr>
          <p:cNvPr id="21" name="การ์ดชิ้นส่วน 156"/>
          <p:cNvSpPr/>
          <p:nvPr/>
        </p:nvSpPr>
        <p:spPr>
          <a:xfrm>
            <a:off x="9052560" y="155448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accent2">
              <a:alpha val="8000"/>
            </a:schemeClr>
          </a:solidFill>
          <a:ln/>
        </p:spPr>
      </p:sp>
      <p:pic>
        <p:nvPicPr>
          <p:cNvPr id="22" name="ภาพ กล่อง PLA+ ≈ 54 g" descr="/home/claude/work/deck/img/enclosure_expl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6279" y="1737360"/>
            <a:ext cx="1598601" cy="1828800"/>
          </a:xfrm>
          <a:prstGeom prst="rect">
            <a:avLst/>
          </a:prstGeom>
        </p:spPr>
      </p:pic>
      <p:sp>
        <p:nvSpPr>
          <p:cNvPr id="23" name="ข้อความ 157"/>
          <p:cNvSpPr txBox="1"/>
          <p:nvPr/>
        </p:nvSpPr>
        <p:spPr>
          <a:xfrm>
            <a:off x="9235440" y="370332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18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กล่อง PLA+ ≈ 54 g</a:t>
            </a:r>
            <a:endParaRPr lang="en-US" sz="1800" dirty="0"/>
          </a:p>
        </p:txBody>
      </p:sp>
      <p:sp>
        <p:nvSpPr>
          <p:cNvPr id="24" name="ข้อความ 158"/>
          <p:cNvSpPr txBox="1"/>
          <p:nvPr/>
        </p:nvSpPr>
        <p:spPr>
          <a:xfrm>
            <a:off x="9235440" y="409651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50" dirty="0">
                <a:solidFill>
                  <a:schemeClr val="accent5"/>
                </a:solidFill>
              </a:rPr>
              <a:t>480 ฿/กก. × 0.0536 กก.</a:t>
            </a:r>
            <a:endParaRPr lang="th-TH" sz="1350" dirty="0"/>
          </a:p>
        </p:txBody>
      </p:sp>
      <p:sp>
        <p:nvSpPr>
          <p:cNvPr id="25" name="ข้อความ 159"/>
          <p:cNvSpPr txBox="1"/>
          <p:nvPr/>
        </p:nvSpPr>
        <p:spPr>
          <a:xfrm>
            <a:off x="9235440" y="448056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30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≈ 26 ฿</a:t>
            </a:r>
            <a:endParaRPr lang="en-US" sz="3000" dirty="0"/>
          </a:p>
        </p:txBody>
      </p:sp>
      <p:sp>
        <p:nvSpPr>
          <p:cNvPr id="26" name="แถบรวมต้นทุน 160"/>
          <p:cNvSpPr/>
          <p:nvPr/>
        </p:nvSpPr>
        <p:spPr>
          <a:xfrm>
            <a:off x="548640" y="5413248"/>
            <a:ext cx="11091672" cy="640080"/>
          </a:xfrm>
          <a:prstGeom prst="roundRect">
            <a:avLst>
              <a:gd name="adj" fmla="val 17143"/>
            </a:avLst>
          </a:prstGeom>
          <a:solidFill>
            <a:schemeClr val="accent1">
              <a:alpha val="14000"/>
            </a:schemeClr>
          </a:solidFill>
          <a:ln/>
        </p:spPr>
      </p:sp>
      <p:sp>
        <p:nvSpPr>
          <p:cNvPr id="27" name="ข้อความ 161"/>
          <p:cNvSpPr txBox="1"/>
          <p:nvPr/>
        </p:nvSpPr>
        <p:spPr>
          <a:xfrm>
            <a:off x="777240" y="5413248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2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รวม ≈ 385 ฿ ต่อเครื่อง</a:t>
            </a:r>
            <a:pPr indent="0" marL="0">
              <a:buNone/>
            </a:pPr>
            <a:r>
              <a:rPr lang="th-TH" altLang="en-US" sz="1500" dirty="0">
                <a:solidFill>
                  <a:schemeClr val="tx1"/>
                </a:solidFill>
              </a:rPr>
              <a:t>   89 + 200 + 70 + 26 · ไม่รวมสายไฟ สกรู และสาย USB-C ที่มีอยู่แล้ว</a:t>
            </a:r>
            <a:endParaRPr lang="th-TH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743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เครื่องมือ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0350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ต่อวงจร 2 สาย ใช้ไฟจาก power bank และพิมพ์กล่องเอง</a:t>
            </a:r>
            <a:endParaRPr lang="en-US" sz="3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254496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อ้างอิง: github.com/banpot/LightCheck-KM/docs/wiring.md   ·   github.com/banpot/LightCheck-KM/hardware/enclosure   ·   ams (2018). TSL2591 Light-to-Digital Converter datasheet DS000338</a:t>
            </a:r>
            <a:endParaRPr lang="en-US" sz="1000" dirty="0"/>
          </a:p>
        </p:txBody>
      </p:sp>
      <p:pic>
        <p:nvPicPr>
          <p:cNvPr id="6" name="ผังวงจร (USB-C power bank)" descr="/home/claude/work/deck/img/wiring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6400800" cy="4586419"/>
          </a:xfrm>
          <a:prstGeom prst="rect">
            <a:avLst/>
          </a:prstGeom>
        </p:spPr>
      </p:pic>
      <p:pic>
        <p:nvPicPr>
          <p:cNvPr id="7" name="ภาพพิมพ์กล่องด้วย Ender-6" descr="/home/claude/work/deck/img/print_ender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536192"/>
            <a:ext cx="4370832" cy="3279046"/>
          </a:xfrm>
          <a:prstGeom prst="rect">
            <a:avLst/>
          </a:prstGeom>
        </p:spPr>
      </p:pic>
      <p:sp>
        <p:nvSpPr>
          <p:cNvPr id="8" name="ข้อความ 162"/>
          <p:cNvSpPr txBox="1"/>
          <p:nvPr/>
        </p:nvSpPr>
        <p:spPr>
          <a:xfrm>
            <a:off x="7269480" y="484632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chemeClr val="accent5"/>
                </a:solidFill>
              </a:rPr>
              <a:t>พิมพ์กล่องด้วย Creality Ender-6 (ภาพจริง)</a:t>
            </a:r>
            <a:endParaRPr lang="th-TH" sz="1200" dirty="0"/>
          </a:p>
        </p:txBody>
      </p:sp>
      <p:sp>
        <p:nvSpPr>
          <p:cNvPr id="9" name="วงกลมไอคอน 163"/>
          <p:cNvSpPr/>
          <p:nvPr/>
        </p:nvSpPr>
        <p:spPr>
          <a:xfrm>
            <a:off x="7269480" y="5230368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ไอคอน FaPlug 16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297" y="5324185"/>
            <a:ext cx="159837" cy="159837"/>
          </a:xfrm>
          <a:prstGeom prst="rect">
            <a:avLst/>
          </a:prstGeom>
        </p:spPr>
      </p:pic>
      <p:sp>
        <p:nvSpPr>
          <p:cNvPr id="11" name="ข้อความ 165"/>
          <p:cNvSpPr txBox="1"/>
          <p:nvPr/>
        </p:nvSpPr>
        <p:spPr>
          <a:xfrm>
            <a:off x="7708392" y="52303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300" dirty="0">
                <a:solidFill>
                  <a:schemeClr val="tx1"/>
                </a:solidFill>
              </a:rPr>
              <a:t>USB-C 5 V (power bank)</a:t>
            </a:r>
            <a:endParaRPr lang="th-TH" sz="1300" dirty="0"/>
          </a:p>
        </p:txBody>
      </p:sp>
      <p:sp>
        <p:nvSpPr>
          <p:cNvPr id="12" name="วงกลมไอคอน 166"/>
          <p:cNvSpPr/>
          <p:nvPr/>
        </p:nvSpPr>
        <p:spPr>
          <a:xfrm>
            <a:off x="9509760" y="5230368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ไอคอน FaShareNodes 16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3577" y="5324185"/>
            <a:ext cx="159837" cy="159837"/>
          </a:xfrm>
          <a:prstGeom prst="rect">
            <a:avLst/>
          </a:prstGeom>
        </p:spPr>
      </p:pic>
      <p:sp>
        <p:nvSpPr>
          <p:cNvPr id="14" name="ข้อความ 168"/>
          <p:cNvSpPr txBox="1"/>
          <p:nvPr/>
        </p:nvSpPr>
        <p:spPr>
          <a:xfrm>
            <a:off x="9948672" y="523036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300" dirty="0">
                <a:solidFill>
                  <a:schemeClr val="tx1"/>
                </a:solidFill>
              </a:rPr>
              <a:t>SDA = D2, SCL = D1</a:t>
            </a:r>
            <a:endParaRPr lang="th-TH" sz="1300" dirty="0"/>
          </a:p>
        </p:txBody>
      </p:sp>
      <p:sp>
        <p:nvSpPr>
          <p:cNvPr id="15" name="วงกลมไอคอน 169"/>
          <p:cNvSpPr/>
          <p:nvPr/>
        </p:nvSpPr>
        <p:spPr>
          <a:xfrm>
            <a:off x="7269480" y="566928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ไอคอน FaCube 17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297" y="5763097"/>
            <a:ext cx="159837" cy="159837"/>
          </a:xfrm>
          <a:prstGeom prst="rect">
            <a:avLst/>
          </a:prstGeom>
        </p:spPr>
      </p:pic>
      <p:sp>
        <p:nvSpPr>
          <p:cNvPr id="17" name="ข้อความ 171"/>
          <p:cNvSpPr txBox="1"/>
          <p:nvPr/>
        </p:nvSpPr>
        <p:spPr>
          <a:xfrm>
            <a:off x="7708392" y="5669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300" dirty="0">
                <a:solidFill>
                  <a:schemeClr val="tx1"/>
                </a:solidFill>
              </a:rPr>
              <a:t>STL ดาวน์โหลดได้ · 108×63×26 มม. · ช่องขาตั้งกล้อง</a:t>
            </a:r>
            <a:endParaRPr lang="th-TH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743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บทเรียนหน้างาน · Tacit → Explicit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0350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แสง LED ไม่เหมือนแสงธรรมชาติ และกระพริบตามไฟ 50 Hz</a:t>
            </a:r>
            <a:endParaRPr lang="en-US" sz="3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254496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อ้างอิง: U.S. DOE / PNNL (2016). Characterizing Photometric Flicker, PNNL-25135   ·   ams (2018). TSL2591 Light-to-Digital Converter datasheet DS000338   ·   github.com/banpot/LightCheck-KM/tools/fw_sim   ·   github.com/banpot/LightCheck-KM/lessons-learned.md</a:t>
            </a:r>
            <a:endParaRPr lang="en-US" sz="1000" dirty="0"/>
          </a:p>
        </p:txBody>
      </p:sp>
      <p:sp>
        <p:nvSpPr>
          <p:cNvPr id="6" name="เลขลำดับ 172"/>
          <p:cNvSpPr/>
          <p:nvPr/>
        </p:nvSpPr>
        <p:spPr>
          <a:xfrm>
            <a:off x="548640" y="1618488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ข้อความ 173"/>
          <p:cNvSpPr txBox="1"/>
          <p:nvPr/>
        </p:nvSpPr>
        <p:spPr>
          <a:xfrm>
            <a:off x="1143000" y="1572768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7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สว่างตามขนาดกระแส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ไฟ 50 Hz → แสงวูบ 100 ครั้ง/วินาที (คาบ 10 ms)</a:t>
            </a:r>
            <a:endParaRPr lang="th-TH" sz="1600" dirty="0"/>
          </a:p>
        </p:txBody>
      </p:sp>
      <p:sp>
        <p:nvSpPr>
          <p:cNvPr id="8" name="เลขลำดับ 174"/>
          <p:cNvSpPr/>
          <p:nvPr/>
        </p:nvSpPr>
        <p:spPr>
          <a:xfrm>
            <a:off x="548640" y="2551176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ข้อความ 175"/>
          <p:cNvSpPr txBox="1"/>
          <p:nvPr/>
        </p:nvSpPr>
        <p:spPr>
          <a:xfrm>
            <a:off x="1143000" y="2505456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7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integration 300 ms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= 30 รอบของ 100 Hz พอดี (และ 15 รอบของ 50 Hz)</a:t>
            </a:r>
            <a:endParaRPr lang="th-TH" sz="1600" dirty="0"/>
          </a:p>
        </p:txBody>
      </p:sp>
      <p:sp>
        <p:nvSpPr>
          <p:cNvPr id="10" name="เลขลำดับ 176"/>
          <p:cNvSpPr/>
          <p:nvPr/>
        </p:nvSpPr>
        <p:spPr>
          <a:xfrm>
            <a:off x="548640" y="3483864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ข้อความ 177"/>
          <p:cNvSpPr txBox="1"/>
          <p:nvPr/>
        </p:nvSpPr>
        <p:spPr>
          <a:xfrm>
            <a:off x="1143000" y="3438144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7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เฉลี่ย 5 ค่า + แสดง *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จดค่าเมื่อจอขึ้น * (CV &lt; 2%)</a:t>
            </a:r>
            <a:endParaRPr lang="th-TH" sz="1600" dirty="0"/>
          </a:p>
        </p:txBody>
      </p:sp>
      <p:sp>
        <p:nvSpPr>
          <p:cNvPr id="12" name="เลขลำดับ 178"/>
          <p:cNvSpPr/>
          <p:nvPr/>
        </p:nvSpPr>
        <p:spPr>
          <a:xfrm>
            <a:off x="548640" y="441655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ข้อความ 179"/>
          <p:cNvSpPr txBox="1"/>
          <p:nvPr/>
        </p:nvSpPr>
        <p:spPr>
          <a:xfrm>
            <a:off x="1143000" y="4370832"/>
            <a:ext cx="4160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7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สอบเทียบใต้แสงจริง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LED มี IR น้อยกว่าแสงแดด จึงคลาดเคลื่อนต่างกัน</a:t>
            </a:r>
            <a:endParaRPr lang="th-TH" sz="16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577840" y="1463040"/>
          <a:ext cx="6062472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สรุปผลเฉลี่ย 180"/>
          <p:cNvSpPr/>
          <p:nvPr/>
        </p:nvSpPr>
        <p:spPr>
          <a:xfrm>
            <a:off x="5577840" y="4892040"/>
            <a:ext cx="2926080" cy="1188720"/>
          </a:xfrm>
          <a:prstGeom prst="roundRect">
            <a:avLst>
              <a:gd name="adj" fmla="val 9231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6" name="ข้อความ 181"/>
          <p:cNvSpPr txBox="1"/>
          <p:nvPr/>
        </p:nvSpPr>
        <p:spPr>
          <a:xfrm>
            <a:off x="5760720" y="4919472"/>
            <a:ext cx="2651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~2×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tx1"/>
                </a:solidFill>
              </a:rPr>
              <a:t>ค่าบนจอนิ่งขึ้น (fw_sim)</a:t>
            </a:r>
            <a:endParaRPr lang="th-TH" sz="1600" dirty="0"/>
          </a:p>
        </p:txBody>
      </p:sp>
      <p:sp>
        <p:nvSpPr>
          <p:cNvPr id="17" name="สรุป auto-range 182"/>
          <p:cNvSpPr/>
          <p:nvPr/>
        </p:nvSpPr>
        <p:spPr>
          <a:xfrm>
            <a:off x="8686800" y="4892040"/>
            <a:ext cx="2953512" cy="1188720"/>
          </a:xfrm>
          <a:prstGeom prst="roundRect">
            <a:avLst>
              <a:gd name="adj" fmla="val 9231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8" name="ข้อความ 183"/>
          <p:cNvSpPr txBox="1"/>
          <p:nvPr/>
        </p:nvSpPr>
        <p:spPr>
          <a:xfrm>
            <a:off x="8869680" y="4919472"/>
            <a:ext cx="26791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3200" dirty="0">
                <a:solidFill>
                  <a:schemeClr val="accent2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41 → 0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200" dirty="0">
                <a:solidFill>
                  <a:schemeClr val="tx1"/>
                </a:solidFill>
              </a:rPr>
              <a:t>ระดับที่ auto-range แกว่งจน SATURATED (v1.0 → v1.1 จาก 521)</a:t>
            </a:r>
            <a:endParaRPr lang="th-TH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743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วิธีการ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0350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สมการชดเชย: แปลงค่าของต้นแบบให้ใกล้เครื่องมาตรฐาน</a:t>
            </a:r>
            <a:endParaRPr lang="en-US" sz="3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254496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อ้างอิง: Adafruit_TSL2591_Library v1.4.5 (calculateLux, LUX_DF = 408)   ·   ams (2018). TSL2591 Light-to-Digital Converter datasheet DS000338   ·   github.com/banpot/LightCheck-KM/calibration/README.md</a:t>
            </a:r>
            <a:endParaRPr lang="en-US" sz="1000" dirty="0"/>
          </a:p>
        </p:txBody>
      </p:sp>
      <p:sp>
        <p:nvSpPr>
          <p:cNvPr id="6" name="ขั้นตอน 184"/>
          <p:cNvSpPr/>
          <p:nvPr/>
        </p:nvSpPr>
        <p:spPr>
          <a:xfrm>
            <a:off x="548640" y="1572768"/>
            <a:ext cx="25146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700" dirty="0">
                <a:solidFill>
                  <a:srgbClr val="000000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ADC</a:t>
            </a:r>
            <a:endParaRPr lang="th-TH" sz="1700" dirty="0"/>
          </a:p>
          <a:p>
            <a:pPr algn="ctr" indent="0" marL="0">
              <a:buNone/>
            </a:pPr>
            <a:r>
              <a:rPr lang="th-TH" altLang="en-US" sz="1500" dirty="0">
                <a:solidFill>
                  <a:schemeClr val="accent5"/>
                </a:solidFill>
              </a:rPr>
              <a:t>CH</a:t>
            </a:r>
            <a:pPr algn="ctr" indent="0" marL="0">
              <a:buNone/>
            </a:pPr>
            <a:r>
              <a:rPr lang="th-TH" altLang="en-US" sz="1500" baseline="-25000" dirty="0">
                <a:solidFill>
                  <a:schemeClr val="accent5"/>
                </a:solidFill>
              </a:rPr>
              <a:t>0</a:t>
            </a:r>
            <a:pPr algn="ctr" indent="0" marL="0">
              <a:buNone/>
            </a:pPr>
            <a:r>
              <a:rPr lang="th-TH" altLang="en-US" sz="1500" dirty="0">
                <a:solidFill>
                  <a:schemeClr val="accent5"/>
                </a:solidFill>
              </a:rPr>
              <a:t>, CH</a:t>
            </a:r>
            <a:pPr algn="ctr" indent="0" marL="0">
              <a:buNone/>
            </a:pPr>
            <a:r>
              <a:rPr lang="th-TH" altLang="en-US" sz="1500" baseline="-25000" dirty="0">
                <a:solidFill>
                  <a:schemeClr val="accent5"/>
                </a:solidFill>
              </a:rPr>
              <a:t>1</a:t>
            </a:r>
            <a:endParaRPr lang="th-TH" sz="1700" dirty="0"/>
          </a:p>
        </p:txBody>
      </p:sp>
      <p:sp>
        <p:nvSpPr>
          <p:cNvPr id="7" name="ลูกศร 185"/>
          <p:cNvSpPr/>
          <p:nvPr/>
        </p:nvSpPr>
        <p:spPr>
          <a:xfrm>
            <a:off x="3099816" y="2011680"/>
            <a:ext cx="27432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ขั้นตอน 186"/>
          <p:cNvSpPr/>
          <p:nvPr/>
        </p:nvSpPr>
        <p:spPr>
          <a:xfrm>
            <a:off x="3410712" y="1572768"/>
            <a:ext cx="25146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700" dirty="0">
                <a:solidFill>
                  <a:srgbClr val="000000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Raw lux</a:t>
            </a:r>
            <a:endParaRPr lang="th-TH" sz="1700" dirty="0"/>
          </a:p>
          <a:p>
            <a:pPr algn="ctr" indent="0" marL="0">
              <a:buNone/>
            </a:pPr>
            <a:r>
              <a:rPr lang="th-TH" altLang="en-US" sz="1700" i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th-TH" altLang="en-US" sz="1700" baseline="-25000" dirty="0">
                <a:solidFill>
                  <a:schemeClr val="accent5"/>
                </a:solidFill>
              </a:rPr>
              <a:t>raw</a:t>
            </a:r>
            <a:endParaRPr lang="th-TH" sz="1700" dirty="0"/>
          </a:p>
        </p:txBody>
      </p:sp>
      <p:sp>
        <p:nvSpPr>
          <p:cNvPr id="9" name="ลูกศร 187"/>
          <p:cNvSpPr/>
          <p:nvPr/>
        </p:nvSpPr>
        <p:spPr>
          <a:xfrm>
            <a:off x="5961888" y="2011680"/>
            <a:ext cx="27432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0" name="ขั้นตอน 188"/>
          <p:cNvSpPr/>
          <p:nvPr/>
        </p:nvSpPr>
        <p:spPr>
          <a:xfrm>
            <a:off x="6272784" y="1572768"/>
            <a:ext cx="25146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700" dirty="0">
                <a:solidFill>
                  <a:srgbClr val="000000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เฉลี่ย 5 ค่า</a:t>
            </a:r>
            <a:endParaRPr lang="th-TH" sz="1700" dirty="0"/>
          </a:p>
          <a:p>
            <a:pPr algn="ctr" indent="0" marL="0">
              <a:buNone/>
            </a:pPr>
            <a:r>
              <a:rPr lang="th-TH" altLang="en-US" sz="1700" i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Ē</a:t>
            </a:r>
            <a:pPr algn="ctr" indent="0" marL="0">
              <a:buNone/>
            </a:pPr>
            <a:r>
              <a:rPr lang="th-TH" altLang="en-US" sz="1700" baseline="-25000" dirty="0">
                <a:solidFill>
                  <a:schemeClr val="accent5"/>
                </a:solidFill>
              </a:rPr>
              <a:t>raw</a:t>
            </a:r>
            <a:endParaRPr lang="th-TH" sz="1700" dirty="0"/>
          </a:p>
        </p:txBody>
      </p:sp>
      <p:sp>
        <p:nvSpPr>
          <p:cNvPr id="11" name="ลูกศร 189"/>
          <p:cNvSpPr/>
          <p:nvPr/>
        </p:nvSpPr>
        <p:spPr>
          <a:xfrm>
            <a:off x="8823960" y="2011680"/>
            <a:ext cx="27432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ขั้นตอน 190"/>
          <p:cNvSpPr/>
          <p:nvPr/>
        </p:nvSpPr>
        <p:spPr>
          <a:xfrm>
            <a:off x="9134856" y="1572768"/>
            <a:ext cx="2514600" cy="868680"/>
          </a:xfrm>
          <a:prstGeom prst="roundRect">
            <a:avLst>
              <a:gd name="adj" fmla="val 12632"/>
            </a:avLst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700" dirty="0">
                <a:solidFill>
                  <a:srgbClr val="000000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ค่าหลังชดเชย</a:t>
            </a:r>
            <a:endParaRPr lang="th-TH" sz="1700" dirty="0"/>
          </a:p>
          <a:p>
            <a:pPr algn="ctr" indent="0" marL="0">
              <a:buNone/>
            </a:pPr>
            <a:r>
              <a:rPr lang="th-TH" altLang="en-US" sz="1700" i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th-TH" altLang="en-US" sz="1700" baseline="-25000" dirty="0">
                <a:solidFill>
                  <a:schemeClr val="accent5"/>
                </a:solidFill>
              </a:rPr>
              <a:t>corr</a:t>
            </a:r>
            <a:endParaRPr lang="th-TH" sz="1700" dirty="0"/>
          </a:p>
        </p:txBody>
      </p:sp>
      <p:pic>
        <p:nvPicPr>
          <p:cNvPr id="13" name="สมการชดเชยหลัก" descr="/home/claude/work/deck/img/eq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2697480"/>
            <a:ext cx="9144000" cy="1217452"/>
          </a:xfrm>
          <a:prstGeom prst="rect">
            <a:avLst/>
          </a:prstGeom>
        </p:spPr>
      </p:pic>
      <p:sp>
        <p:nvSpPr>
          <p:cNvPr id="14" name="การ์ดหา a b 191"/>
          <p:cNvSpPr/>
          <p:nvPr/>
        </p:nvSpPr>
        <p:spPr>
          <a:xfrm>
            <a:off x="548640" y="416052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accent2">
              <a:alpha val="9000"/>
            </a:schemeClr>
          </a:solidFill>
          <a:ln/>
        </p:spPr>
      </p:sp>
      <p:sp>
        <p:nvSpPr>
          <p:cNvPr id="15" name="ข้อความ 192"/>
          <p:cNvSpPr txBox="1"/>
          <p:nvPr/>
        </p:nvSpPr>
        <p:spPr>
          <a:xfrm>
            <a:off x="777240" y="42976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dirty="0">
                <a:solidFill>
                  <a:schemeClr val="accent2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หา a, b (ครั้งเดียวต่อเครื่อง)</a:t>
            </a:r>
            <a:endParaRPr lang="th-TH" sz="1800" dirty="0"/>
          </a:p>
        </p:txBody>
      </p:sp>
      <p:pic>
        <p:nvPicPr>
          <p:cNvPr id="16" name="สมการ a b" descr="/home/claude/work/deck/img/eq_a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709160"/>
            <a:ext cx="4937760" cy="588647"/>
          </a:xfrm>
          <a:prstGeom prst="rect">
            <a:avLst/>
          </a:prstGeom>
        </p:spPr>
      </p:pic>
      <p:sp>
        <p:nvSpPr>
          <p:cNvPr id="17" name="ข้อความ 193"/>
          <p:cNvSpPr txBox="1"/>
          <p:nvPr/>
        </p:nvSpPr>
        <p:spPr>
          <a:xfrm>
            <a:off x="777240" y="5486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chemeClr val="accent5"/>
                </a:solidFill>
              </a:rPr>
              <a:t>fit ด้วย least squares บนชุดวัดคู่ · ทดสอบบนชุด validation แยกกัน</a:t>
            </a:r>
            <a:endParaRPr lang="th-TH" sz="1300" dirty="0"/>
          </a:p>
        </p:txBody>
      </p:sp>
      <p:sp>
        <p:nvSpPr>
          <p:cNvPr id="18" name="การ์ดตัวอย่าง 194"/>
          <p:cNvSpPr/>
          <p:nvPr/>
        </p:nvSpPr>
        <p:spPr>
          <a:xfrm>
            <a:off x="6199632" y="4160520"/>
            <a:ext cx="5440680" cy="1920240"/>
          </a:xfrm>
          <a:prstGeom prst="roundRect">
            <a:avLst>
              <a:gd name="adj" fmla="val 5714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9" name="ป้ายผลจำลอง 195"/>
          <p:cNvSpPr/>
          <p:nvPr/>
        </p:nvSpPr>
        <p:spPr>
          <a:xfrm>
            <a:off x="9235440" y="4279392"/>
            <a:ext cx="2240280" cy="292608"/>
          </a:xfrm>
          <a:prstGeom prst="roundRect">
            <a:avLst>
              <a:gd name="adj" fmla="val 25000"/>
            </a:avLst>
          </a:prstGeom>
          <a:solidFill>
            <a:schemeClr val="accent4">
              <a:alpha val="3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100" b="1" dirty="0">
                <a:solidFill>
                  <a:schemeClr val="tx1"/>
                </a:solidFill>
              </a:rPr>
              <a:t>ผลจำลอง · ไม่ใช่ข้อมูลวัดจริง</a:t>
            </a:r>
            <a:endParaRPr lang="th-TH" sz="1100" dirty="0"/>
          </a:p>
        </p:txBody>
      </p:sp>
      <p:sp>
        <p:nvSpPr>
          <p:cNvPr id="20" name="ข้อความ 197"/>
          <p:cNvSpPr txBox="1"/>
          <p:nvPr/>
        </p:nvSpPr>
        <p:spPr>
          <a:xfrm>
            <a:off x="6428232" y="4297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ตัวอย่าง</a:t>
            </a:r>
            <a:endParaRPr lang="th-TH" sz="1800" dirty="0"/>
          </a:p>
        </p:txBody>
      </p:sp>
      <p:sp>
        <p:nvSpPr>
          <p:cNvPr id="21" name="ข้อความ 198"/>
          <p:cNvSpPr txBox="1"/>
          <p:nvPr/>
        </p:nvSpPr>
        <p:spPr>
          <a:xfrm>
            <a:off x="6428232" y="470916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th-TH" altLang="en-US" sz="1500" dirty="0">
                <a:solidFill>
                  <a:schemeClr val="tx1"/>
                </a:solidFill>
              </a:rPr>
              <a:t>a = 1.596, b = −4.2 lx</a:t>
            </a:r>
            <a:endParaRPr lang="th-TH" sz="1500" dirty="0"/>
          </a:p>
          <a:p>
            <a:pPr indent="0" marL="0">
              <a:spcAft>
                <a:spcPts val="300"/>
              </a:spcAft>
              <a:buNone/>
            </a:pPr>
            <a:r>
              <a:rPr lang="th-TH" altLang="en-US" sz="1500" dirty="0">
                <a:solidFill>
                  <a:schemeClr val="tx1"/>
                </a:solidFill>
              </a:rPr>
              <a:t>Raw 250 lx ⇒ 1.596 × 250 − 4.2 = </a:t>
            </a:r>
            <a:pPr indent="0" marL="0">
              <a:spcAft>
                <a:spcPts val="300"/>
              </a:spcAft>
              <a:buNone/>
            </a:pPr>
            <a:r>
              <a:rPr lang="th-TH" altLang="en-US" sz="1500" b="1" dirty="0">
                <a:solidFill>
                  <a:schemeClr val="tx1"/>
                </a:solidFill>
              </a:rPr>
              <a:t>394.8 lx</a:t>
            </a:r>
            <a:endParaRPr lang="th-TH" sz="1500" dirty="0"/>
          </a:p>
          <a:p>
            <a:pPr indent="0" marL="0">
              <a:spcAft>
                <a:spcPts val="300"/>
              </a:spcAft>
              <a:buNone/>
            </a:pPr>
            <a:r>
              <a:rPr lang="th-TH" altLang="en-US" sz="1500" dirty="0">
                <a:solidFill>
                  <a:schemeClr val="accent5"/>
                </a:solidFill>
              </a:rPr>
              <a:t>อยู่ในช่วงยืนยันของเกณฑ์ 400 lx (371–429) → วัดซ้ำด้วยเครื่องมาตรฐาน</a:t>
            </a:r>
            <a:endParaRPr lang="th-TH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743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ผลลัพธ์ · ความแม่นยำที่คาดว่าจะได้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0350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ความแม่นยำที่คาดว่าจะได้: Monte Carlo 5,000 รอบ</a:t>
            </a:r>
            <a:endParaRPr lang="en-US" sz="3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254496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อ้างอิง: ams (2018). TSL2591 Light-to-Digital Converter datasheet DS000338   ·   HIOKI. LUX METER FT3424 specifications (±2% rdg., JIS C 1609-1 AA). ราคา: Thai Interelectric, 26,340 ฿ + VAT 7%   ·   github.com/banpot/LightCheck-KM/calibration/simulate_calibration.py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463040"/>
          <a:ext cx="566928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ป้ายผลจำลอง 199"/>
          <p:cNvSpPr/>
          <p:nvPr/>
        </p:nvSpPr>
        <p:spPr>
          <a:xfrm>
            <a:off x="1234440" y="2057400"/>
            <a:ext cx="2240280" cy="292608"/>
          </a:xfrm>
          <a:prstGeom prst="roundRect">
            <a:avLst>
              <a:gd name="adj" fmla="val 25000"/>
            </a:avLst>
          </a:prstGeom>
          <a:solidFill>
            <a:schemeClr val="accent4">
              <a:alpha val="30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100" b="1" dirty="0">
                <a:solidFill>
                  <a:schemeClr val="tx1"/>
                </a:solidFill>
              </a:rPr>
              <a:t>ผลจำลอง · ไม่ใช่ข้อมูลวัดจริง</a:t>
            </a:r>
            <a:endParaRPr lang="th-TH" sz="1100" dirty="0"/>
          </a:p>
        </p:txBody>
      </p:sp>
      <p:sp>
        <p:nvSpPr>
          <p:cNvPr id="8" name="KPI 201"/>
          <p:cNvSpPr/>
          <p:nvPr/>
        </p:nvSpPr>
        <p:spPr>
          <a:xfrm>
            <a:off x="6400800" y="1536192"/>
            <a:ext cx="2542032" cy="1463040"/>
          </a:xfrm>
          <a:prstGeom prst="roundRect">
            <a:avLst>
              <a:gd name="adj" fmla="val 7500"/>
            </a:avLst>
          </a:prstGeom>
          <a:solidFill>
            <a:schemeClr val="accent1">
              <a:alpha val="11000"/>
            </a:schemeClr>
          </a:solidFill>
          <a:ln/>
        </p:spPr>
      </p:sp>
      <p:sp>
        <p:nvSpPr>
          <p:cNvPr id="9" name="ข้อความ 202"/>
          <p:cNvSpPr txBox="1"/>
          <p:nvPr/>
        </p:nvSpPr>
        <p:spPr>
          <a:xfrm>
            <a:off x="6583680" y="1609344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34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±7.3%</a:t>
            </a:r>
            <a:endParaRPr lang="en-US" sz="3400" dirty="0"/>
          </a:p>
        </p:txBody>
      </p:sp>
      <p:sp>
        <p:nvSpPr>
          <p:cNvPr id="10" name="ข้อความ 203"/>
          <p:cNvSpPr txBox="1"/>
          <p:nvPr/>
        </p:nvSpPr>
        <p:spPr>
          <a:xfrm>
            <a:off x="6583680" y="230428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chemeClr val="tx1"/>
                </a:solidFill>
              </a:rPr>
              <a:t>คลาดเคลื่อน (95%) หลังชดเชย</a:t>
            </a:r>
            <a:endParaRPr lang="th-TH" sz="1300" dirty="0"/>
          </a:p>
        </p:txBody>
      </p:sp>
      <p:sp>
        <p:nvSpPr>
          <p:cNvPr id="11" name="KPI 204"/>
          <p:cNvSpPr/>
          <p:nvPr/>
        </p:nvSpPr>
        <p:spPr>
          <a:xfrm>
            <a:off x="9070848" y="1536192"/>
            <a:ext cx="2542032" cy="1463040"/>
          </a:xfrm>
          <a:prstGeom prst="roundRect">
            <a:avLst>
              <a:gd name="adj" fmla="val 7500"/>
            </a:avLst>
          </a:prstGeom>
          <a:solidFill>
            <a:schemeClr val="accent2">
              <a:alpha val="11000"/>
            </a:schemeClr>
          </a:solidFill>
          <a:ln/>
        </p:spPr>
      </p:sp>
      <p:sp>
        <p:nvSpPr>
          <p:cNvPr id="12" name="ข้อความ 205"/>
          <p:cNvSpPr txBox="1"/>
          <p:nvPr/>
        </p:nvSpPr>
        <p:spPr>
          <a:xfrm>
            <a:off x="9253728" y="1609344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altLang="en-US" sz="2800" dirty="0">
                <a:solidFill>
                  <a:schemeClr val="accent2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37% → 2.5%</a:t>
            </a:r>
            <a:endParaRPr lang="en-US" sz="2800" dirty="0"/>
          </a:p>
        </p:txBody>
      </p:sp>
      <p:sp>
        <p:nvSpPr>
          <p:cNvPr id="13" name="ข้อความ 206"/>
          <p:cNvSpPr txBox="1"/>
          <p:nvPr/>
        </p:nvSpPr>
        <p:spPr>
          <a:xfrm>
            <a:off x="9253728" y="230428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00" dirty="0">
                <a:solidFill>
                  <a:schemeClr val="tx1"/>
                </a:solidFill>
              </a:rPr>
              <a:t>MAPE ก่อน → หลังชดเชย</a:t>
            </a:r>
            <a:endParaRPr lang="th-TH" sz="13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tx1"/>
                </a:solidFill>
              </a:rPr>
              <a:t>P95 หลังชดเชย 4.0%</a:t>
            </a:r>
            <a:endParaRPr lang="th-TH" sz="13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6400800" y="3154680"/>
          <a:ext cx="5239512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ข้อความ 207"/>
          <p:cNvSpPr txBox="1"/>
          <p:nvPr/>
        </p:nvSpPr>
        <p:spPr>
          <a:xfrm>
            <a:off x="8732520" y="38862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th-TH" altLang="en-US" sz="1200" dirty="0">
                <a:solidFill>
                  <a:schemeClr val="accent5"/>
                </a:solidFill>
              </a:rPr>
              <a:t>guard band ส่งยืนยัน ≈ 13% ของจุด</a:t>
            </a:r>
            <a:endParaRPr lang="th-TH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743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ผลลัพธ์ · ใช้งานจริง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0350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ผลใช้งานจริง: ห้องทำงานเกือบทุกห้องแสงต่ำกว่ามาตรฐาน 10–30%</a:t>
            </a:r>
            <a:endParaRPr lang="en-US" sz="3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254496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อ้างอิง: กรมสวัสดิการและคุ้มครองแรงงาน (2561). ประกาศ เรื่อง มาตรฐานความเข้มของแสงสว่าง   ·   github.com/banpot/LightCheck-KM/docs/lighting-improvement.md   ·   github.com/banpot/LightCheck-KM/tools/survey/lighting_upgrade.py</a:t>
            </a:r>
            <a:endParaRPr lang="en-US" sz="1000" dirty="0"/>
          </a:p>
        </p:txBody>
      </p:sp>
      <p:sp>
        <p:nvSpPr>
          <p:cNvPr id="6" name="ผลจริง 208"/>
          <p:cNvSpPr/>
          <p:nvPr/>
        </p:nvSpPr>
        <p:spPr>
          <a:xfrm>
            <a:off x="548640" y="1554480"/>
            <a:ext cx="3794760" cy="4526280"/>
          </a:xfrm>
          <a:prstGeom prst="roundRect">
            <a:avLst>
              <a:gd name="adj" fmla="val 2892"/>
            </a:avLst>
          </a:prstGeom>
          <a:solidFill>
            <a:schemeClr val="accent3">
              <a:alpha val="11000"/>
            </a:schemeClr>
          </a:solidFill>
          <a:ln/>
        </p:spPr>
      </p:sp>
      <p:sp>
        <p:nvSpPr>
          <p:cNvPr id="7" name="ป้ายผลจริง"/>
          <p:cNvSpPr/>
          <p:nvPr/>
        </p:nvSpPr>
        <p:spPr>
          <a:xfrm>
            <a:off x="777240" y="1755648"/>
            <a:ext cx="2103120" cy="36576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5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ผลการคัดกรองจริง</a:t>
            </a:r>
            <a:endParaRPr lang="th-TH" sz="1500" dirty="0"/>
          </a:p>
        </p:txBody>
      </p:sp>
      <p:sp>
        <p:nvSpPr>
          <p:cNvPr id="8" name="ข้อความ 210"/>
          <p:cNvSpPr txBox="1"/>
          <p:nvPr/>
        </p:nvSpPr>
        <p:spPr>
          <a:xfrm>
            <a:off x="777240" y="22402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6600" dirty="0">
                <a:solidFill>
                  <a:schemeClr val="accent3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10–30%</a:t>
            </a:r>
            <a:endParaRPr lang="en-US" sz="6600" dirty="0"/>
          </a:p>
        </p:txBody>
      </p:sp>
      <p:sp>
        <p:nvSpPr>
          <p:cNvPr id="9" name="ข้อความ 211"/>
          <p:cNvSpPr txBox="1"/>
          <p:nvPr/>
        </p:nvSpPr>
        <p:spPr>
          <a:xfrm>
            <a:off x="777240" y="3383280"/>
            <a:ext cx="3383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th-TH" altLang="en-US" sz="20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ต่ำกว่าระดับมาตรฐาน</a:t>
            </a:r>
            <a:endParaRPr lang="th-TH" sz="1600" dirty="0"/>
          </a:p>
          <a:p>
            <a:pPr indent="0" marL="0">
              <a:spcAft>
                <a:spcPts val="800"/>
              </a:spcAft>
              <a:buNone/>
            </a:pPr>
            <a:r>
              <a:rPr lang="th-TH" altLang="en-US" sz="1500" dirty="0">
                <a:solidFill>
                  <a:schemeClr val="tx1"/>
                </a:solidFill>
              </a:rPr>
              <a:t>ห้องทำงานเกือบทุกห้องของสำนักดิจิทัลเทคโนโลยี (ยกเว้นห้องประชุม)</a:t>
            </a:r>
            <a:endParaRPr lang="th-TH" sz="1600" dirty="0"/>
          </a:p>
          <a:p>
            <a:pPr indent="0" marL="0">
              <a:spcAft>
                <a:spcPts val="800"/>
              </a:spcAft>
              <a:buNone/>
            </a:pPr>
            <a:r>
              <a:rPr lang="th-TH" altLang="en-US" sz="1500" b="1" dirty="0">
                <a:solidFill>
                  <a:schemeClr val="accent1"/>
                </a:solidFill>
              </a:rPr>
              <a:t>→ ผู้บริหารวางแผนปรับปรุงทันที</a:t>
            </a:r>
            <a:endParaRPr lang="th-TH" sz="1600" dirty="0"/>
          </a:p>
        </p:txBody>
      </p:sp>
      <p:sp>
        <p:nvSpPr>
          <p:cNvPr id="10" name="แผนปรับปรุง 212"/>
          <p:cNvSpPr/>
          <p:nvPr/>
        </p:nvSpPr>
        <p:spPr>
          <a:xfrm>
            <a:off x="4572000" y="1554480"/>
            <a:ext cx="7068312" cy="1691640"/>
          </a:xfrm>
          <a:prstGeom prst="roundRect">
            <a:avLst>
              <a:gd name="adj" fmla="val 6486"/>
            </a:avLst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11" name="เลขลำดับ 213"/>
          <p:cNvSpPr/>
          <p:nvPr/>
        </p:nvSpPr>
        <p:spPr>
          <a:xfrm>
            <a:off x="4773168" y="175564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ข้อความ 214"/>
          <p:cNvSpPr txBox="1"/>
          <p:nvPr/>
        </p:nvSpPr>
        <p:spPr>
          <a:xfrm>
            <a:off x="5394960" y="171907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ขาดเล็กน้อย (≤ ~20%)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500" dirty="0">
                <a:solidFill>
                  <a:schemeClr val="accent5"/>
                </a:solidFill>
              </a:rPr>
              <a:t>เปลี่ยนหลอด LED ให้วัตต์สูงขึ้น</a:t>
            </a:r>
            <a:endParaRPr lang="th-TH" sz="1600" dirty="0"/>
          </a:p>
        </p:txBody>
      </p:sp>
      <p:pic>
        <p:nvPicPr>
          <p:cNvPr id="13" name="สูตร เปลี่ยนหลอด LED ให้วัตต์สูงขึ้น" descr="/home/claude/work/deck/img/f_wa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737360"/>
            <a:ext cx="2634709" cy="868680"/>
          </a:xfrm>
          <a:prstGeom prst="rect">
            <a:avLst/>
          </a:prstGeom>
        </p:spPr>
      </p:pic>
      <p:sp>
        <p:nvSpPr>
          <p:cNvPr id="14" name="ข้อความ 215"/>
          <p:cNvSpPr txBox="1"/>
          <p:nvPr/>
        </p:nvSpPr>
        <p:spPr>
          <a:xfrm>
            <a:off x="5394960" y="26974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tx1"/>
                </a:solidFill>
              </a:rPr>
              <a:t>เช่น วัดได้ 270 lx: หลอด 18 W → 22 W</a:t>
            </a:r>
            <a:endParaRPr lang="th-TH" sz="1400" dirty="0"/>
          </a:p>
        </p:txBody>
      </p:sp>
      <p:sp>
        <p:nvSpPr>
          <p:cNvPr id="15" name="แผนปรับปรุง 216"/>
          <p:cNvSpPr/>
          <p:nvPr/>
        </p:nvSpPr>
        <p:spPr>
          <a:xfrm>
            <a:off x="4572000" y="3429000"/>
            <a:ext cx="7068312" cy="1691640"/>
          </a:xfrm>
          <a:prstGeom prst="roundRect">
            <a:avLst>
              <a:gd name="adj" fmla="val 6486"/>
            </a:avLst>
          </a:prstGeom>
          <a:solidFill>
            <a:schemeClr val="accent2">
              <a:alpha val="8000"/>
            </a:schemeClr>
          </a:solidFill>
          <a:ln/>
        </p:spPr>
      </p:sp>
      <p:sp>
        <p:nvSpPr>
          <p:cNvPr id="16" name="เลขลำดับ 217"/>
          <p:cNvSpPr/>
          <p:nvPr/>
        </p:nvSpPr>
        <p:spPr>
          <a:xfrm>
            <a:off x="4773168" y="3630168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ข้อความ 218"/>
          <p:cNvSpPr txBox="1"/>
          <p:nvPr/>
        </p:nvSpPr>
        <p:spPr>
          <a:xfrm>
            <a:off x="5394960" y="359359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8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ขาดมาก (&gt; ~20%)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500" dirty="0">
                <a:solidFill>
                  <a:schemeClr val="accent5"/>
                </a:solidFill>
              </a:rPr>
              <a:t>ติดหลอดไฟเพิ่ม</a:t>
            </a:r>
            <a:endParaRPr lang="th-TH" sz="1600" dirty="0"/>
          </a:p>
        </p:txBody>
      </p:sp>
      <p:pic>
        <p:nvPicPr>
          <p:cNvPr id="18" name="สูตร ติดหลอดไฟเพิ่ม" descr="/home/claude/work/deck/img/f_lam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3611880"/>
            <a:ext cx="2892733" cy="868680"/>
          </a:xfrm>
          <a:prstGeom prst="rect">
            <a:avLst/>
          </a:prstGeom>
        </p:spPr>
      </p:pic>
      <p:sp>
        <p:nvSpPr>
          <p:cNvPr id="19" name="ข้อความ 219"/>
          <p:cNvSpPr txBox="1"/>
          <p:nvPr/>
        </p:nvSpPr>
        <p:spPr>
          <a:xfrm>
            <a:off x="5394960" y="4572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tx1"/>
                </a:solidFill>
              </a:rPr>
              <a:t>เช่น วัดได้ 220 lx: 6 ดวง → 9 ดวง</a:t>
            </a:r>
            <a:endParaRPr lang="th-TH" sz="1400" dirty="0"/>
          </a:p>
        </p:txBody>
      </p:sp>
      <p:sp>
        <p:nvSpPr>
          <p:cNvPr id="20" name="ข้อความ 220"/>
          <p:cNvSpPr txBox="1"/>
          <p:nvPr/>
        </p:nvSpPr>
        <p:spPr>
          <a:xfrm>
            <a:off x="4572000" y="5394960"/>
            <a:ext cx="7068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400" i="1" dirty="0">
                <a:solidFill>
                  <a:schemeClr val="accent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indent="0" marL="0">
              <a:buNone/>
            </a:pPr>
            <a:r>
              <a:rPr lang="th-TH" altLang="en-US" sz="1400" baseline="-25000" dirty="0">
                <a:solidFill>
                  <a:schemeClr val="accent5"/>
                </a:solidFill>
              </a:rPr>
              <a:t>เป้าหมาย</a:t>
            </a:r>
            <a:pPr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 = เกณฑ์ × (1 + U₉₅) ≈ 322 lx · ยืนยันด้วยเครื่องมาตรฐานก่อนจัดซื้อ · วัดซ้ำหลังปรับปรุง</a:t>
            </a:r>
            <a:endParaRPr lang="th-TH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743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ประโยชน์ต่อคณะ / ส่วนงาน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0350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คณะและส่วนงาน: ใช้ได้ทันที ไม่ต้องมีความรู้เทคนิค</a:t>
            </a:r>
            <a:endParaRPr lang="en-US" sz="3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254496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อ้างอิง: github.com/banpot/LightCheck-KM/docs/user-manual.md   ·   github.com/banpot/LightCheck-KM/docs/measurement-SOP.md   ·   github.com/banpot/LightCheck-KM/tools/survey/grid_planner.py</a:t>
            </a:r>
            <a:endParaRPr lang="en-US" sz="1000" dirty="0"/>
          </a:p>
        </p:txBody>
      </p:sp>
      <p:sp>
        <p:nvSpPr>
          <p:cNvPr id="6" name="เส้นลำดับขั้น"/>
          <p:cNvSpPr/>
          <p:nvPr/>
        </p:nvSpPr>
        <p:spPr>
          <a:xfrm>
            <a:off x="1188720" y="2212848"/>
            <a:ext cx="9875520" cy="0"/>
          </a:xfrm>
          <a:prstGeom prst="line">
            <a:avLst/>
          </a:prstGeom>
          <a:noFill/>
          <a:ln w="38100">
            <a:solidFill>
              <a:srgbClr val="B4D5E5"/>
            </a:solidFill>
            <a:prstDash val="solid"/>
          </a:ln>
        </p:spPr>
      </p:sp>
      <p:sp>
        <p:nvSpPr>
          <p:cNvPr id="7" name="วงกลมไอคอน 221"/>
          <p:cNvSpPr/>
          <p:nvPr/>
        </p:nvSpPr>
        <p:spPr>
          <a:xfrm>
            <a:off x="1051560" y="173736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ไอคอน FaHandHoldingHeart 22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0792" y="1996592"/>
            <a:ext cx="441655" cy="441655"/>
          </a:xfrm>
          <a:prstGeom prst="rect">
            <a:avLst/>
          </a:prstGeom>
        </p:spPr>
      </p:pic>
      <p:sp>
        <p:nvSpPr>
          <p:cNvPr id="9" name="เลขลำดับ 223"/>
          <p:cNvSpPr/>
          <p:nvPr/>
        </p:nvSpPr>
        <p:spPr>
          <a:xfrm>
            <a:off x="960120" y="1627632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ข้อความ 224"/>
          <p:cNvSpPr txBox="1"/>
          <p:nvPr/>
        </p:nvSpPr>
        <p:spPr>
          <a:xfrm>
            <a:off x="54864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8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ขอรับการถ่ายทอด</a:t>
            </a:r>
            <a:endParaRPr lang="th-TH" sz="1800" dirty="0"/>
          </a:p>
        </p:txBody>
      </p:sp>
      <p:sp>
        <p:nvSpPr>
          <p:cNvPr id="11" name="ข้อความ 225"/>
          <p:cNvSpPr txBox="1"/>
          <p:nvPr/>
        </p:nvSpPr>
        <p:spPr>
          <a:xfrm>
            <a:off x="548640" y="3246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หรือประกอบเองตามคู่มือภาษาไทย</a:t>
            </a:r>
            <a:endParaRPr lang="th-TH" sz="1400" dirty="0"/>
          </a:p>
        </p:txBody>
      </p:sp>
      <p:sp>
        <p:nvSpPr>
          <p:cNvPr id="12" name="วงกลมไอคอน 226"/>
          <p:cNvSpPr/>
          <p:nvPr/>
        </p:nvSpPr>
        <p:spPr>
          <a:xfrm>
            <a:off x="3291840" y="173736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ไอคอน FaPrint 22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1072" y="1996592"/>
            <a:ext cx="441655" cy="441655"/>
          </a:xfrm>
          <a:prstGeom prst="rect">
            <a:avLst/>
          </a:prstGeom>
        </p:spPr>
      </p:pic>
      <p:sp>
        <p:nvSpPr>
          <p:cNvPr id="14" name="เลขลำดับ 228"/>
          <p:cNvSpPr/>
          <p:nvPr/>
        </p:nvSpPr>
        <p:spPr>
          <a:xfrm>
            <a:off x="3200400" y="1627632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ข้อความ 229"/>
          <p:cNvSpPr txBox="1"/>
          <p:nvPr/>
        </p:nvSpPr>
        <p:spPr>
          <a:xfrm>
            <a:off x="278892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8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พิมพ์ผังจุดวัด</a:t>
            </a:r>
            <a:endParaRPr lang="th-TH" sz="1800" dirty="0"/>
          </a:p>
        </p:txBody>
      </p:sp>
      <p:sp>
        <p:nvSpPr>
          <p:cNvPr id="16" name="ข้อความ 230"/>
          <p:cNvSpPr txBox="1"/>
          <p:nvPr/>
        </p:nvSpPr>
        <p:spPr>
          <a:xfrm>
            <a:off x="2788920" y="3246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กริด 2×2 ม. + แบบบันทึก (grid_planner)</a:t>
            </a:r>
            <a:endParaRPr lang="th-TH" sz="1400" dirty="0"/>
          </a:p>
        </p:txBody>
      </p:sp>
      <p:sp>
        <p:nvSpPr>
          <p:cNvPr id="17" name="วงกลมไอคอน 231"/>
          <p:cNvSpPr/>
          <p:nvPr/>
        </p:nvSpPr>
        <p:spPr>
          <a:xfrm>
            <a:off x="5532120" y="173736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ไอคอน FaClipboardCheck 23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352" y="1996592"/>
            <a:ext cx="441655" cy="441655"/>
          </a:xfrm>
          <a:prstGeom prst="rect">
            <a:avLst/>
          </a:prstGeom>
        </p:spPr>
      </p:pic>
      <p:sp>
        <p:nvSpPr>
          <p:cNvPr id="19" name="เลขลำดับ 233"/>
          <p:cNvSpPr/>
          <p:nvPr/>
        </p:nvSpPr>
        <p:spPr>
          <a:xfrm>
            <a:off x="5440680" y="1627632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ข้อความ 234"/>
          <p:cNvSpPr txBox="1"/>
          <p:nvPr/>
        </p:nvSpPr>
        <p:spPr>
          <a:xfrm>
            <a:off x="502920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8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วัดแล้วจด</a:t>
            </a:r>
            <a:endParaRPr lang="th-TH" sz="1800" dirty="0"/>
          </a:p>
        </p:txBody>
      </p:sp>
      <p:sp>
        <p:nvSpPr>
          <p:cNvPr id="21" name="ข้อความ 235"/>
          <p:cNvSpPr txBox="1"/>
          <p:nvPr/>
        </p:nvSpPr>
        <p:spPr>
          <a:xfrm>
            <a:off x="5029200" y="3246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วางที่ 75 ซม. รอจอขึ้น * แล้วจดค่า</a:t>
            </a:r>
            <a:endParaRPr lang="th-TH" sz="1400" dirty="0"/>
          </a:p>
        </p:txBody>
      </p:sp>
      <p:sp>
        <p:nvSpPr>
          <p:cNvPr id="22" name="วงกลมไอคอน 236"/>
          <p:cNvSpPr/>
          <p:nvPr/>
        </p:nvSpPr>
        <p:spPr>
          <a:xfrm>
            <a:off x="7772400" y="1737360"/>
            <a:ext cx="960120" cy="9601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3" name="ไอคอน FaMagnifyingGlass 23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1632" y="1996592"/>
            <a:ext cx="441655" cy="441655"/>
          </a:xfrm>
          <a:prstGeom prst="rect">
            <a:avLst/>
          </a:prstGeom>
        </p:spPr>
      </p:pic>
      <p:sp>
        <p:nvSpPr>
          <p:cNvPr id="24" name="เลขลำดับ 238"/>
          <p:cNvSpPr/>
          <p:nvPr/>
        </p:nvSpPr>
        <p:spPr>
          <a:xfrm>
            <a:off x="7680960" y="1627632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ข้อความ 239"/>
          <p:cNvSpPr txBox="1"/>
          <p:nvPr/>
        </p:nvSpPr>
        <p:spPr>
          <a:xfrm>
            <a:off x="726948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8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ส่งจุดใกล้เกณฑ์</a:t>
            </a:r>
            <a:endParaRPr lang="th-TH" sz="1800" dirty="0"/>
          </a:p>
        </p:txBody>
      </p:sp>
      <p:sp>
        <p:nvSpPr>
          <p:cNvPr id="26" name="ข้อความ 240"/>
          <p:cNvSpPr txBox="1"/>
          <p:nvPr/>
        </p:nvSpPr>
        <p:spPr>
          <a:xfrm>
            <a:off x="7269480" y="3246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แถบเหลืองยืนยันด้วยเครื่องมาตรฐาน</a:t>
            </a:r>
            <a:endParaRPr lang="th-TH" sz="1400" dirty="0"/>
          </a:p>
        </p:txBody>
      </p:sp>
      <p:sp>
        <p:nvSpPr>
          <p:cNvPr id="27" name="วงกลมไอคอน 241"/>
          <p:cNvSpPr/>
          <p:nvPr/>
        </p:nvSpPr>
        <p:spPr>
          <a:xfrm>
            <a:off x="10012680" y="1737360"/>
            <a:ext cx="960120" cy="9601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ไอคอน FaRotate 24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1912" y="1996592"/>
            <a:ext cx="441655" cy="441655"/>
          </a:xfrm>
          <a:prstGeom prst="rect">
            <a:avLst/>
          </a:prstGeom>
        </p:spPr>
      </p:pic>
      <p:sp>
        <p:nvSpPr>
          <p:cNvPr id="29" name="เลขลำดับ 243"/>
          <p:cNvSpPr/>
          <p:nvPr/>
        </p:nvSpPr>
        <p:spPr>
          <a:xfrm>
            <a:off x="9921240" y="1627632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ข้อความ 244"/>
          <p:cNvSpPr txBox="1"/>
          <p:nvPr/>
        </p:nvSpPr>
        <p:spPr>
          <a:xfrm>
            <a:off x="950976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8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ปรับปรุง + วัดซ้ำ</a:t>
            </a:r>
            <a:endParaRPr lang="th-TH" sz="1800" dirty="0"/>
          </a:p>
        </p:txBody>
      </p:sp>
      <p:sp>
        <p:nvSpPr>
          <p:cNvPr id="31" name="ข้อความ 245"/>
          <p:cNvSpPr txBox="1"/>
          <p:nvPr/>
        </p:nvSpPr>
        <p:spPr>
          <a:xfrm>
            <a:off x="9509760" y="32461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เปลี่ยนหลอดหรือเพิ่มโคม แล้ววัดซ้ำ</a:t>
            </a:r>
            <a:endParaRPr lang="th-TH" sz="1400" dirty="0"/>
          </a:p>
        </p:txBody>
      </p:sp>
      <p:sp>
        <p:nvSpPr>
          <p:cNvPr id="32" name="ไม่ต้องรู้ 246"/>
          <p:cNvSpPr/>
          <p:nvPr/>
        </p:nvSpPr>
        <p:spPr>
          <a:xfrm>
            <a:off x="548640" y="4206240"/>
            <a:ext cx="4572000" cy="1874520"/>
          </a:xfrm>
          <a:prstGeom prst="roundRect">
            <a:avLst>
              <a:gd name="adj" fmla="val 5854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3" name="ข้อความ 247"/>
          <p:cNvSpPr txBox="1"/>
          <p:nvPr/>
        </p:nvSpPr>
        <p:spPr>
          <a:xfrm>
            <a:off x="777240" y="4343400"/>
            <a:ext cx="4160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th-TH" altLang="en-US" sz="18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ไม่ต้องรู้เรื่อง firmware หรือสมการ</a:t>
            </a:r>
            <a:endParaRPr lang="th-TH" sz="1600" dirty="0"/>
          </a:p>
          <a:p>
            <a:pPr indent="0" marL="0">
              <a:spcAft>
                <a:spcPts val="600"/>
              </a:spcAft>
              <a:buNone/>
            </a:pPr>
            <a:r>
              <a:rPr lang="th-TH" altLang="en-US" sz="1500" dirty="0">
                <a:solidFill>
                  <a:schemeClr val="tx1"/>
                </a:solidFill>
              </a:rPr>
              <a:t>เครื่องชดเชยค่าให้เอง และจอบอกเมื่อค่านิ่ง (*)</a:t>
            </a:r>
            <a:endParaRPr lang="th-TH" sz="1600" dirty="0"/>
          </a:p>
          <a:p>
            <a:pPr indent="0" marL="0">
              <a:spcAft>
                <a:spcPts val="600"/>
              </a:spcAft>
              <a:buNone/>
            </a:pPr>
            <a:r>
              <a:rPr lang="th-TH" altLang="en-US" sz="1500" dirty="0">
                <a:solidFill>
                  <a:schemeClr val="tx1"/>
                </a:solidFill>
              </a:rPr>
              <a:t>แบบบันทึก SOP และ checklist Green Office พร้อมใช้</a:t>
            </a:r>
            <a:endParaRPr lang="th-TH" sz="1600" dirty="0"/>
          </a:p>
        </p:txBody>
      </p:sp>
      <p:sp>
        <p:nvSpPr>
          <p:cNvPr id="34" name="วงกลมไอคอน 248"/>
          <p:cNvSpPr/>
          <p:nvPr/>
        </p:nvSpPr>
        <p:spPr>
          <a:xfrm>
            <a:off x="5394960" y="426110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5" name="ไอคอน FaBullseye 249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8404" y="4384548"/>
            <a:ext cx="210312" cy="210312"/>
          </a:xfrm>
          <a:prstGeom prst="rect">
            <a:avLst/>
          </a:prstGeom>
        </p:spPr>
      </p:pic>
      <p:sp>
        <p:nvSpPr>
          <p:cNvPr id="36" name="ข้อความ 250"/>
          <p:cNvSpPr txBox="1"/>
          <p:nvPr/>
        </p:nvSpPr>
        <p:spPr>
          <a:xfrm>
            <a:off x="5989320" y="420624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6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รู้ว่าห้องไหนแสงไม่พอ  </a:t>
            </a:r>
            <a:pPr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ทุกห้องในรอบเดียว ไม่ต้องรอคิวเครื่องมาตรฐาน</a:t>
            </a:r>
            <a:endParaRPr lang="th-TH" sz="1600" dirty="0"/>
          </a:p>
        </p:txBody>
      </p:sp>
      <p:sp>
        <p:nvSpPr>
          <p:cNvPr id="37" name="วงกลมไอคอน 251"/>
          <p:cNvSpPr/>
          <p:nvPr/>
        </p:nvSpPr>
        <p:spPr>
          <a:xfrm>
            <a:off x="5394960" y="490118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8" name="ไอคอน FaListCheck 25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8404" y="5024628"/>
            <a:ext cx="210312" cy="210312"/>
          </a:xfrm>
          <a:prstGeom prst="rect">
            <a:avLst/>
          </a:prstGeom>
        </p:spPr>
      </p:pic>
      <p:sp>
        <p:nvSpPr>
          <p:cNvPr id="39" name="ข้อความ 253"/>
          <p:cNvSpPr txBox="1"/>
          <p:nvPr/>
        </p:nvSpPr>
        <p:spPr>
          <a:xfrm>
            <a:off x="5989320" y="484632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6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ได้แผนปรับปรุงที่คำนวณได้  </a:t>
            </a:r>
            <a:pPr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จำนวนหลอด/วัตต์ จากสูตรเดียวกัน</a:t>
            </a:r>
            <a:endParaRPr lang="th-TH" sz="1600" dirty="0"/>
          </a:p>
        </p:txBody>
      </p:sp>
      <p:sp>
        <p:nvSpPr>
          <p:cNvPr id="40" name="วงกลมไอคอน 254"/>
          <p:cNvSpPr/>
          <p:nvPr/>
        </p:nvSpPr>
        <p:spPr>
          <a:xfrm>
            <a:off x="5394960" y="554126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41" name="ไอคอน FaLeaf 25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18404" y="5664708"/>
            <a:ext cx="210312" cy="210312"/>
          </a:xfrm>
          <a:prstGeom prst="rect">
            <a:avLst/>
          </a:prstGeom>
        </p:spPr>
      </p:pic>
      <p:sp>
        <p:nvSpPr>
          <p:cNvPr id="42" name="ข้อความ 256"/>
          <p:cNvSpPr txBox="1"/>
          <p:nvPr/>
        </p:nvSpPr>
        <p:spPr>
          <a:xfrm>
            <a:off x="5989320" y="548640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6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ข้อมูลประกอบ Green Office  </a:t>
            </a:r>
            <a:pPr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ร่วมกับผลยืนยันจากเครื่องมาตรฐาน</a:t>
            </a:r>
            <a:endParaRPr lang="th-TH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743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ประโยชน์ต่อเจ้าหน้าที่เทคนิค / นักวิจัย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0350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เจ้าหน้าที่เทคนิคและนักวิจัย: ต่อยอดจากโค้ดเปิดที่พร้อมใช้</a:t>
            </a:r>
            <a:endParaRPr lang="en-US" sz="3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254496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อ้างอิง: github.com/banpot/LightCheck-KM/firmware   ·   github.com/banpot/LightCheck-KM/calibration   ·   github.com/banpot/LightCheck-KM/tools/fw_sim   ·   github.com/banpot/LightCheck-KM/hardware/enclosure/src</a:t>
            </a:r>
            <a:endParaRPr lang="en-US" sz="1000" dirty="0"/>
          </a:p>
        </p:txBody>
      </p:sp>
      <p:sp>
        <p:nvSpPr>
          <p:cNvPr id="6" name="ข้อความ 257"/>
          <p:cNvSpPr txBox="1"/>
          <p:nvPr/>
        </p:nvSpPr>
        <p:spPr>
          <a:xfrm>
            <a:off x="548640" y="15087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900" dirty="0">
                <a:solidFill>
                  <a:schemeClr val="accent2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สิ่งที่พร้อมให้ต่อยอดแล้ว</a:t>
            </a:r>
            <a:endParaRPr lang="th-TH" sz="1900" dirty="0"/>
          </a:p>
        </p:txBody>
      </p:sp>
      <p:sp>
        <p:nvSpPr>
          <p:cNvPr id="7" name="ชุดเครื่องมือ 258"/>
          <p:cNvSpPr/>
          <p:nvPr/>
        </p:nvSpPr>
        <p:spPr>
          <a:xfrm>
            <a:off x="548640" y="1965960"/>
            <a:ext cx="2907792" cy="1901952"/>
          </a:xfrm>
          <a:prstGeom prst="roundRect">
            <a:avLst>
              <a:gd name="adj" fmla="val 5769"/>
            </a:avLst>
          </a:prstGeom>
          <a:solidFill>
            <a:schemeClr val="accent2">
              <a:alpha val="9000"/>
            </a:schemeClr>
          </a:solidFill>
          <a:ln/>
        </p:spPr>
      </p:sp>
      <p:sp>
        <p:nvSpPr>
          <p:cNvPr id="8" name="วงกลมไอคอน 259"/>
          <p:cNvSpPr/>
          <p:nvPr/>
        </p:nvSpPr>
        <p:spPr>
          <a:xfrm>
            <a:off x="749808" y="216712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ไอคอน FaMicrochip 26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315261"/>
            <a:ext cx="252374" cy="252374"/>
          </a:xfrm>
          <a:prstGeom prst="rect">
            <a:avLst/>
          </a:prstGeom>
        </p:spPr>
      </p:pic>
      <p:sp>
        <p:nvSpPr>
          <p:cNvPr id="10" name="ข้อความ 261"/>
          <p:cNvSpPr txBox="1"/>
          <p:nvPr/>
        </p:nvSpPr>
        <p:spPr>
          <a:xfrm>
            <a:off x="1417320" y="21671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7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Firmware v1.1</a:t>
            </a:r>
            <a:endParaRPr lang="th-TH" sz="1700" dirty="0"/>
          </a:p>
        </p:txBody>
      </p:sp>
      <p:sp>
        <p:nvSpPr>
          <p:cNvPr id="11" name="ข้อความ 262"/>
          <p:cNvSpPr txBox="1"/>
          <p:nvPr/>
        </p:nvSpPr>
        <p:spPr>
          <a:xfrm>
            <a:off x="749808" y="28346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50" dirty="0">
                <a:solidFill>
                  <a:schemeClr val="accent5"/>
                </a:solidFill>
              </a:rPr>
              <a:t>Raw/Corrected CSV ทาง Serial · ค่าคงที่สมการ · รุ่นสมการ (traceability)</a:t>
            </a:r>
            <a:endParaRPr lang="th-TH" sz="1350" dirty="0"/>
          </a:p>
        </p:txBody>
      </p:sp>
      <p:sp>
        <p:nvSpPr>
          <p:cNvPr id="12" name="ชุดเครื่องมือ 263"/>
          <p:cNvSpPr/>
          <p:nvPr/>
        </p:nvSpPr>
        <p:spPr>
          <a:xfrm>
            <a:off x="3611880" y="1965960"/>
            <a:ext cx="2907792" cy="1901952"/>
          </a:xfrm>
          <a:prstGeom prst="roundRect">
            <a:avLst>
              <a:gd name="adj" fmla="val 5769"/>
            </a:avLst>
          </a:prstGeom>
          <a:solidFill>
            <a:schemeClr val="accent2">
              <a:alpha val="9000"/>
            </a:schemeClr>
          </a:solidFill>
          <a:ln/>
        </p:spPr>
      </p:sp>
      <p:sp>
        <p:nvSpPr>
          <p:cNvPr id="13" name="วงกลมไอคอน 264"/>
          <p:cNvSpPr/>
          <p:nvPr/>
        </p:nvSpPr>
        <p:spPr>
          <a:xfrm>
            <a:off x="3813048" y="216712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ไอคอน FaChartLine 26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1181" y="2315261"/>
            <a:ext cx="252374" cy="252374"/>
          </a:xfrm>
          <a:prstGeom prst="rect">
            <a:avLst/>
          </a:prstGeom>
        </p:spPr>
      </p:pic>
      <p:sp>
        <p:nvSpPr>
          <p:cNvPr id="15" name="ข้อความ 266"/>
          <p:cNvSpPr txBox="1"/>
          <p:nvPr/>
        </p:nvSpPr>
        <p:spPr>
          <a:xfrm>
            <a:off x="4480560" y="21671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7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ชุดสอบเทียบ</a:t>
            </a:r>
            <a:endParaRPr lang="th-TH" sz="1700" dirty="0"/>
          </a:p>
        </p:txBody>
      </p:sp>
      <p:sp>
        <p:nvSpPr>
          <p:cNvPr id="16" name="ข้อความ 267"/>
          <p:cNvSpPr txBox="1"/>
          <p:nvPr/>
        </p:nvSpPr>
        <p:spPr>
          <a:xfrm>
            <a:off x="3813048" y="28346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50" dirty="0">
                <a:solidFill>
                  <a:schemeClr val="accent5"/>
                </a:solidFill>
              </a:rPr>
              <a:t>fit · metrics (MAE/RMSE/MAPE) · guard band · Monte Carlo</a:t>
            </a:r>
            <a:endParaRPr lang="th-TH" sz="1350" dirty="0"/>
          </a:p>
        </p:txBody>
      </p:sp>
      <p:sp>
        <p:nvSpPr>
          <p:cNvPr id="17" name="ชุดเครื่องมือ 268"/>
          <p:cNvSpPr/>
          <p:nvPr/>
        </p:nvSpPr>
        <p:spPr>
          <a:xfrm>
            <a:off x="548640" y="4023360"/>
            <a:ext cx="2907792" cy="1901952"/>
          </a:xfrm>
          <a:prstGeom prst="roundRect">
            <a:avLst>
              <a:gd name="adj" fmla="val 5769"/>
            </a:avLst>
          </a:prstGeom>
          <a:solidFill>
            <a:schemeClr val="accent2">
              <a:alpha val="9000"/>
            </a:schemeClr>
          </a:solidFill>
          <a:ln/>
        </p:spPr>
      </p:sp>
      <p:sp>
        <p:nvSpPr>
          <p:cNvPr id="18" name="วงกลมไอคอน 269"/>
          <p:cNvSpPr/>
          <p:nvPr/>
        </p:nvSpPr>
        <p:spPr>
          <a:xfrm>
            <a:off x="749808" y="422452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ไอคอน FaCodeBranch 27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41" y="4372661"/>
            <a:ext cx="252374" cy="252374"/>
          </a:xfrm>
          <a:prstGeom prst="rect">
            <a:avLst/>
          </a:prstGeom>
        </p:spPr>
      </p:pic>
      <p:sp>
        <p:nvSpPr>
          <p:cNvPr id="20" name="ข้อความ 271"/>
          <p:cNvSpPr txBox="1"/>
          <p:nvPr/>
        </p:nvSpPr>
        <p:spPr>
          <a:xfrm>
            <a:off x="1417320" y="42245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7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แบบจำลอง firmware</a:t>
            </a:r>
            <a:endParaRPr lang="th-TH" sz="1700" dirty="0"/>
          </a:p>
        </p:txBody>
      </p:sp>
      <p:sp>
        <p:nvSpPr>
          <p:cNvPr id="21" name="ข้อความ 272"/>
          <p:cNvSpPr txBox="1"/>
          <p:nvPr/>
        </p:nvSpPr>
        <p:spPr>
          <a:xfrm>
            <a:off x="749808" y="48920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50" dirty="0">
                <a:solidFill>
                  <a:schemeClr val="accent5"/>
                </a:solidFill>
              </a:rPr>
              <a:t>tools/fw_sim ทดสอบ auto-range และการเฉลี่ยโดยไม่ต้องมีฮาร์ดแวร์</a:t>
            </a:r>
            <a:endParaRPr lang="th-TH" sz="1350" dirty="0"/>
          </a:p>
        </p:txBody>
      </p:sp>
      <p:sp>
        <p:nvSpPr>
          <p:cNvPr id="22" name="ชุดเครื่องมือ 273"/>
          <p:cNvSpPr/>
          <p:nvPr/>
        </p:nvSpPr>
        <p:spPr>
          <a:xfrm>
            <a:off x="3611880" y="4023360"/>
            <a:ext cx="2907792" cy="1901952"/>
          </a:xfrm>
          <a:prstGeom prst="roundRect">
            <a:avLst>
              <a:gd name="adj" fmla="val 5769"/>
            </a:avLst>
          </a:prstGeom>
          <a:solidFill>
            <a:schemeClr val="accent2">
              <a:alpha val="9000"/>
            </a:schemeClr>
          </a:solidFill>
          <a:ln/>
        </p:spPr>
      </p:sp>
      <p:sp>
        <p:nvSpPr>
          <p:cNvPr id="23" name="วงกลมไอคอน 274"/>
          <p:cNvSpPr/>
          <p:nvPr/>
        </p:nvSpPr>
        <p:spPr>
          <a:xfrm>
            <a:off x="3813048" y="4224528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ไอคอน FaCube 275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1181" y="4372661"/>
            <a:ext cx="252374" cy="252374"/>
          </a:xfrm>
          <a:prstGeom prst="rect">
            <a:avLst/>
          </a:prstGeom>
        </p:spPr>
      </p:pic>
      <p:sp>
        <p:nvSpPr>
          <p:cNvPr id="25" name="ข้อความ 276"/>
          <p:cNvSpPr txBox="1"/>
          <p:nvPr/>
        </p:nvSpPr>
        <p:spPr>
          <a:xfrm>
            <a:off x="4480560" y="42245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7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กล่อง parametric</a:t>
            </a:r>
            <a:endParaRPr lang="th-TH" sz="1700" dirty="0"/>
          </a:p>
        </p:txBody>
      </p:sp>
      <p:sp>
        <p:nvSpPr>
          <p:cNvPr id="26" name="ข้อความ 277"/>
          <p:cNvSpPr txBox="1"/>
          <p:nvPr/>
        </p:nvSpPr>
        <p:spPr>
          <a:xfrm>
            <a:off x="3813048" y="489204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350" dirty="0">
                <a:solidFill>
                  <a:schemeClr val="accent5"/>
                </a:solidFill>
              </a:rPr>
              <a:t>แก้ขนาดใน Python แล้วสร้าง STL ใหม่ · ผังวงจรสร้างจากโค้ด</a:t>
            </a:r>
            <a:endParaRPr lang="th-TH" sz="1350" dirty="0"/>
          </a:p>
        </p:txBody>
      </p:sp>
      <p:sp>
        <p:nvSpPr>
          <p:cNvPr id="27" name="ข้อความ 278"/>
          <p:cNvSpPr txBox="1"/>
          <p:nvPr/>
        </p:nvSpPr>
        <p:spPr>
          <a:xfrm>
            <a:off x="6903720" y="15087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9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ตัวอย่างต่อยอด: Wi-Fi + dashboard</a:t>
            </a:r>
            <a:endParaRPr lang="th-TH" sz="1900" dirty="0"/>
          </a:p>
        </p:txBody>
      </p:sp>
      <p:sp>
        <p:nvSpPr>
          <p:cNvPr id="28" name="ขั้นต่อยอด 279"/>
          <p:cNvSpPr/>
          <p:nvPr/>
        </p:nvSpPr>
        <p:spPr>
          <a:xfrm>
            <a:off x="6903720" y="1965960"/>
            <a:ext cx="4736592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wrap="square" lIns="152400" tIns="50800" rIns="101600" bIns="50800" rtlCol="0" anchor="ctr"/>
          <a:lstStyle/>
          <a:p>
            <a:pPr indent="0" marL="0">
              <a:buNone/>
            </a:pPr>
            <a:r>
              <a:rPr lang="th-TH" altLang="en-US" sz="1600" dirty="0">
                <a:solidFill>
                  <a:srgbClr val="000000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LightCheck KM (ESP8266)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5"/>
                </a:solidFill>
              </a:rPr>
              <a:t>ส่งค่า Raw/Corrected ผ่าน Wi-Fi (HTTP)</a:t>
            </a:r>
            <a:endParaRPr lang="th-TH" sz="1600" dirty="0"/>
          </a:p>
        </p:txBody>
      </p:sp>
      <p:sp>
        <p:nvSpPr>
          <p:cNvPr id="29" name="ลูกศร 280"/>
          <p:cNvSpPr/>
          <p:nvPr/>
        </p:nvSpPr>
        <p:spPr>
          <a:xfrm>
            <a:off x="9272016" y="2770632"/>
            <a:ext cx="0" cy="201168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ขั้นต่อยอด 281"/>
          <p:cNvSpPr/>
          <p:nvPr/>
        </p:nvSpPr>
        <p:spPr>
          <a:xfrm>
            <a:off x="6903720" y="2990088"/>
            <a:ext cx="4736592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wrap="square" lIns="152400" tIns="50800" rIns="101600" bIns="50800" rtlCol="0" anchor="ctr"/>
          <a:lstStyle/>
          <a:p>
            <a:pPr indent="0" marL="0">
              <a:buNone/>
            </a:pPr>
            <a:r>
              <a:rPr lang="th-TH" altLang="en-US" sz="1600" dirty="0">
                <a:solidFill>
                  <a:srgbClr val="000000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เซิร์ฟเวอร์ Node.js + EJS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5"/>
                </a:solidFill>
              </a:rPr>
              <a:t>รับค่า ตรวจรุ่นสมการ</a:t>
            </a:r>
            <a:endParaRPr lang="th-TH" sz="1600" dirty="0"/>
          </a:p>
        </p:txBody>
      </p:sp>
      <p:sp>
        <p:nvSpPr>
          <p:cNvPr id="31" name="ลูกศร 282"/>
          <p:cNvSpPr/>
          <p:nvPr/>
        </p:nvSpPr>
        <p:spPr>
          <a:xfrm>
            <a:off x="9272016" y="3794760"/>
            <a:ext cx="0" cy="201168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ขั้นต่อยอด 283"/>
          <p:cNvSpPr/>
          <p:nvPr/>
        </p:nvSpPr>
        <p:spPr>
          <a:xfrm>
            <a:off x="6903720" y="4014216"/>
            <a:ext cx="4736592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wrap="square" lIns="152400" tIns="50800" rIns="101600" bIns="50800" rtlCol="0" anchor="ctr"/>
          <a:lstStyle/>
          <a:p>
            <a:pPr indent="0" marL="0">
              <a:buNone/>
            </a:pPr>
            <a:r>
              <a:rPr lang="th-TH" altLang="en-US" sz="1600" dirty="0">
                <a:solidFill>
                  <a:srgbClr val="000000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SQLite / MongoDB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5"/>
                </a:solidFill>
              </a:rPr>
              <a:t>เก็บผลทุกจุดวัด ทุกห้อง ทุกปี</a:t>
            </a:r>
            <a:endParaRPr lang="th-TH" sz="1600" dirty="0"/>
          </a:p>
        </p:txBody>
      </p:sp>
      <p:sp>
        <p:nvSpPr>
          <p:cNvPr id="33" name="ลูกศร 284"/>
          <p:cNvSpPr/>
          <p:nvPr/>
        </p:nvSpPr>
        <p:spPr>
          <a:xfrm>
            <a:off x="9272016" y="4818888"/>
            <a:ext cx="0" cy="201168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4" name="ขั้นต่อยอด 285"/>
          <p:cNvSpPr/>
          <p:nvPr/>
        </p:nvSpPr>
        <p:spPr>
          <a:xfrm>
            <a:off x="6903720" y="5038344"/>
            <a:ext cx="4736592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22225">
            <a:solidFill>
              <a:schemeClr val="accent1"/>
            </a:solidFill>
          </a:ln>
        </p:spPr>
        <p:txBody>
          <a:bodyPr wrap="square" lIns="152400" tIns="50800" rIns="101600" bIns="50800" rtlCol="0" anchor="ctr"/>
          <a:lstStyle/>
          <a:p>
            <a:pPr indent="0" marL="0">
              <a:buNone/>
            </a:pPr>
            <a:r>
              <a:rPr lang="th-TH" altLang="en-US" sz="1600" dirty="0">
                <a:solidFill>
                  <a:srgbClr val="000000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Dashboard + รายงาน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300" dirty="0">
                <a:solidFill>
                  <a:schemeClr val="accent5"/>
                </a:solidFill>
              </a:rPr>
              <a:t>แผนที่ความสว่าง · แบบบันทึก Green Office</a:t>
            </a:r>
            <a:endParaRPr lang="th-TH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743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การเผยแพร่และถ่ายทอดความรู้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0350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เผยแพร่แล้ว: สแกนเพื่อนำไปใช้ได้ทันที</a:t>
            </a:r>
            <a:endParaRPr lang="en-US" sz="3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254496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อ้างอิง: github.com/banpot/LightCheck-KM   ·   github.com/banpot/LightCheck-KM/docs/km-dissemination.md</a:t>
            </a:r>
            <a:endParaRPr lang="en-US" sz="1000" dirty="0"/>
          </a:p>
        </p:txBody>
      </p:sp>
      <p:pic>
        <p:nvPicPr>
          <p:cNvPr id="6" name="QR GitHub" descr="/home/claude/work/deck/img/qr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2651760" cy="2651760"/>
          </a:xfrm>
          <a:prstGeom prst="rect">
            <a:avLst/>
          </a:prstGeom>
        </p:spPr>
      </p:pic>
      <p:sp>
        <p:nvSpPr>
          <p:cNvPr id="7" name="ข้อความ 286"/>
          <p:cNvSpPr txBox="1"/>
          <p:nvPr/>
        </p:nvSpPr>
        <p:spPr>
          <a:xfrm>
            <a:off x="548640" y="427939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altLang="en-US" sz="2000" u="sng" dirty="0">
                <a:solidFill>
                  <a:schemeClr val="accent2"/>
                </a:solidFill>
                <a:latin typeface="+mj-lt" pitchFamily="34" charset="0"/>
                <a:ea typeface="+mj-ea" pitchFamily="34" charset="-122"/>
                <a:cs typeface="+mj-c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github.com/banpot/LightCheck-KM</a:t>
            </a:r>
            <a:endParaRPr lang="en-US" sz="2000" dirty="0"/>
          </a:p>
        </p:txBody>
      </p:sp>
      <p:pic>
        <p:nvPicPr>
          <p:cNvPr id="8" name="ภาพหน้า repository" descr="/home/claude/work/deck/img/github_repo_home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554480"/>
            <a:ext cx="4480560" cy="2074545"/>
          </a:xfrm>
          <a:prstGeom prst="rect">
            <a:avLst/>
          </a:prstGeom>
        </p:spPr>
      </p:pic>
      <p:sp>
        <p:nvSpPr>
          <p:cNvPr id="9" name="ข้อความ 287"/>
          <p:cNvSpPr txBox="1"/>
          <p:nvPr/>
        </p:nvSpPr>
        <p:spPr>
          <a:xfrm>
            <a:off x="3474720" y="3685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200" dirty="0">
                <a:solidFill>
                  <a:schemeClr val="accent5"/>
                </a:solidFill>
              </a:rPr>
              <a:t>หน้า repository สาธารณะ (คู่มือภาษาไทย · firmware · STL · เครื่องมือ)</a:t>
            </a:r>
            <a:endParaRPr lang="th-TH" sz="1200" dirty="0"/>
          </a:p>
        </p:txBody>
      </p:sp>
      <p:sp>
        <p:nvSpPr>
          <p:cNvPr id="10" name="สถิติ 288"/>
          <p:cNvSpPr/>
          <p:nvPr/>
        </p:nvSpPr>
        <p:spPr>
          <a:xfrm>
            <a:off x="8229600" y="1554480"/>
            <a:ext cx="1600200" cy="1188720"/>
          </a:xfrm>
          <a:prstGeom prst="roundRect">
            <a:avLst>
              <a:gd name="adj" fmla="val 9231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1" name="ข้อความ 289"/>
          <p:cNvSpPr txBox="1"/>
          <p:nvPr/>
        </p:nvSpPr>
        <p:spPr>
          <a:xfrm>
            <a:off x="8339328" y="16459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20</a:t>
            </a:r>
            <a:endParaRPr lang="en-US" sz="3200" dirty="0"/>
          </a:p>
        </p:txBody>
      </p:sp>
      <p:sp>
        <p:nvSpPr>
          <p:cNvPr id="12" name="ข้อความ 290"/>
          <p:cNvSpPr txBox="1"/>
          <p:nvPr/>
        </p:nvSpPr>
        <p:spPr>
          <a:xfrm>
            <a:off x="8275320" y="226771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250" dirty="0">
                <a:solidFill>
                  <a:schemeClr val="tx1"/>
                </a:solidFill>
              </a:rPr>
              <a:t>เอกสาร/คู่มือ</a:t>
            </a:r>
            <a:endParaRPr lang="th-TH" sz="1250" dirty="0"/>
          </a:p>
        </p:txBody>
      </p:sp>
      <p:sp>
        <p:nvSpPr>
          <p:cNvPr id="13" name="สถิติ 291"/>
          <p:cNvSpPr/>
          <p:nvPr/>
        </p:nvSpPr>
        <p:spPr>
          <a:xfrm>
            <a:off x="9966960" y="1554480"/>
            <a:ext cx="1600200" cy="1188720"/>
          </a:xfrm>
          <a:prstGeom prst="roundRect">
            <a:avLst>
              <a:gd name="adj" fmla="val 9231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4" name="ข้อความ 292"/>
          <p:cNvSpPr txBox="1"/>
          <p:nvPr/>
        </p:nvSpPr>
        <p:spPr>
          <a:xfrm>
            <a:off x="10076688" y="16459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ข้อความ 293"/>
          <p:cNvSpPr txBox="1"/>
          <p:nvPr/>
        </p:nvSpPr>
        <p:spPr>
          <a:xfrm>
            <a:off x="10012680" y="226771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250" dirty="0">
                <a:solidFill>
                  <a:schemeClr val="tx1"/>
                </a:solidFill>
              </a:rPr>
              <a:t>ไฟล์ STL</a:t>
            </a:r>
            <a:endParaRPr lang="th-TH" sz="1250" dirty="0"/>
          </a:p>
        </p:txBody>
      </p:sp>
      <p:sp>
        <p:nvSpPr>
          <p:cNvPr id="16" name="สถิติ 294"/>
          <p:cNvSpPr/>
          <p:nvPr/>
        </p:nvSpPr>
        <p:spPr>
          <a:xfrm>
            <a:off x="8229600" y="2880360"/>
            <a:ext cx="1600200" cy="1188720"/>
          </a:xfrm>
          <a:prstGeom prst="roundRect">
            <a:avLst>
              <a:gd name="adj" fmla="val 9231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7" name="ข้อความ 295"/>
          <p:cNvSpPr txBox="1"/>
          <p:nvPr/>
        </p:nvSpPr>
        <p:spPr>
          <a:xfrm>
            <a:off x="8339328" y="29718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32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19</a:t>
            </a:r>
            <a:endParaRPr lang="en-US" sz="3200" dirty="0"/>
          </a:p>
        </p:txBody>
      </p:sp>
      <p:sp>
        <p:nvSpPr>
          <p:cNvPr id="18" name="ข้อความ 296"/>
          <p:cNvSpPr txBox="1"/>
          <p:nvPr/>
        </p:nvSpPr>
        <p:spPr>
          <a:xfrm>
            <a:off x="8275320" y="35935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250" dirty="0">
                <a:solidFill>
                  <a:schemeClr val="tx1"/>
                </a:solidFill>
              </a:rPr>
              <a:t>เครื่องมือ Python</a:t>
            </a:r>
            <a:endParaRPr lang="th-TH" sz="1250" dirty="0"/>
          </a:p>
        </p:txBody>
      </p:sp>
      <p:sp>
        <p:nvSpPr>
          <p:cNvPr id="19" name="สถิติ 297"/>
          <p:cNvSpPr/>
          <p:nvPr/>
        </p:nvSpPr>
        <p:spPr>
          <a:xfrm>
            <a:off x="9966960" y="2880360"/>
            <a:ext cx="1600200" cy="1188720"/>
          </a:xfrm>
          <a:prstGeom prst="roundRect">
            <a:avLst>
              <a:gd name="adj" fmla="val 9231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0" name="ข้อความ 298"/>
          <p:cNvSpPr txBox="1"/>
          <p:nvPr/>
        </p:nvSpPr>
        <p:spPr>
          <a:xfrm>
            <a:off x="10076688" y="29718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altLang="en-US" sz="24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Public</a:t>
            </a:r>
            <a:endParaRPr lang="en-US" sz="2400" dirty="0"/>
          </a:p>
        </p:txBody>
      </p:sp>
      <p:sp>
        <p:nvSpPr>
          <p:cNvPr id="21" name="ข้อความ 299"/>
          <p:cNvSpPr txBox="1"/>
          <p:nvPr/>
        </p:nvSpPr>
        <p:spPr>
          <a:xfrm>
            <a:off x="10012680" y="35935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th-TH" altLang="en-US" sz="1250" dirty="0">
                <a:solidFill>
                  <a:schemeClr val="tx1"/>
                </a:solidFill>
              </a:rPr>
              <a:t>MIT / CC BY 4.0</a:t>
            </a:r>
            <a:endParaRPr lang="th-TH" sz="1250" dirty="0"/>
          </a:p>
        </p:txBody>
      </p:sp>
      <p:sp>
        <p:nvSpPr>
          <p:cNvPr id="22" name="วงกลมไอคอน 300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ไอคอน FaGithub 30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428" y="5027828"/>
            <a:ext cx="231343" cy="231343"/>
          </a:xfrm>
          <a:prstGeom prst="rect">
            <a:avLst/>
          </a:prstGeom>
        </p:spPr>
      </p:pic>
      <p:sp>
        <p:nvSpPr>
          <p:cNvPr id="24" name="ข้อความ 302"/>
          <p:cNvSpPr txBox="1"/>
          <p:nvPr/>
        </p:nvSpPr>
        <p:spPr>
          <a:xfrm>
            <a:off x="1170432" y="481888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5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Public repository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250" dirty="0">
                <a:solidFill>
                  <a:schemeClr val="accent5"/>
                </a:solidFill>
              </a:rPr>
              <a:t>โค้ด STL คู่มือ SOP แบบบันทึก</a:t>
            </a:r>
            <a:endParaRPr lang="th-TH" sz="1600" dirty="0"/>
          </a:p>
        </p:txBody>
      </p:sp>
      <p:sp>
        <p:nvSpPr>
          <p:cNvPr id="25" name="วงกลมไอคอน 303"/>
          <p:cNvSpPr/>
          <p:nvPr/>
        </p:nvSpPr>
        <p:spPr>
          <a:xfrm>
            <a:off x="3364992" y="4892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6" name="ไอคอน FaCircleQuestion 30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0780" y="5027828"/>
            <a:ext cx="231343" cy="231343"/>
          </a:xfrm>
          <a:prstGeom prst="rect">
            <a:avLst/>
          </a:prstGeom>
        </p:spPr>
      </p:pic>
      <p:sp>
        <p:nvSpPr>
          <p:cNvPr id="27" name="ข้อความ 305"/>
          <p:cNvSpPr txBox="1"/>
          <p:nvPr/>
        </p:nvSpPr>
        <p:spPr>
          <a:xfrm>
            <a:off x="3986784" y="481888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5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GitHub Issues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250" dirty="0">
                <a:solidFill>
                  <a:schemeClr val="accent5"/>
                </a:solidFill>
              </a:rPr>
              <a:t>ถาม-ตอบ · ขอรับการถ่ายทอด</a:t>
            </a:r>
            <a:endParaRPr lang="th-TH" sz="1600" dirty="0"/>
          </a:p>
        </p:txBody>
      </p:sp>
      <p:sp>
        <p:nvSpPr>
          <p:cNvPr id="28" name="วงกลมไอคอน 306"/>
          <p:cNvSpPr/>
          <p:nvPr/>
        </p:nvSpPr>
        <p:spPr>
          <a:xfrm>
            <a:off x="6181344" y="4892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ไอคอน FaQrcode 30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7132" y="5027828"/>
            <a:ext cx="231343" cy="231343"/>
          </a:xfrm>
          <a:prstGeom prst="rect">
            <a:avLst/>
          </a:prstGeom>
        </p:spPr>
      </p:pic>
      <p:sp>
        <p:nvSpPr>
          <p:cNvPr id="30" name="ข้อความ 308"/>
          <p:cNvSpPr txBox="1"/>
          <p:nvPr/>
        </p:nvSpPr>
        <p:spPr>
          <a:xfrm>
            <a:off x="6803136" y="481888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5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QR บนโปสเตอร์และสไลด์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250" dirty="0">
                <a:solidFill>
                  <a:schemeClr val="accent5"/>
                </a:solidFill>
              </a:rPr>
              <a:t>ลิงก์ตรงไป repository</a:t>
            </a:r>
            <a:endParaRPr lang="th-TH" sz="1600" dirty="0"/>
          </a:p>
        </p:txBody>
      </p:sp>
      <p:sp>
        <p:nvSpPr>
          <p:cNvPr id="31" name="วงกลมไอคอน 309"/>
          <p:cNvSpPr/>
          <p:nvPr/>
        </p:nvSpPr>
        <p:spPr>
          <a:xfrm>
            <a:off x="8997696" y="4892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2" name="ไอคอน FaRotate 310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3484" y="5027828"/>
            <a:ext cx="231343" cy="231343"/>
          </a:xfrm>
          <a:prstGeom prst="rect">
            <a:avLst/>
          </a:prstGeom>
        </p:spPr>
      </p:pic>
      <p:sp>
        <p:nvSpPr>
          <p:cNvPr id="33" name="ข้อความ 311"/>
          <p:cNvSpPr txBox="1"/>
          <p:nvPr/>
        </p:nvSpPr>
        <p:spPr>
          <a:xfrm>
            <a:off x="9619488" y="4818888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5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ทำซ้ำได้ทุกตัวเลข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250" dirty="0">
                <a:solidFill>
                  <a:schemeClr val="accent5"/>
                </a:solidFill>
              </a:rPr>
              <a:t>คำสั่งเดียว make all</a:t>
            </a:r>
            <a:endParaRPr lang="th-TH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743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เชิญร่วมพัฒนาต่อบน GitHub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0350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ช่องว่างที่ยังเปิดอยู่: ข้อจำกัดของวันนี้ คือโจทย์ให้ร่วมพัฒนา</a:t>
            </a:r>
            <a:endParaRPr lang="en-US" sz="3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254496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อ้างอิง: github.com/banpot/LightCheck-KM/docs/open-problems.md   ·   github.com/banpot/LightCheck-KM/issues</a:t>
            </a:r>
            <a:endParaRPr lang="en-US" sz="1000" dirty="0"/>
          </a:p>
        </p:txBody>
      </p:sp>
      <p:sp>
        <p:nvSpPr>
          <p:cNvPr id="6" name="ข้อความ 312"/>
          <p:cNvSpPr txBox="1"/>
          <p:nvPr/>
        </p:nvSpPr>
        <p:spPr>
          <a:xfrm>
            <a:off x="548640" y="1508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900" dirty="0">
                <a:solidFill>
                  <a:schemeClr val="accent3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ข้อจำกัดที่เปิดเผย</a:t>
            </a:r>
            <a:endParaRPr lang="th-TH" sz="1900" dirty="0"/>
          </a:p>
        </p:txBody>
      </p:sp>
      <p:sp>
        <p:nvSpPr>
          <p:cNvPr id="7" name="ข้อจำกัด 313"/>
          <p:cNvSpPr/>
          <p:nvPr/>
        </p:nvSpPr>
        <p:spPr>
          <a:xfrm>
            <a:off x="548640" y="1965960"/>
            <a:ext cx="3337560" cy="868680"/>
          </a:xfrm>
          <a:prstGeom prst="roundRect">
            <a:avLst>
              <a:gd name="adj" fmla="val 12632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8" name="ข้อความ 314"/>
          <p:cNvSpPr txBox="1"/>
          <p:nvPr/>
        </p:nvSpPr>
        <p:spPr>
          <a:xfrm>
            <a:off x="749808" y="196596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tx1"/>
                </a:solidFill>
              </a:rPr>
              <a:t>ความแม่นยำยังเป็นผลจำลอง ยังไม่มีข้อมูลวัดคู่จริง</a:t>
            </a:r>
            <a:endParaRPr lang="th-TH" sz="1400" dirty="0"/>
          </a:p>
        </p:txBody>
      </p:sp>
      <p:sp>
        <p:nvSpPr>
          <p:cNvPr id="9" name="ข้อจำกัด 315"/>
          <p:cNvSpPr/>
          <p:nvPr/>
        </p:nvSpPr>
        <p:spPr>
          <a:xfrm>
            <a:off x="548640" y="2971800"/>
            <a:ext cx="3337560" cy="868680"/>
          </a:xfrm>
          <a:prstGeom prst="roundRect">
            <a:avLst>
              <a:gd name="adj" fmla="val 12632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10" name="ข้อความ 316"/>
          <p:cNvSpPr txBox="1"/>
          <p:nvPr/>
        </p:nvSpPr>
        <p:spPr>
          <a:xfrm>
            <a:off x="749808" y="29718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tx1"/>
                </a:solidFill>
              </a:rPr>
              <a:t>ผล 10–30% มาจากการคัดกรอง ต้องยืนยันก่อนลงทุน</a:t>
            </a:r>
            <a:endParaRPr lang="th-TH" sz="1400" dirty="0"/>
          </a:p>
        </p:txBody>
      </p:sp>
      <p:sp>
        <p:nvSpPr>
          <p:cNvPr id="11" name="ข้อจำกัด 317"/>
          <p:cNvSpPr/>
          <p:nvPr/>
        </p:nvSpPr>
        <p:spPr>
          <a:xfrm>
            <a:off x="548640" y="3977640"/>
            <a:ext cx="3337560" cy="868680"/>
          </a:xfrm>
          <a:prstGeom prst="roundRect">
            <a:avLst>
              <a:gd name="adj" fmla="val 12632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12" name="ข้อความ 318"/>
          <p:cNvSpPr txBox="1"/>
          <p:nvPr/>
        </p:nvSpPr>
        <p:spPr>
          <a:xfrm>
            <a:off x="749808" y="39776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tx1"/>
                </a:solidFill>
              </a:rPr>
              <a:t>spectral/cosine response ไม่เท่าเครื่องมาตรฐาน</a:t>
            </a:r>
            <a:endParaRPr lang="th-TH" sz="1400" dirty="0"/>
          </a:p>
        </p:txBody>
      </p:sp>
      <p:sp>
        <p:nvSpPr>
          <p:cNvPr id="13" name="ข้อจำกัด 319"/>
          <p:cNvSpPr/>
          <p:nvPr/>
        </p:nvSpPr>
        <p:spPr>
          <a:xfrm>
            <a:off x="548640" y="4983480"/>
            <a:ext cx="3337560" cy="868680"/>
          </a:xfrm>
          <a:prstGeom prst="roundRect">
            <a:avLst>
              <a:gd name="adj" fmla="val 12632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14" name="ข้อความ 320"/>
          <p:cNvSpPr txBox="1"/>
          <p:nvPr/>
        </p:nvSpPr>
        <p:spPr>
          <a:xfrm>
            <a:off x="749808" y="4983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tx1"/>
                </a:solidFill>
              </a:rPr>
              <a:t>backpack LCD pull-up 5 V ควรมี level shifter</a:t>
            </a:r>
            <a:endParaRPr lang="th-TH" sz="1400" dirty="0"/>
          </a:p>
        </p:txBody>
      </p:sp>
      <p:sp>
        <p:nvSpPr>
          <p:cNvPr id="15" name="ลูกศร 321"/>
          <p:cNvSpPr/>
          <p:nvPr/>
        </p:nvSpPr>
        <p:spPr>
          <a:xfrm>
            <a:off x="3959352" y="3429000"/>
            <a:ext cx="384048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ข้อความ 322"/>
          <p:cNvSpPr txBox="1"/>
          <p:nvPr/>
        </p:nvSpPr>
        <p:spPr>
          <a:xfrm>
            <a:off x="4434840" y="15087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900" dirty="0">
                <a:solidFill>
                  <a:schemeClr val="accent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โจทย์ที่เปิดให้ร่วมพัฒนา</a:t>
            </a:r>
            <a:endParaRPr lang="th-TH" sz="1900" dirty="0"/>
          </a:p>
        </p:txBody>
      </p:sp>
      <p:sp>
        <p:nvSpPr>
          <p:cNvPr id="17" name="โจทย์ 323"/>
          <p:cNvSpPr/>
          <p:nvPr/>
        </p:nvSpPr>
        <p:spPr>
          <a:xfrm>
            <a:off x="4434840" y="1965960"/>
            <a:ext cx="3520440" cy="960120"/>
          </a:xfrm>
          <a:prstGeom prst="roundRect">
            <a:avLst>
              <a:gd name="adj" fmla="val 11429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8" name="ข้อความ 324"/>
          <p:cNvSpPr txBox="1"/>
          <p:nvPr/>
        </p:nvSpPr>
        <p:spPr>
          <a:xfrm>
            <a:off x="4617720" y="203911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55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วัดคู่จริงกับเครื่องมาตรฐาน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250" dirty="0">
                <a:solidFill>
                  <a:schemeClr val="accent5"/>
                </a:solidFill>
              </a:rPr>
              <a:t>แทนผลจำลองด้วยข้อมูลจริง</a:t>
            </a:r>
            <a:endParaRPr lang="th-TH" sz="1600" dirty="0"/>
          </a:p>
        </p:txBody>
      </p:sp>
      <p:sp>
        <p:nvSpPr>
          <p:cNvPr id="19" name="ระดับ 325"/>
          <p:cNvSpPr/>
          <p:nvPr/>
        </p:nvSpPr>
        <p:spPr>
          <a:xfrm>
            <a:off x="7196328" y="2267712"/>
            <a:ext cx="621792" cy="347472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b="1" dirty="0">
                <a:solidFill>
                  <a:schemeClr val="bg1"/>
                </a:solidFill>
              </a:rPr>
              <a:t>ง่าย</a:t>
            </a:r>
            <a:endParaRPr lang="th-TH" sz="1200" dirty="0"/>
          </a:p>
        </p:txBody>
      </p:sp>
      <p:sp>
        <p:nvSpPr>
          <p:cNvPr id="20" name="โจทย์ 327"/>
          <p:cNvSpPr/>
          <p:nvPr/>
        </p:nvSpPr>
        <p:spPr>
          <a:xfrm>
            <a:off x="8074152" y="1965960"/>
            <a:ext cx="3520440" cy="960120"/>
          </a:xfrm>
          <a:prstGeom prst="roundRect">
            <a:avLst>
              <a:gd name="adj" fmla="val 11429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21" name="ข้อความ 328"/>
          <p:cNvSpPr txBox="1"/>
          <p:nvPr/>
        </p:nvSpPr>
        <p:spPr>
          <a:xfrm>
            <a:off x="8257032" y="203911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55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สมการแยกตามชนิดหลอด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250" dirty="0">
                <a:solidFill>
                  <a:schemeClr val="accent5"/>
                </a:solidFill>
              </a:rPr>
              <a:t>LED / ฟลูออเรสเซนต์ / แสงผสม</a:t>
            </a:r>
            <a:endParaRPr lang="th-TH" sz="1600" dirty="0"/>
          </a:p>
        </p:txBody>
      </p:sp>
      <p:sp>
        <p:nvSpPr>
          <p:cNvPr id="22" name="ระดับ 329"/>
          <p:cNvSpPr/>
          <p:nvPr/>
        </p:nvSpPr>
        <p:spPr>
          <a:xfrm>
            <a:off x="10835640" y="2267712"/>
            <a:ext cx="621792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b="1" dirty="0">
                <a:solidFill>
                  <a:schemeClr val="bg1"/>
                </a:solidFill>
              </a:rPr>
              <a:t>กลาง</a:t>
            </a:r>
            <a:endParaRPr lang="th-TH" sz="1200" dirty="0"/>
          </a:p>
        </p:txBody>
      </p:sp>
      <p:sp>
        <p:nvSpPr>
          <p:cNvPr id="23" name="โจทย์ 331"/>
          <p:cNvSpPr/>
          <p:nvPr/>
        </p:nvSpPr>
        <p:spPr>
          <a:xfrm>
            <a:off x="4434840" y="3063240"/>
            <a:ext cx="3520440" cy="960120"/>
          </a:xfrm>
          <a:prstGeom prst="roundRect">
            <a:avLst>
              <a:gd name="adj" fmla="val 11429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24" name="ข้อความ 332"/>
          <p:cNvSpPr txBox="1"/>
          <p:nvPr/>
        </p:nvSpPr>
        <p:spPr>
          <a:xfrm>
            <a:off x="4617720" y="313639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55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Wi-Fi logging + dashboard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250" dirty="0">
                <a:solidFill>
                  <a:schemeClr val="accent5"/>
                </a:solidFill>
              </a:rPr>
              <a:t>Node.js + EJS, SQLite / MongoDB</a:t>
            </a:r>
            <a:endParaRPr lang="th-TH" sz="1600" dirty="0"/>
          </a:p>
        </p:txBody>
      </p:sp>
      <p:sp>
        <p:nvSpPr>
          <p:cNvPr id="25" name="ระดับ 333"/>
          <p:cNvSpPr/>
          <p:nvPr/>
        </p:nvSpPr>
        <p:spPr>
          <a:xfrm>
            <a:off x="7196328" y="3364992"/>
            <a:ext cx="621792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b="1" dirty="0">
                <a:solidFill>
                  <a:schemeClr val="bg1"/>
                </a:solidFill>
              </a:rPr>
              <a:t>กลาง</a:t>
            </a:r>
            <a:endParaRPr lang="th-TH" sz="1200" dirty="0"/>
          </a:p>
        </p:txBody>
      </p:sp>
      <p:sp>
        <p:nvSpPr>
          <p:cNvPr id="26" name="โจทย์ 335"/>
          <p:cNvSpPr/>
          <p:nvPr/>
        </p:nvSpPr>
        <p:spPr>
          <a:xfrm>
            <a:off x="8074152" y="3063240"/>
            <a:ext cx="3520440" cy="960120"/>
          </a:xfrm>
          <a:prstGeom prst="roundRect">
            <a:avLst>
              <a:gd name="adj" fmla="val 11429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27" name="ข้อความ 336"/>
          <p:cNvSpPr txBox="1"/>
          <p:nvPr/>
        </p:nvSpPr>
        <p:spPr>
          <a:xfrm>
            <a:off x="8257032" y="313639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55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ฝากระจายแสง (cosine)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250" dirty="0">
                <a:solidFill>
                  <a:schemeClr val="accent5"/>
                </a:solidFill>
              </a:rPr>
              <a:t>ลดความคลาดเคลื่อนเมื่อแสงเฉียง</a:t>
            </a:r>
            <a:endParaRPr lang="th-TH" sz="1600" dirty="0"/>
          </a:p>
        </p:txBody>
      </p:sp>
      <p:sp>
        <p:nvSpPr>
          <p:cNvPr id="28" name="ระดับ 337"/>
          <p:cNvSpPr/>
          <p:nvPr/>
        </p:nvSpPr>
        <p:spPr>
          <a:xfrm>
            <a:off x="10835640" y="3364992"/>
            <a:ext cx="621792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b="1" dirty="0">
                <a:solidFill>
                  <a:schemeClr val="bg1"/>
                </a:solidFill>
              </a:rPr>
              <a:t>กลาง</a:t>
            </a:r>
            <a:endParaRPr lang="th-TH" sz="1200" dirty="0"/>
          </a:p>
        </p:txBody>
      </p:sp>
      <p:sp>
        <p:nvSpPr>
          <p:cNvPr id="29" name="โจทย์ 339"/>
          <p:cNvSpPr/>
          <p:nvPr/>
        </p:nvSpPr>
        <p:spPr>
          <a:xfrm>
            <a:off x="4434840" y="4160520"/>
            <a:ext cx="3520440" cy="960120"/>
          </a:xfrm>
          <a:prstGeom prst="roundRect">
            <a:avLst>
              <a:gd name="adj" fmla="val 11429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30" name="ข้อความ 340"/>
          <p:cNvSpPr txBox="1"/>
          <p:nvPr/>
        </p:nvSpPr>
        <p:spPr>
          <a:xfrm>
            <a:off x="4617720" y="423367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55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แผนที่ความสว่างจากกริด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250" dirty="0">
                <a:solidFill>
                  <a:schemeClr val="accent5"/>
                </a:solidFill>
              </a:rPr>
              <a:t>heatmap จุดมืดทั้งห้อง</a:t>
            </a:r>
            <a:endParaRPr lang="th-TH" sz="1600" dirty="0"/>
          </a:p>
        </p:txBody>
      </p:sp>
      <p:sp>
        <p:nvSpPr>
          <p:cNvPr id="31" name="ระดับ 341"/>
          <p:cNvSpPr/>
          <p:nvPr/>
        </p:nvSpPr>
        <p:spPr>
          <a:xfrm>
            <a:off x="7196328" y="4462272"/>
            <a:ext cx="621792" cy="347472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b="1" dirty="0">
                <a:solidFill>
                  <a:schemeClr val="bg1"/>
                </a:solidFill>
              </a:rPr>
              <a:t>ง่าย</a:t>
            </a:r>
            <a:endParaRPr lang="th-TH" sz="1200" dirty="0"/>
          </a:p>
        </p:txBody>
      </p:sp>
      <p:sp>
        <p:nvSpPr>
          <p:cNvPr id="32" name="โจทย์ 343"/>
          <p:cNvSpPr/>
          <p:nvPr/>
        </p:nvSpPr>
        <p:spPr>
          <a:xfrm>
            <a:off x="8074152" y="4160520"/>
            <a:ext cx="3520440" cy="960120"/>
          </a:xfrm>
          <a:prstGeom prst="roundRect">
            <a:avLst>
              <a:gd name="adj" fmla="val 11429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33" name="ข้อความ 344"/>
          <p:cNvSpPr txBox="1"/>
          <p:nvPr/>
        </p:nvSpPr>
        <p:spPr>
          <a:xfrm>
            <a:off x="8257032" y="423367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55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เซนเซอร์เพิ่มบน I²C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250" dirty="0">
                <a:solidFill>
                  <a:schemeClr val="accent5"/>
                </a:solidFill>
              </a:rPr>
              <a:t>CO₂ · อุณหภูมิ · ความชื้น · เสียง</a:t>
            </a:r>
            <a:endParaRPr lang="th-TH" sz="1600" dirty="0"/>
          </a:p>
        </p:txBody>
      </p:sp>
      <p:sp>
        <p:nvSpPr>
          <p:cNvPr id="34" name="ระดับ 345"/>
          <p:cNvSpPr/>
          <p:nvPr/>
        </p:nvSpPr>
        <p:spPr>
          <a:xfrm>
            <a:off x="10835640" y="4462272"/>
            <a:ext cx="621792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200" b="1" dirty="0">
                <a:solidFill>
                  <a:schemeClr val="bg1"/>
                </a:solidFill>
              </a:rPr>
              <a:t>กลาง</a:t>
            </a:r>
            <a:endParaRPr lang="th-TH" sz="1200" dirty="0"/>
          </a:p>
        </p:txBody>
      </p:sp>
      <p:sp>
        <p:nvSpPr>
          <p:cNvPr id="35" name="วิธีร่วม 347"/>
          <p:cNvSpPr/>
          <p:nvPr/>
        </p:nvSpPr>
        <p:spPr>
          <a:xfrm>
            <a:off x="4434840" y="5349240"/>
            <a:ext cx="7205472" cy="713232"/>
          </a:xfrm>
          <a:prstGeom prst="roundRect">
            <a:avLst>
              <a:gd name="adj" fmla="val 15385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36" name="วงกลมไอคอน 348"/>
          <p:cNvSpPr/>
          <p:nvPr/>
        </p:nvSpPr>
        <p:spPr>
          <a:xfrm>
            <a:off x="4572000" y="5440680"/>
            <a:ext cx="530352" cy="53035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7" name="ไอคอน FaGithub 34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5195" y="5583875"/>
            <a:ext cx="243962" cy="243962"/>
          </a:xfrm>
          <a:prstGeom prst="rect">
            <a:avLst/>
          </a:prstGeom>
        </p:spPr>
      </p:pic>
      <p:sp>
        <p:nvSpPr>
          <p:cNvPr id="38" name="ข้อความ 350"/>
          <p:cNvSpPr txBox="1"/>
          <p:nvPr/>
        </p:nvSpPr>
        <p:spPr>
          <a:xfrm>
            <a:off x="5230368" y="5349240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500" dirty="0">
                <a:solidFill>
                  <a:schemeClr val="accent2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วิธีร่วม: </a:t>
            </a:r>
            <a:pPr indent="0" marL="0">
              <a:buNone/>
            </a:pPr>
            <a:r>
              <a:rPr lang="th-TH" altLang="en-US" sz="1500" dirty="0">
                <a:solidFill>
                  <a:schemeClr val="tx1"/>
                </a:solidFill>
              </a:rPr>
              <a:t>เปิด Issue “[ร่วมพัฒนา] ชื่อหัวข้อ” แล้วส่ง Pull Request · รายละเอียด docs/open-problems.md</a:t>
            </a:r>
            <a:endParaRPr lang="th-TH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5486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chemeClr val="accent4"/>
                </a:solidFill>
              </a:rPr>
              <a:t>แสงที่พอ </a:t>
            </a:r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คือการดูแลสายตาคนทำงาน</a:t>
            </a:r>
            <a:endParaRPr lang="en-US" sz="4000" dirty="0"/>
          </a:p>
        </p:txBody>
      </p:sp>
      <p:sp>
        <p:nvSpPr>
          <p:cNvPr id="3" name="วงกลมไอคอน 351"/>
          <p:cNvSpPr/>
          <p:nvPr/>
        </p:nvSpPr>
        <p:spPr>
          <a:xfrm>
            <a:off x="548640" y="21031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ไอคอน FaHandHoldingHeart 35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495" y="2312975"/>
            <a:ext cx="357530" cy="357530"/>
          </a:xfrm>
          <a:prstGeom prst="rect">
            <a:avLst/>
          </a:prstGeom>
        </p:spPr>
      </p:pic>
      <p:sp>
        <p:nvSpPr>
          <p:cNvPr id="5" name="ข้อความ 353"/>
          <p:cNvSpPr txBox="1"/>
          <p:nvPr/>
        </p:nvSpPr>
        <p:spPr>
          <a:xfrm>
            <a:off x="1554480" y="205740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22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คนเป็นศูนย์กลาง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600" dirty="0">
                <a:solidFill>
                  <a:schemeClr val="accent6"/>
                </a:solidFill>
              </a:rPr>
              <a:t>ตัวชี้วัดมีไว้ปกป้องสายตา ไม่ใช่แค่ผ่านเกณฑ์</a:t>
            </a:r>
            <a:endParaRPr lang="th-TH" sz="1600" dirty="0"/>
          </a:p>
        </p:txBody>
      </p:sp>
      <p:sp>
        <p:nvSpPr>
          <p:cNvPr id="6" name="วงกลมไอคอน 354"/>
          <p:cNvSpPr/>
          <p:nvPr/>
        </p:nvSpPr>
        <p:spPr>
          <a:xfrm>
            <a:off x="548640" y="32918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ไอคอน FaBullseye 35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495" y="3501695"/>
            <a:ext cx="357530" cy="357530"/>
          </a:xfrm>
          <a:prstGeom prst="rect">
            <a:avLst/>
          </a:prstGeom>
        </p:spPr>
      </p:pic>
      <p:sp>
        <p:nvSpPr>
          <p:cNvPr id="8" name="ข้อความ 356"/>
          <p:cNvSpPr txBox="1"/>
          <p:nvPr/>
        </p:nvSpPr>
        <p:spPr>
          <a:xfrm>
            <a:off x="1554480" y="324612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22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ตอบให้ได้ว่า “พอหรือไม่”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600" dirty="0">
                <a:solidFill>
                  <a:schemeClr val="accent6"/>
                </a:solidFill>
              </a:rPr>
              <a:t>เครื่องละ ~385 ฿ คัดกรองทุกห้อง ยืนยันเฉพาะจุดใกล้เส้น</a:t>
            </a:r>
            <a:endParaRPr lang="th-TH" sz="1600" dirty="0"/>
          </a:p>
        </p:txBody>
      </p:sp>
      <p:sp>
        <p:nvSpPr>
          <p:cNvPr id="9" name="วงกลมไอคอน 357"/>
          <p:cNvSpPr/>
          <p:nvPr/>
        </p:nvSpPr>
        <p:spPr>
          <a:xfrm>
            <a:off x="548640" y="448056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ไอคอน FaShareNodes 35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95" y="4690415"/>
            <a:ext cx="357530" cy="357530"/>
          </a:xfrm>
          <a:prstGeom prst="rect">
            <a:avLst/>
          </a:prstGeom>
        </p:spPr>
      </p:pic>
      <p:sp>
        <p:nvSpPr>
          <p:cNvPr id="11" name="ข้อความ 359"/>
          <p:cNvSpPr txBox="1"/>
          <p:nvPr/>
        </p:nvSpPr>
        <p:spPr>
          <a:xfrm>
            <a:off x="1554480" y="4434840"/>
            <a:ext cx="6035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22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ความรู้ขององค์กร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600" dirty="0">
                <a:solidFill>
                  <a:schemeClr val="accent6"/>
                </a:solidFill>
              </a:rPr>
              <a:t>โค้ด SOP STL บทเรียน เปิดให้ใช้ซ้ำและร่วมพัฒนา</a:t>
            </a:r>
            <a:endParaRPr lang="th-TH" sz="1600" dirty="0"/>
          </a:p>
        </p:txBody>
      </p:sp>
      <p:sp>
        <p:nvSpPr>
          <p:cNvPr id="12" name="พื้น QR"/>
          <p:cNvSpPr/>
          <p:nvPr/>
        </p:nvSpPr>
        <p:spPr>
          <a:xfrm>
            <a:off x="8366760" y="2011680"/>
            <a:ext cx="3108960" cy="3611880"/>
          </a:xfrm>
          <a:prstGeom prst="roundRect">
            <a:avLst>
              <a:gd name="adj" fmla="val 4118"/>
            </a:avLst>
          </a:prstGeom>
          <a:solidFill>
            <a:schemeClr val="bg1"/>
          </a:solidFill>
          <a:ln/>
        </p:spPr>
      </p:sp>
      <p:pic>
        <p:nvPicPr>
          <p:cNvPr id="13" name="QR GitHub" descr="/home/claude/work/deck/img/qr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2240280"/>
            <a:ext cx="2560320" cy="2560320"/>
          </a:xfrm>
          <a:prstGeom prst="rect">
            <a:avLst/>
          </a:prstGeom>
        </p:spPr>
      </p:pic>
      <p:sp>
        <p:nvSpPr>
          <p:cNvPr id="14" name="ข้อความ 360"/>
          <p:cNvSpPr txBox="1"/>
          <p:nvPr/>
        </p:nvSpPr>
        <p:spPr>
          <a:xfrm>
            <a:off x="8366760" y="49194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th-TH" altLang="en-US" sz="18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สแกน · ใช้ · ร่วมพัฒนา</a:t>
            </a:r>
            <a:endParaRPr lang="th-TH" sz="1800" dirty="0"/>
          </a:p>
        </p:txBody>
      </p:sp>
      <p:sp>
        <p:nvSpPr>
          <p:cNvPr id="15" name="ข้อความ 361"/>
          <p:cNvSpPr txBox="1"/>
          <p:nvPr/>
        </p:nvSpPr>
        <p:spPr>
          <a:xfrm>
            <a:off x="548640" y="5806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2600" dirty="0">
                <a:solidFill>
                  <a:schemeClr val="accent4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ขอบคุณ · ถาม-ตอบ</a:t>
            </a:r>
            <a:endParaRPr lang="th-TH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4D5E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743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สำรองตอบคำถาม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0350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ถ้าถามว่า “ใช่ PDCA หรือไม่”: แต่ละขั้นทำอะไร มีหลักฐานอะไร</a:t>
            </a:r>
            <a:endParaRPr lang="en-US" sz="3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254496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อ้างอิง: Deming, W. E. (1986). Out of the Crisis. MIT Press   ·   Nonaka, I., &amp; Takeuchi, H. (1995). The Knowledge-Creating Company. Oxford University Press   ·   github.com/banpot/LightCheck-KM/docs/km-process.md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50799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j-lt" pitchFamily="34" charset="0"/>
                          <a:ea typeface="+mj-ea" pitchFamily="34" charset="-122"/>
                          <a:cs typeface="+mj-cs" pitchFamily="34" charset="-120"/>
                        </a:rPr>
                        <a:t>ขั้น</a:t>
                      </a:r>
                      <a:endParaRPr lang="en-US" sz="1400" dirty="0">
                        <a:latin typeface="+mj-lt" charset="0"/>
                        <a:ea typeface="+mj-ea" charset="0"/>
                        <a:cs typeface="+mj-c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63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j-lt" pitchFamily="34" charset="0"/>
                          <a:ea typeface="+mj-ea" pitchFamily="34" charset="-122"/>
                          <a:cs typeface="+mj-cs" pitchFamily="34" charset="-120"/>
                        </a:rPr>
                        <a:t>สิ่งที่ทำ</a:t>
                      </a:r>
                      <a:endParaRPr lang="en-US" sz="1400" dirty="0">
                        <a:latin typeface="+mj-lt" charset="0"/>
                        <a:ea typeface="+mj-ea" charset="0"/>
                        <a:cs typeface="+mj-c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63A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j-lt" pitchFamily="34" charset="0"/>
                          <a:ea typeface="+mj-ea" pitchFamily="34" charset="-122"/>
                          <a:cs typeface="+mj-cs" pitchFamily="34" charset="-120"/>
                        </a:rPr>
                        <a:t>หลักฐานใน repository</a:t>
                      </a:r>
                      <a:endParaRPr lang="en-US" sz="1400" dirty="0">
                        <a:latin typeface="+mj-lt" charset="0"/>
                        <a:ea typeface="+mj-ea" charset="0"/>
                        <a:cs typeface="+mj-c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63A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66A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P · วางแผน</a:t>
                      </a:r>
                      <a:endParaRPr lang="en-US" sz="13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กำหนดเกณฑ์ 300/150/400–500 lux และจุดวัดกริด 2×2 ม.</a:t>
                      </a:r>
                      <a:endParaRPr lang="en-US" sz="13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tools/survey/grid_planner.py · docs/measurement-SOP.md</a:t>
                      </a:r>
                      <a:endParaRPr lang="en-US" sz="13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66A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D · ตรวจวัด</a:t>
                      </a:r>
                      <a:endParaRPr lang="en-US" sz="13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คัดกรองทุกห้องด้วยต้นแบบ จดค่าเมื่อจอขึ้น *</a:t>
                      </a:r>
                      <a:endParaRPr lang="en-US" sz="13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แบบบันทึก (templates/) · firmware v1.1</a:t>
                      </a:r>
                      <a:endParaRPr lang="en-US" sz="13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66A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C · ตรวจสอบ</a:t>
                      </a:r>
                      <a:endParaRPr lang="en-US" sz="13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จุดในแถบ guard band ยืนยันด้วยเครื่องมาตรฐาน</a:t>
                      </a:r>
                      <a:endParaRPr lang="en-US" sz="13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calibration/ · guard band ใน SOP</a:t>
                      </a:r>
                      <a:endParaRPr lang="en-US" sz="13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66A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A · ปรับปรุง</a:t>
                      </a:r>
                      <a:endParaRPr lang="en-US" sz="13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เปลี่ยนหลอด/เพิ่มโคมตามสูตร แล้ววัดซ้ำ</a:t>
                      </a:r>
                      <a:endParaRPr lang="en-US" sz="13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docs/lighting-improvement.md · lighting_upgrade.py</a:t>
                      </a:r>
                      <a:endParaRPr lang="en-US" sz="13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0601A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KM · ถอดบทเรียน</a:t>
                      </a:r>
                      <a:endParaRPr lang="en-US" sz="13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บันทึกปัญหาหน้างานเป็นบทเรียน LL-01…LL-05</a:t>
                      </a:r>
                      <a:endParaRPr lang="en-US" sz="13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lessons-learned.md · CHANGELOG.md</a:t>
                      </a:r>
                      <a:endParaRPr lang="en-US" sz="13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0601A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KM · ใช้ซ้ำ</a:t>
                      </a:r>
                      <a:endParaRPr lang="en-US" sz="13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เผยแพร่โค้ด SOP STL ให้ส่วนงานอื่นเริ่มได้ทันที</a:t>
                      </a:r>
                      <a:endParaRPr lang="en-US" sz="13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public repo · docs/km-dissemination.md · open-problems.md</a:t>
                      </a:r>
                      <a:endParaRPr lang="en-US" sz="13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7" name="ข้อความ 362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SECI: ประสบการณ์หน้างาน (tacit) → บทเรียน โค้ด SOP (explicit) → ส่วนงานอื่นนำไปใช้และเรียนรู้ต่อ (internalization)</a:t>
            </a:r>
            <a:endParaRPr lang="th-TH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743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สำรองตอบคำถาม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0350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ถ้าถามว่า “ผลจำลองมาจากไหน เชื่อได้แค่ไหน”</a:t>
            </a:r>
            <a:endParaRPr lang="en-US" sz="3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254496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อ้างอิง: ams (2018). TSL2591 Light-to-Digital Converter datasheet DS000338   ·   HIOKI. LUX METER FT3424 specifications (±2% rdg., JIS C 1609-1 AA). ราคา: Thai Interelectric, 26,340 ฿ + VAT 7%   ·   github.com/banpot/LightCheck-KM/calibration/simulate_calibration.py   ·   github.com/banpot/LightCheck-KM/calibration/expected_bias_from_datasheet.py</a:t>
            </a:r>
            <a:endParaRPr lang="en-US" sz="1000" dirty="0"/>
          </a:p>
        </p:txBody>
      </p:sp>
      <p:sp>
        <p:nvSpPr>
          <p:cNvPr id="6" name="เลขลำดับ 363"/>
          <p:cNvSpPr/>
          <p:nvPr/>
        </p:nvSpPr>
        <p:spPr>
          <a:xfrm>
            <a:off x="548640" y="16642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ข้อความ 364"/>
          <p:cNvSpPr txBox="1"/>
          <p:nvPr/>
        </p:nvSpPr>
        <p:spPr>
          <a:xfrm>
            <a:off x="1188720" y="1572768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7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สุ่มความไวเซนเซอร์  </a:t>
            </a:r>
            <a:pPr indent="0" marL="0">
              <a:buNone/>
            </a:pPr>
            <a:r>
              <a:rPr lang="th-TH" altLang="en-US" sz="1450" dirty="0">
                <a:solidFill>
                  <a:schemeClr val="accent5"/>
                </a:solidFill>
              </a:rPr>
              <a:t>ตามช่วง responsivity ใน datasheet TSL2591 และ LED ขาว 300–330 lm/W</a:t>
            </a:r>
            <a:endParaRPr lang="th-TH" sz="1600" dirty="0"/>
          </a:p>
        </p:txBody>
      </p:sp>
      <p:sp>
        <p:nvSpPr>
          <p:cNvPr id="8" name="เลขลำดับ 365"/>
          <p:cNvSpPr/>
          <p:nvPr/>
        </p:nvSpPr>
        <p:spPr>
          <a:xfrm>
            <a:off x="548640" y="253288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ข้อความ 366"/>
          <p:cNvSpPr txBox="1"/>
          <p:nvPr/>
        </p:nvSpPr>
        <p:spPr>
          <a:xfrm>
            <a:off x="1188720" y="2441448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7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สุ่มเครื่องอ้างอิง  </a:t>
            </a:r>
            <a:pPr indent="0" marL="0">
              <a:buNone/>
            </a:pPr>
            <a:r>
              <a:rPr lang="th-TH" altLang="en-US" sz="1450" dirty="0">
                <a:solidFill>
                  <a:schemeClr val="accent5"/>
                </a:solidFill>
              </a:rPr>
              <a:t>ความคลาดเคลื่อนตามสเปก HIOKI FT3424 ±2% rdg.</a:t>
            </a:r>
            <a:endParaRPr lang="th-TH" sz="1600" dirty="0"/>
          </a:p>
        </p:txBody>
      </p:sp>
      <p:sp>
        <p:nvSpPr>
          <p:cNvPr id="10" name="เลขลำดับ 367"/>
          <p:cNvSpPr/>
          <p:nvPr/>
        </p:nvSpPr>
        <p:spPr>
          <a:xfrm>
            <a:off x="548640" y="34015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ข้อความ 368"/>
          <p:cNvSpPr txBox="1"/>
          <p:nvPr/>
        </p:nvSpPr>
        <p:spPr>
          <a:xfrm>
            <a:off x="1188720" y="3310128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7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fit บนชุดหนึ่ง  </a:t>
            </a:r>
            <a:pPr indent="0" marL="0">
              <a:buNone/>
            </a:pPr>
            <a:r>
              <a:rPr lang="th-TH" altLang="en-US" sz="1450" dirty="0">
                <a:solidFill>
                  <a:schemeClr val="accent5"/>
                </a:solidFill>
              </a:rPr>
              <a:t>least squares หา a, b จากจุดวัดคู่</a:t>
            </a:r>
            <a:endParaRPr lang="th-TH" sz="1600" dirty="0"/>
          </a:p>
        </p:txBody>
      </p:sp>
      <p:sp>
        <p:nvSpPr>
          <p:cNvPr id="12" name="เลขลำดับ 369"/>
          <p:cNvSpPr/>
          <p:nvPr/>
        </p:nvSpPr>
        <p:spPr>
          <a:xfrm>
            <a:off x="548640" y="427024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ข้อความ 370"/>
          <p:cNvSpPr txBox="1"/>
          <p:nvPr/>
        </p:nvSpPr>
        <p:spPr>
          <a:xfrm>
            <a:off x="1188720" y="4178808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7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ทดสอบบนอีกชุด  </a:t>
            </a:r>
            <a:pPr indent="0" marL="0">
              <a:buNone/>
            </a:pPr>
            <a:r>
              <a:rPr lang="th-TH" altLang="en-US" sz="1450" dirty="0">
                <a:solidFill>
                  <a:schemeClr val="accent5"/>
                </a:solidFill>
              </a:rPr>
              <a:t>MAPE, U95, การตัดสินผิดที่เกณฑ์ 150/300/400</a:t>
            </a:r>
            <a:endParaRPr lang="th-TH" sz="1600" dirty="0"/>
          </a:p>
        </p:txBody>
      </p:sp>
      <p:sp>
        <p:nvSpPr>
          <p:cNvPr id="14" name="เลขลำดับ 371"/>
          <p:cNvSpPr/>
          <p:nvPr/>
        </p:nvSpPr>
        <p:spPr>
          <a:xfrm>
            <a:off x="548640" y="513892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5</a:t>
            </a:r>
            <a:endParaRPr lang="en-US" sz="1500" dirty="0"/>
          </a:p>
        </p:txBody>
      </p:sp>
      <p:sp>
        <p:nvSpPr>
          <p:cNvPr id="15" name="ข้อความ 372"/>
          <p:cNvSpPr txBox="1"/>
          <p:nvPr/>
        </p:nvSpPr>
        <p:spPr>
          <a:xfrm>
            <a:off x="1188720" y="5047488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7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ทำซ้ำ 5,000 รอบ  </a:t>
            </a:r>
            <a:pPr indent="0" marL="0">
              <a:buNone/>
            </a:pPr>
            <a:r>
              <a:rPr lang="th-TH" altLang="en-US" sz="1450" dirty="0">
                <a:solidFill>
                  <a:schemeClr val="accent5"/>
                </a:solidFill>
              </a:rPr>
              <a:t>รายงานค่ากลางและ P95 ของทุกตัวชี้วัด</a:t>
            </a:r>
            <a:endParaRPr lang="th-TH" sz="1600" dirty="0"/>
          </a:p>
        </p:txBody>
      </p:sp>
      <p:sp>
        <p:nvSpPr>
          <p:cNvPr id="16" name="ข้อควรรู้ 373"/>
          <p:cNvSpPr/>
          <p:nvPr/>
        </p:nvSpPr>
        <p:spPr>
          <a:xfrm>
            <a:off x="7406640" y="1572768"/>
            <a:ext cx="4233672" cy="4434840"/>
          </a:xfrm>
          <a:prstGeom prst="roundRect">
            <a:avLst>
              <a:gd name="adj" fmla="val 2592"/>
            </a:avLst>
          </a:prstGeom>
          <a:solidFill>
            <a:schemeClr val="accent4">
              <a:alpha val="20000"/>
            </a:schemeClr>
          </a:solidFill>
          <a:ln/>
        </p:spPr>
      </p:sp>
      <p:sp>
        <p:nvSpPr>
          <p:cNvPr id="17" name="ข้อความ 374"/>
          <p:cNvSpPr txBox="1"/>
          <p:nvPr/>
        </p:nvSpPr>
        <p:spPr>
          <a:xfrm>
            <a:off x="7635240" y="1783080"/>
            <a:ext cx="3794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th-TH" altLang="en-US" sz="19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ใช้ตีความอย่างไร</a:t>
            </a:r>
            <a:endParaRPr lang="th-TH" sz="1600" dirty="0"/>
          </a:p>
          <a:p>
            <a:pPr indent="0" marL="0">
              <a:spcAft>
                <a:spcPts val="1000"/>
              </a:spcAft>
              <a:buNone/>
            </a:pPr>
            <a:r>
              <a:rPr lang="th-TH" altLang="en-US" sz="1500" dirty="0">
                <a:solidFill>
                  <a:schemeClr val="tx1"/>
                </a:solidFill>
              </a:rPr>
              <a:t>บอกว่า “ถ้าเซนเซอร์เป็นไปตาม datasheet” จะได้ความแม่นยำราวนี้ ไม่ใช่ค่ารับรอง</a:t>
            </a:r>
            <a:endParaRPr lang="th-TH" sz="1600" dirty="0"/>
          </a:p>
          <a:p>
            <a:pPr indent="0" marL="0">
              <a:spcAft>
                <a:spcPts val="1000"/>
              </a:spcAft>
              <a:buNone/>
            </a:pPr>
            <a:r>
              <a:rPr lang="th-TH" altLang="en-US" sz="1500" dirty="0">
                <a:solidFill>
                  <a:schemeClr val="tx1"/>
                </a:solidFill>
              </a:rPr>
              <a:t>ทุกตัวเลขติดป้าย “ผลจำลอง” และสร้างซ้ำได้ด้วย make all</a:t>
            </a:r>
            <a:endParaRPr lang="th-TH" sz="1600" dirty="0"/>
          </a:p>
          <a:p>
            <a:pPr indent="0" marL="0">
              <a:spcAft>
                <a:spcPts val="1000"/>
              </a:spcAft>
              <a:buNone/>
            </a:pPr>
            <a:r>
              <a:rPr lang="th-TH" altLang="en-US" sz="1500" b="1" dirty="0">
                <a:solidFill>
                  <a:schemeClr val="tx1"/>
                </a:solidFill>
              </a:rPr>
              <a:t>ขั้นต่อไป: วัดคู่จริงกับเครื่องมาตรฐาน แล้วเผยแพร่สมการและ U95 จริง</a:t>
            </a:r>
            <a:endParaRPr lang="th-TH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743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สำรองตอบคำถาม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0350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ถ้าถามว่า “ต้นทุนคิดอย่างไร”</a:t>
            </a:r>
            <a:endParaRPr lang="en-US" sz="3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254496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อ้างอิง: github.com/banpot/LightCheck-KM/hardware/bom.md   ·   github.com/banpot/LightCheck-KM/hardware/enclosure/src/estimate_filament.py   ·   HIOKI. LUX METER FT3424 specifications (±2% rdg., JIS C 1609-1 AA). ราคา: Thai Interelectric, 26,340 ฿ + VAT 7%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737360"/>
                <a:gridCol w="60624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j-lt" pitchFamily="34" charset="0"/>
                          <a:ea typeface="+mj-ea" pitchFamily="34" charset="-122"/>
                          <a:cs typeface="+mj-cs" pitchFamily="34" charset="-120"/>
                        </a:rPr>
                        <a:t>รายการ</a:t>
                      </a:r>
                      <a:endParaRPr lang="en-US" sz="1400" dirty="0">
                        <a:latin typeface="+mj-lt" charset="0"/>
                        <a:ea typeface="+mj-ea" charset="0"/>
                        <a:cs typeface="+mj-c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6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j-lt" pitchFamily="34" charset="0"/>
                          <a:ea typeface="+mj-ea" pitchFamily="34" charset="-122"/>
                          <a:cs typeface="+mj-cs" pitchFamily="34" charset="-120"/>
                        </a:rPr>
                        <a:t>ราคา</a:t>
                      </a:r>
                      <a:endParaRPr lang="en-US" sz="1400" dirty="0">
                        <a:latin typeface="+mj-lt" charset="0"/>
                        <a:ea typeface="+mj-ea" charset="0"/>
                        <a:cs typeface="+mj-c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+mj-lt" pitchFamily="34" charset="0"/>
                          <a:ea typeface="+mj-ea" pitchFamily="34" charset="-122"/>
                          <a:cs typeface="+mj-cs" pitchFamily="34" charset="-120"/>
                        </a:rPr>
                        <a:t>หมายเหตุ</a:t>
                      </a:r>
                      <a:endParaRPr lang="en-US" sz="1400" dirty="0">
                        <a:latin typeface="+mj-lt" charset="0"/>
                        <a:ea typeface="+mj-ea" charset="0"/>
                        <a:cs typeface="+mj-c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66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Wemos D1 mini (ESP8266)</a:t>
                      </a:r>
                      <a:endParaRPr lang="en-US" sz="14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89 ฿</a:t>
                      </a:r>
                      <a:endParaRPr lang="en-US" sz="14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ไมโครคอนโทรลเลอร์ + Wi-Fi</a:t>
                      </a:r>
                      <a:endParaRPr lang="en-US" sz="14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TSL2591 light sensor</a:t>
                      </a:r>
                      <a:endParaRPr lang="en-US" sz="14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200 ฿</a:t>
                      </a:r>
                      <a:endParaRPr lang="en-US" sz="14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หัวรับแสง I²C 0x29</a:t>
                      </a:r>
                      <a:endParaRPr lang="en-US" sz="14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LCD1602 + I²C backpack</a:t>
                      </a:r>
                      <a:endParaRPr lang="en-US" sz="14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70 ฿</a:t>
                      </a:r>
                      <a:endParaRPr lang="en-US" sz="14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จอแสดงผล 16×2</a:t>
                      </a:r>
                      <a:endParaRPr lang="en-US" sz="14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กล่อง PLA+ ≈ 53.6 g</a:t>
                      </a:r>
                      <a:endParaRPr lang="en-US" sz="14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≈ 26 ฿</a:t>
                      </a:r>
                      <a:endParaRPr lang="en-US" sz="14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PLA+ 480 ฿/กก. × 0.0536 กก. (คำนวณจาก STL ทีละชั้น)</a:t>
                      </a:r>
                      <a:endParaRPr lang="en-US" sz="14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รวมต่อเครื่อง</a:t>
                      </a:r>
                      <a:endParaRPr lang="en-US" sz="14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≈ 385 ฿</a:t>
                      </a:r>
                      <a:endParaRPr lang="en-US" sz="14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ไม่รวมสายไฟ สกรู สาย USB-C ที่มีอยู่แล้ว</a:t>
                      </a:r>
                      <a:endParaRPr lang="en-US" sz="14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0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HIOKI FT3424 (อ้างอิง)</a:t>
                      </a:r>
                      <a:endParaRPr lang="en-US" sz="14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28,183.80 ฿</a:t>
                      </a:r>
                      <a:endParaRPr lang="en-US" sz="14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4202B"/>
                          </a:solidFill>
                          <a:latin typeface="+mn-lt" pitchFamily="34" charset="0"/>
                          <a:ea typeface="+mn-ea" pitchFamily="34" charset="-122"/>
                          <a:cs typeface="+mn-cs" pitchFamily="34" charset="-120"/>
                        </a:rPr>
                        <a:t>26,340 ฿ + VAT 7% · ถูกที่สุดที่สำรวจได้</a:t>
                      </a:r>
                      <a:endParaRPr lang="en-US" sz="1400" dirty="0">
                        <a:latin typeface="+mn-lt" charset="0"/>
                        <a:ea typeface="+mn-ea" charset="0"/>
                        <a:cs typeface="+mn-cs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7" name="ข้อความ 375"/>
          <p:cNvSpPr txBox="1"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ต้นแบบ ≈ 1.4% ของราคาเครื่องมาตรฐาน (ถูกกว่าราว 73 เท่า) แต่ไม่ได้เทียบเท่า: ต่างกันด้านใบสอบเทียบ spectral/cosine response และการรับรอง</a:t>
            </a:r>
            <a:endParaRPr lang="th-TH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7432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สำรองตอบคำถาม</a:t>
            </a:r>
            <a:endParaRPr lang="en-US" sz="13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603504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ถ้าถามว่า “ทำไม LED กระพริบ 100 Hz ไม่ใช่ 50 Hz ตามไฟบ้าน”</a:t>
            </a:r>
            <a:endParaRPr lang="en-US" sz="3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6254496"/>
            <a:ext cx="10378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อ้างอิง: U.S. DOE / PNNL (2016). Characterizing Photometric Flicker, PNNL-25135   ·   github.com/banpot/LightCheck-KM/lessons-learned.md (LL-05)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46304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คำอธิบาย 376"/>
          <p:cNvSpPr/>
          <p:nvPr/>
        </p:nvSpPr>
        <p:spPr>
          <a:xfrm>
            <a:off x="7726680" y="1600200"/>
            <a:ext cx="3913632" cy="1115568"/>
          </a:xfrm>
          <a:prstGeom prst="roundRect">
            <a:avLst>
              <a:gd name="adj" fmla="val 9836"/>
            </a:avLst>
          </a:prstGeom>
          <a:solidFill>
            <a:schemeClr val="accent4">
              <a:alpha val="20000"/>
            </a:schemeClr>
          </a:solidFill>
          <a:ln/>
        </p:spPr>
      </p:sp>
      <p:sp>
        <p:nvSpPr>
          <p:cNvPr id="8" name="ข้อความ 377"/>
          <p:cNvSpPr txBox="1"/>
          <p:nvPr/>
        </p:nvSpPr>
        <p:spPr>
          <a:xfrm>
            <a:off x="7909560" y="1673352"/>
            <a:ext cx="3566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7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1 รอบไฟ = 20 ms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400" dirty="0">
                <a:solidFill>
                  <a:schemeClr val="tx1"/>
                </a:solidFill>
              </a:rPr>
              <a:t>แรงดันขึ้นบวก 1 ครั้ง ลบ 1 ครั้ง</a:t>
            </a:r>
            <a:endParaRPr lang="th-TH" sz="1600" dirty="0"/>
          </a:p>
        </p:txBody>
      </p:sp>
      <p:sp>
        <p:nvSpPr>
          <p:cNvPr id="9" name="คำอธิบาย 378"/>
          <p:cNvSpPr/>
          <p:nvPr/>
        </p:nvSpPr>
        <p:spPr>
          <a:xfrm>
            <a:off x="7726680" y="2880360"/>
            <a:ext cx="3913632" cy="1115568"/>
          </a:xfrm>
          <a:prstGeom prst="roundRect">
            <a:avLst>
              <a:gd name="adj" fmla="val 9836"/>
            </a:avLst>
          </a:prstGeom>
          <a:solidFill>
            <a:schemeClr val="accent4">
              <a:alpha val="20000"/>
            </a:schemeClr>
          </a:solidFill>
          <a:ln/>
        </p:spPr>
      </p:sp>
      <p:sp>
        <p:nvSpPr>
          <p:cNvPr id="10" name="ข้อความ 379"/>
          <p:cNvSpPr txBox="1"/>
          <p:nvPr/>
        </p:nvSpPr>
        <p:spPr>
          <a:xfrm>
            <a:off x="7909560" y="2953512"/>
            <a:ext cx="3566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7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ความสว่างไม่สนทิศ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400" dirty="0">
                <a:solidFill>
                  <a:schemeClr val="tx1"/>
                </a:solidFill>
              </a:rPr>
              <a:t>สว่างสุด 2 ครั้งต่อรอบ = 100 ครั้ง/วินาที</a:t>
            </a:r>
            <a:endParaRPr lang="th-TH" sz="1600" dirty="0"/>
          </a:p>
        </p:txBody>
      </p:sp>
      <p:sp>
        <p:nvSpPr>
          <p:cNvPr id="11" name="คำอธิบาย 380"/>
          <p:cNvSpPr/>
          <p:nvPr/>
        </p:nvSpPr>
        <p:spPr>
          <a:xfrm>
            <a:off x="7726680" y="4160520"/>
            <a:ext cx="3913632" cy="1115568"/>
          </a:xfrm>
          <a:prstGeom prst="roundRect">
            <a:avLst>
              <a:gd name="adj" fmla="val 9836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2" name="ข้อความ 381"/>
          <p:cNvSpPr txBox="1"/>
          <p:nvPr/>
        </p:nvSpPr>
        <p:spPr>
          <a:xfrm>
            <a:off x="7909560" y="4233672"/>
            <a:ext cx="3566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th-TH" altLang="en-US" sz="1700" dirty="0">
                <a:solidFill>
                  <a:schemeClr val="tx1"/>
                </a:solidFill>
                <a:latin typeface="+mj-lt" pitchFamily="34" charset="0"/>
                <a:ea typeface="+mj-ea" pitchFamily="34" charset="-122"/>
                <a:cs typeface="+mj-cs" pitchFamily="34" charset="-120"/>
              </a:rPr>
              <a:t>300 ms = 30 รอบพอดี</a:t>
            </a:r>
            <a:endParaRPr lang="th-TH" sz="1600" dirty="0"/>
          </a:p>
          <a:p>
            <a:pPr indent="0" marL="0">
              <a:buNone/>
            </a:pPr>
            <a:r>
              <a:rPr lang="th-TH" altLang="en-US" sz="1400" dirty="0">
                <a:solidFill>
                  <a:schemeClr val="tx1"/>
                </a:solidFill>
              </a:rPr>
              <a:t>ทุกค่าที่อ่านรวมรอบวูบครบทุกครั้ง</a:t>
            </a:r>
            <a:endParaRPr lang="th-TH" sz="1600" dirty="0"/>
          </a:p>
        </p:txBody>
      </p:sp>
      <p:sp>
        <p:nvSpPr>
          <p:cNvPr id="13" name="ข้อความ 382"/>
          <p:cNvSpPr txBox="1"/>
          <p:nvPr/>
        </p:nvSpPr>
        <p:spPr>
          <a:xfrm>
            <a:off x="548640" y="553212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th-TH" altLang="en-US" sz="1400" dirty="0">
                <a:solidFill>
                  <a:schemeClr val="accent5"/>
                </a:solidFill>
              </a:rPr>
              <a:t>driver แบบครึ่งคลื่นราคาถูกอาจกระพริบ 50 Hz · ไม่ว่าแบบใด integration 300 ms ก็ครบรอบพอดี</a:t>
            </a:r>
            <a:endParaRPr lang="th-TH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86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ghtCheck KM">
  <a:themeElements>
    <a:clrScheme name="LightCheck KM">
      <a:dk1>
        <a:srgbClr val="14202B"/>
      </a:dk1>
      <a:lt1>
        <a:srgbClr val="FFFFFF"/>
      </a:lt1>
      <a:dk2>
        <a:srgbClr val="0F2A3D"/>
      </a:dk2>
      <a:lt2>
        <a:srgbClr val="EEF4F8"/>
      </a:lt2>
      <a:accent1>
        <a:srgbClr val="00766A"/>
      </a:accent1>
      <a:accent2>
        <a:srgbClr val="2163A1"/>
      </a:accent2>
      <a:accent3>
        <a:srgbClr val="E0601A"/>
      </a:accent3>
      <a:accent4>
        <a:srgbClr val="F2B233"/>
      </a:accent4>
      <a:accent5>
        <a:srgbClr val="4A5866"/>
      </a:accent5>
      <a:accent6>
        <a:srgbClr val="B4D5E5"/>
      </a:accent6>
      <a:hlink>
        <a:srgbClr val="2163A1"/>
      </a:hlink>
      <a:folHlink>
        <a:srgbClr val="2163A1"/>
      </a:folHlink>
    </a:clrScheme>
    <a:fontScheme name="LightCheck KM">
      <a:majorFont>
        <a:latin typeface="Kanit SemiBold"/>
        <a:ea typeface=""/>
        <a:cs typeface="Kanit SemiBold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Kanit SemiBold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Thai"/>
        <a:ea typeface=""/>
        <a:cs typeface="IBM Plex Sans Tha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IBM Plex Sans Thai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สำนักดิจิทัลเทคโนโลยี มหาวิทยาลัยศิลปากร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LightCheck KM — Oral presentation, Silpakorn KM Day 2569</dc:title>
  <dc:subject>LightCheck KM: จากเครื่องวัดแสงต้นทุนต่ำ สู่ระบบความรู้</dc:subject>
  <dc:creator>ว่าที่ ร.ต. ดร. บรรพต ดลวิทยากุล</dc:creator>
  <cp:lastModifiedBy>ว่าที่ ร.ต. ดร. บรรพต ดลวิทยากุล</cp:lastModifiedBy>
  <cp:revision>1</cp:revision>
  <dcterms:created xsi:type="dcterms:W3CDTF">2026-10-23T08:45:29Z</dcterms:created>
  <dcterms:modified xsi:type="dcterms:W3CDTF">2026-10-23T08:45:29Z</dcterms:modified>
</cp:coreProperties>
</file>