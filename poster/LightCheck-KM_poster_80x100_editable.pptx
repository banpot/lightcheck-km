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8800000" cy="36000000"/>
  <p:notesSz cx="36000000" cy="288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ไฟล์ต้นฉบับโปสเตอร์ LightCheck KM (Silpakorn KM Day 2569) ขนาด 80 × 100 ซม.
ก่อนแก้ไข: ติดตั้งฟอนต์ Kanit และ IBM Plex Sans Thai ทุกไฟล์ในโฟลเดอร์ fonts (คลิกขวา &gt; Install for all users) แล้วเปิดไฟล์นี้ใหม่
ถ้าไม่ติดตั้ง PowerPoint จะใช้ฟอนต์อื่นแทนและข้อความอาจล้นกรอบ
ใส่/เปลี่ยนรูป: คลิกขวาที่รูป &gt; Change Picture &gt; From a File (เช่น "ภาพที่ 5 ..." กรอบประ) แล้วใช้ Crop &gt; Fill ถ้าสัดส่วนไม่ตรง
แก้ข้อความ: คลิกที่ข้อความแล้วพิมพ์ทับได้เลย ทุกกล่องเป็น text box จริง (ดูชื่อวัตถุทั้งหมดที่ Home &gt; Arrange &gt; Selection Pane)
ส่วนที่เป็นรูปภาพ: ผังวงจร กราฟ กล่องพิมพ์ 3 มิติ โลโก้ QR และสมการ (แก้สมการที่ poster/build_poster.py ใน repository)
ส่งออก PDF: File &gt; Export &gt; Create PDF/XPS &gt; Options: เลือกเฉพาะสไลด์นี้, Optimize for: Standard
ถ้าต้องส่งเป็น CMYK: python poster/pdf_to_cmyk.py โปสเตอร์.pdf โปสเตอร์_CMYK.pdf 200 (ดู poster/README.md)
ส่งให้เพื่อนแก้ต่อ: File &gt; Options &gt; Save &gt; Embed fonts in the file (ฟอนต์ทั้งสองเป็น OFL ฝังได้)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1" Type="http://schemas.openxmlformats.org/officeDocument/2006/relationships/hyperlink" Target="https://github.com/banpot/LightCheck-KM" TargetMode="External"/><Relationship Id="rId23" Type="http://schemas.openxmlformats.org/officeDocument/2006/relationships/hyperlink" Target="https://github.com/banpot/LightCheck-KM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jp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2" Type="http://schemas.openxmlformats.org/officeDocument/2006/relationships/image" Target="../media/image-1-21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ภาพ su_seal.png" descr="ภาพ su_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546" y="672907"/>
            <a:ext cx="3796772" cy="3796772"/>
          </a:xfrm>
          <a:prstGeom prst="rect">
            <a:avLst/>
          </a:prstGeom>
        </p:spPr>
      </p:pic>
      <p:sp>
        <p:nvSpPr>
          <p:cNvPr id="4" name="ข้อความ: LightCheck KM"/>
          <p:cNvSpPr txBox="1"/>
          <p:nvPr/>
        </p:nvSpPr>
        <p:spPr>
          <a:xfrm>
            <a:off x="5333329" y="76170"/>
            <a:ext cx="18133375" cy="1980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0400" spc="-50" kern="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LightCheck </a:t>
            </a:r>
            <a:pPr algn="ctr" indent="0" marL="0">
              <a:buNone/>
            </a:pPr>
            <a:r>
              <a:rPr lang="en-US" altLang="en-US" sz="10400" spc="-50" kern="0" dirty="0">
                <a:solidFill>
                  <a:srgbClr val="00766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KM</a:t>
            </a:r>
            <a:endParaRPr lang="en-US" sz="10400" dirty="0"/>
          </a:p>
        </p:txBody>
      </p:sp>
      <p:sp>
        <p:nvSpPr>
          <p:cNvPr id="5" name="ข้อความ: จากเครื่องวัดแสงต้นทุนต่ำ สู่ระบบค…"/>
          <p:cNvSpPr txBox="1"/>
          <p:nvPr/>
        </p:nvSpPr>
        <p:spPr>
          <a:xfrm>
            <a:off x="5333329" y="1899666"/>
            <a:ext cx="18133375" cy="1456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734"/>
              </a:lnSpc>
              <a:buNone/>
            </a:pPr>
            <a:r>
              <a:rPr lang="th-TH" altLang="en-US" sz="4700" dirty="0">
                <a:solidFill>
                  <a:srgbClr val="14202B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จากเครื่องวัดแสงต้นทุนต่ำ สู่ระบบความรู้</a:t>
            </a:r>
            <a:endParaRPr lang="en-US" sz="4700" dirty="0"/>
          </a:p>
          <a:p>
            <a:pPr algn="ctr" indent="0" marL="0">
              <a:lnSpc>
                <a:spcPts val="5734"/>
              </a:lnSpc>
              <a:buNone/>
            </a:pPr>
            <a:r>
              <a:rPr lang="th-TH" altLang="en-US" sz="4700" dirty="0">
                <a:solidFill>
                  <a:srgbClr val="14202B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เพื่อยกระดับสภาพแวดล้อมสำนักงานสีเขียว</a:t>
            </a:r>
            <a:endParaRPr lang="en-US" sz="4700" dirty="0"/>
          </a:p>
        </p:txBody>
      </p:sp>
      <p:sp>
        <p:nvSpPr>
          <p:cNvPr id="6" name="ข้อความ: ว่าที่ ร.ต. ดร. บรรพต ดลวิทยากุล"/>
          <p:cNvSpPr txBox="1"/>
          <p:nvPr/>
        </p:nvSpPr>
        <p:spPr>
          <a:xfrm>
            <a:off x="5333329" y="3385566"/>
            <a:ext cx="18133375" cy="761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3600" dirty="0">
                <a:solidFill>
                  <a:srgbClr val="2B2B2B"/>
                </a:solidFill>
                <a:latin typeface="IBM Plex Sans Thai SemiBold" pitchFamily="34" charset="0"/>
                <a:ea typeface="IBM Plex Sans Thai SemiBold" pitchFamily="34" charset="-122"/>
                <a:cs typeface="IBM Plex Sans Thai SemiBold" pitchFamily="34" charset="-120"/>
              </a:rPr>
              <a:t>ว่าที่ ร.ต. ดร. บรรพต ดลวิทยากุล</a:t>
            </a:r>
            <a:endParaRPr lang="en-US" sz="3600" dirty="0"/>
          </a:p>
        </p:txBody>
      </p:sp>
      <p:sp>
        <p:nvSpPr>
          <p:cNvPr id="7" name="ข้อความ: ฝ่ายบริหารและพัฒนาดิจิทัลเทคโนโลยี…"/>
          <p:cNvSpPr txBox="1"/>
          <p:nvPr/>
        </p:nvSpPr>
        <p:spPr>
          <a:xfrm>
            <a:off x="5333329" y="4044483"/>
            <a:ext cx="18133375" cy="590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2800" dirty="0">
                <a:solidFill>
                  <a:srgbClr val="3D3D3D"/>
                </a:solidFill>
                <a:latin typeface="IBM Plex Sans Thai Medium" pitchFamily="34" charset="0"/>
                <a:ea typeface="IBM Plex Sans Thai Medium" pitchFamily="34" charset="-122"/>
                <a:cs typeface="IBM Plex Sans Thai Medium" pitchFamily="34" charset="-120"/>
              </a:rPr>
              <a:t>ฝ่ายบริหารและพัฒนาดิจิทัลเทคโนโลยี สำนักดิจิทัลเทคโนโลยี มหาวิทยาลัยศิลปากร</a:t>
            </a:r>
            <a:endParaRPr lang="en-US" sz="2800" dirty="0"/>
          </a:p>
        </p:txBody>
      </p:sp>
      <p:pic>
        <p:nvPicPr>
          <p:cNvPr id="8" name="ภาพ bdt_logo_stacked.svg" descr="ภาพ bdt_logo_stacked.sv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1671" y="1142817"/>
            <a:ext cx="2996763" cy="2783525"/>
          </a:xfrm>
          <a:prstGeom prst="rect">
            <a:avLst/>
          </a:prstGeom>
        </p:spPr>
      </p:pic>
      <p:sp>
        <p:nvSpPr>
          <p:cNvPr id="9" name="ข้อความ: KM · ด้านการบริหารจัดการและสร้างนว…"/>
          <p:cNvSpPr/>
          <p:nvPr/>
        </p:nvSpPr>
        <p:spPr>
          <a:xfrm>
            <a:off x="23644372" y="4111142"/>
            <a:ext cx="4599706" cy="407457"/>
          </a:xfrm>
          <a:prstGeom prst="roundRect">
            <a:avLst>
              <a:gd name="adj" fmla="val 50000"/>
            </a:avLst>
          </a:prstGeom>
          <a:solidFill>
            <a:srgbClr val="2163A1"/>
          </a:solidFill>
          <a:ln/>
        </p:spPr>
        <p:txBody>
          <a:bodyPr wrap="none" lIns="203200" tIns="63500" rIns="203200" bIns="63500" rtlCol="0" anchor="ctr"/>
          <a:lstStyle/>
          <a:p>
            <a:pPr algn="ctr" indent="0" marL="0">
              <a:buNone/>
            </a:pPr>
            <a:r>
              <a:rPr lang="th-TH" altLang="en-US" sz="1700" dirty="0">
                <a:solidFill>
                  <a:srgbClr val="FFFFFF"/>
                </a:solidFill>
                <a:latin typeface="IBM Plex Sans Thai SemiBold" pitchFamily="34" charset="0"/>
                <a:ea typeface="IBM Plex Sans Thai SemiBold" pitchFamily="34" charset="-122"/>
                <a:cs typeface="IBM Plex Sans Thai SemiBold" pitchFamily="34" charset="-120"/>
              </a:rPr>
              <a:t>KM · ด้านการบริหารจัดการและสร้างนวัตกรรม</a:t>
            </a:r>
            <a:endParaRPr lang="en-US" sz="1700" dirty="0"/>
          </a:p>
        </p:txBody>
      </p:sp>
      <p:sp>
        <p:nvSpPr>
          <p:cNvPr id="10" name="แถบสีหัวโปสเตอร์"/>
          <p:cNvSpPr/>
          <p:nvPr/>
        </p:nvSpPr>
        <p:spPr>
          <a:xfrm>
            <a:off x="0" y="4812670"/>
            <a:ext cx="28800034" cy="393558"/>
          </a:xfrm>
          <a:prstGeom prst="rect">
            <a:avLst/>
          </a:prstGeom>
          <a:solidFill>
            <a:srgbClr val="2163A1"/>
          </a:solidFill>
          <a:ln/>
        </p:spPr>
      </p:sp>
      <p:sp>
        <p:nvSpPr>
          <p:cNvPr id="11" name="เส้นแบ่งคอลัมน์"/>
          <p:cNvSpPr/>
          <p:nvPr/>
        </p:nvSpPr>
        <p:spPr>
          <a:xfrm>
            <a:off x="9587210" y="5777636"/>
            <a:ext cx="38130" cy="27428617"/>
          </a:xfrm>
          <a:prstGeom prst="rect">
            <a:avLst/>
          </a:prstGeom>
          <a:solidFill>
            <a:srgbClr val="B4D5E5"/>
          </a:solidFill>
          <a:ln/>
        </p:spPr>
      </p:sp>
      <p:sp>
        <p:nvSpPr>
          <p:cNvPr id="12" name="เส้นแบ่งคอลัมน์ #2"/>
          <p:cNvSpPr/>
          <p:nvPr/>
        </p:nvSpPr>
        <p:spPr>
          <a:xfrm>
            <a:off x="19187221" y="5777636"/>
            <a:ext cx="38130" cy="27428617"/>
          </a:xfrm>
          <a:prstGeom prst="rect">
            <a:avLst/>
          </a:prstGeom>
          <a:solidFill>
            <a:srgbClr val="B4D5E5"/>
          </a:solidFill>
          <a:ln/>
        </p:spPr>
      </p:sp>
      <p:sp>
        <p:nvSpPr>
          <p:cNvPr id="13" name="ข้อความ: INTRODUCTION"/>
          <p:cNvSpPr txBox="1"/>
          <p:nvPr/>
        </p:nvSpPr>
        <p:spPr>
          <a:xfrm>
            <a:off x="800009" y="5380970"/>
            <a:ext cx="7999994" cy="1057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5600" spc="100" kern="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INTRODUCTION</a:t>
            </a:r>
            <a:endParaRPr lang="en-US" sz="5600" dirty="0"/>
          </a:p>
        </p:txBody>
      </p:sp>
      <p:sp>
        <p:nvSpPr>
          <p:cNvPr id="14" name="ข้อความ: ที่มาและความสำคัญ"/>
          <p:cNvSpPr txBox="1"/>
          <p:nvPr/>
        </p:nvSpPr>
        <p:spPr>
          <a:xfrm>
            <a:off x="800009" y="6254039"/>
            <a:ext cx="7999994" cy="476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2300" dirty="0">
                <a:solidFill>
                  <a:srgbClr val="4A5866"/>
                </a:solidFill>
                <a:latin typeface="IBM Plex Sans Thai Medium" pitchFamily="34" charset="0"/>
                <a:ea typeface="IBM Plex Sans Thai Medium" pitchFamily="34" charset="-122"/>
                <a:cs typeface="IBM Plex Sans Thai Medium" pitchFamily="34" charset="-120"/>
              </a:rPr>
              <a:t>ที่มาและความสำคัญ</a:t>
            </a:r>
            <a:endParaRPr lang="en-US" sz="2300" dirty="0"/>
          </a:p>
        </p:txBody>
      </p:sp>
      <p:sp>
        <p:nvSpPr>
          <p:cNvPr id="15" name="เส้นใต้หัวข้อ"/>
          <p:cNvSpPr/>
          <p:nvPr/>
        </p:nvSpPr>
        <p:spPr>
          <a:xfrm>
            <a:off x="800009" y="6793718"/>
            <a:ext cx="7999994" cy="88880"/>
          </a:xfrm>
          <a:prstGeom prst="rect">
            <a:avLst/>
          </a:prstGeom>
          <a:solidFill>
            <a:srgbClr val="2163A1"/>
          </a:solidFill>
          <a:ln/>
        </p:spPr>
      </p:sp>
      <p:sp>
        <p:nvSpPr>
          <p:cNvPr id="16" name="ข้อความ: “รู้สึกว่าพอ” อาจไม่พอ สำหรับสายตา…"/>
          <p:cNvSpPr txBox="1"/>
          <p:nvPr/>
        </p:nvSpPr>
        <p:spPr>
          <a:xfrm>
            <a:off x="800009" y="7212604"/>
            <a:ext cx="7999994" cy="121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th-TH" altLang="en-US" sz="4000" dirty="0">
                <a:solidFill>
                  <a:srgbClr val="00766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“รู้สึกว่าพอ” อาจไม่พอ</a:t>
            </a:r>
            <a:endParaRPr lang="en-US" sz="4000" dirty="0"/>
          </a:p>
          <a:p>
            <a:pPr algn="l" indent="0" marL="0">
              <a:lnSpc>
                <a:spcPts val="4800"/>
              </a:lnSpc>
              <a:buNone/>
            </a:pPr>
            <a:r>
              <a:rPr lang="th-TH" altLang="en-US" sz="4000" dirty="0">
                <a:solidFill>
                  <a:srgbClr val="00766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สำหรับสายตาคนทำงานทั้งวัน</a:t>
            </a:r>
            <a:endParaRPr lang="en-US" sz="4000" dirty="0"/>
          </a:p>
        </p:txBody>
      </p:sp>
      <p:sp>
        <p:nvSpPr>
          <p:cNvPr id="17" name="ข้อความ: สายตาปรับตัวกับแสงสลัวจนเราไม่ทันส…"/>
          <p:cNvSpPr txBox="1"/>
          <p:nvPr/>
        </p:nvSpPr>
        <p:spPr>
          <a:xfrm>
            <a:off x="800009" y="8511327"/>
            <a:ext cx="8080004" cy="817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th-TH" altLang="en-US" sz="23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สายตาปรับตัวกับแสงสลัวจนเราไม่ทันสังเกต แต่ต้องเพ่งอยู่ตลอดวัน ผลเสียจึงสะสมกับคนทำงาน [8, 9]</a:t>
            </a:r>
            <a:endParaRPr lang="en-US" sz="2300" dirty="0"/>
          </a:p>
        </p:txBody>
      </p:sp>
      <p:sp>
        <p:nvSpPr>
          <p:cNvPr id="18" name="กรอบ"/>
          <p:cNvSpPr/>
          <p:nvPr/>
        </p:nvSpPr>
        <p:spPr>
          <a:xfrm>
            <a:off x="800009" y="9452244"/>
            <a:ext cx="1904787" cy="705642"/>
          </a:xfrm>
          <a:prstGeom prst="roundRect">
            <a:avLst>
              <a:gd name="adj" fmla="val 21589"/>
            </a:avLst>
          </a:prstGeom>
          <a:solidFill>
            <a:srgbClr val="FDEBDF"/>
          </a:solidFill>
          <a:ln/>
        </p:spPr>
      </p:sp>
      <p:pic>
        <p:nvPicPr>
          <p:cNvPr id="19" name="ภาพ" descr="ภาพ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07" y="9627260"/>
            <a:ext cx="355519" cy="355519"/>
          </a:xfrm>
          <a:prstGeom prst="rect">
            <a:avLst/>
          </a:prstGeom>
        </p:spPr>
      </p:pic>
      <p:sp>
        <p:nvSpPr>
          <p:cNvPr id="20" name="ข้อความ: ตาล้า ปวดตา"/>
          <p:cNvSpPr txBox="1"/>
          <p:nvPr/>
        </p:nvSpPr>
        <p:spPr>
          <a:xfrm>
            <a:off x="1333195" y="9578523"/>
            <a:ext cx="603687" cy="502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th-TH" altLang="en-US" sz="1650" dirty="0">
                <a:solidFill>
                  <a:srgbClr val="14202B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ตาล้า</a:t>
            </a:r>
            <a:endParaRPr lang="en-US" sz="1650" dirty="0"/>
          </a:p>
          <a:p>
            <a:pPr algn="l" indent="0" marL="0">
              <a:lnSpc>
                <a:spcPts val="1980"/>
              </a:lnSpc>
              <a:buNone/>
            </a:pPr>
            <a:r>
              <a:rPr lang="th-TH" altLang="en-US" sz="1650" dirty="0">
                <a:solidFill>
                  <a:srgbClr val="14202B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ปวดตา</a:t>
            </a:r>
            <a:endParaRPr lang="en-US" sz="1650" dirty="0"/>
          </a:p>
        </p:txBody>
      </p:sp>
      <p:sp>
        <p:nvSpPr>
          <p:cNvPr id="21" name="กรอบ #2"/>
          <p:cNvSpPr/>
          <p:nvPr/>
        </p:nvSpPr>
        <p:spPr>
          <a:xfrm>
            <a:off x="2831714" y="9452244"/>
            <a:ext cx="1904787" cy="705642"/>
          </a:xfrm>
          <a:prstGeom prst="roundRect">
            <a:avLst>
              <a:gd name="adj" fmla="val 21589"/>
            </a:avLst>
          </a:prstGeom>
          <a:solidFill>
            <a:srgbClr val="FDEBDF"/>
          </a:solidFill>
          <a:ln/>
        </p:spPr>
      </p:sp>
      <p:pic>
        <p:nvPicPr>
          <p:cNvPr id="22" name="ภาพ #2" descr="ภาพ #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212" y="9627260"/>
            <a:ext cx="355519" cy="355519"/>
          </a:xfrm>
          <a:prstGeom prst="rect">
            <a:avLst/>
          </a:prstGeom>
        </p:spPr>
      </p:pic>
      <p:sp>
        <p:nvSpPr>
          <p:cNvPr id="23" name="ข้อความ: ปวดศีรษะ ไมเกรน"/>
          <p:cNvSpPr txBox="1"/>
          <p:nvPr/>
        </p:nvSpPr>
        <p:spPr>
          <a:xfrm>
            <a:off x="3364901" y="9578523"/>
            <a:ext cx="816559" cy="502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th-TH" altLang="en-US" sz="1650" dirty="0">
                <a:solidFill>
                  <a:srgbClr val="14202B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ปวดศีรษะ</a:t>
            </a:r>
            <a:endParaRPr lang="en-US" sz="1650" dirty="0"/>
          </a:p>
          <a:p>
            <a:pPr algn="l" indent="0" marL="0">
              <a:lnSpc>
                <a:spcPts val="1980"/>
              </a:lnSpc>
              <a:buNone/>
            </a:pPr>
            <a:r>
              <a:rPr lang="th-TH" altLang="en-US" sz="1650" dirty="0">
                <a:solidFill>
                  <a:srgbClr val="14202B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ไมเกรน</a:t>
            </a:r>
            <a:endParaRPr lang="en-US" sz="1650" dirty="0"/>
          </a:p>
        </p:txBody>
      </p:sp>
      <p:sp>
        <p:nvSpPr>
          <p:cNvPr id="24" name="กรอบ #3"/>
          <p:cNvSpPr/>
          <p:nvPr/>
        </p:nvSpPr>
        <p:spPr>
          <a:xfrm>
            <a:off x="4863419" y="9452244"/>
            <a:ext cx="1904787" cy="705642"/>
          </a:xfrm>
          <a:prstGeom prst="roundRect">
            <a:avLst>
              <a:gd name="adj" fmla="val 21589"/>
            </a:avLst>
          </a:prstGeom>
          <a:solidFill>
            <a:srgbClr val="FDEBDF"/>
          </a:solidFill>
          <a:ln/>
        </p:spPr>
      </p:sp>
      <p:pic>
        <p:nvPicPr>
          <p:cNvPr id="25" name="ภาพ #3" descr="ภาพ #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918" y="9627260"/>
            <a:ext cx="355519" cy="355519"/>
          </a:xfrm>
          <a:prstGeom prst="rect">
            <a:avLst/>
          </a:prstGeom>
        </p:spPr>
      </p:pic>
      <p:sp>
        <p:nvSpPr>
          <p:cNvPr id="26" name="ข้อความ: ซึม สมาธิลด"/>
          <p:cNvSpPr txBox="1"/>
          <p:nvPr/>
        </p:nvSpPr>
        <p:spPr>
          <a:xfrm>
            <a:off x="5396606" y="9578523"/>
            <a:ext cx="729051" cy="502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th-TH" altLang="en-US" sz="1650" dirty="0">
                <a:solidFill>
                  <a:srgbClr val="14202B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ซึม</a:t>
            </a:r>
            <a:endParaRPr lang="en-US" sz="1650" dirty="0"/>
          </a:p>
          <a:p>
            <a:pPr algn="l" indent="0" marL="0">
              <a:lnSpc>
                <a:spcPts val="1980"/>
              </a:lnSpc>
              <a:buNone/>
            </a:pPr>
            <a:r>
              <a:rPr lang="th-TH" altLang="en-US" sz="1650" dirty="0">
                <a:solidFill>
                  <a:srgbClr val="14202B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สมาธิลด</a:t>
            </a:r>
            <a:endParaRPr lang="en-US" sz="1650" dirty="0"/>
          </a:p>
        </p:txBody>
      </p:sp>
      <p:sp>
        <p:nvSpPr>
          <p:cNvPr id="27" name="กรอบ #4"/>
          <p:cNvSpPr/>
          <p:nvPr/>
        </p:nvSpPr>
        <p:spPr>
          <a:xfrm>
            <a:off x="6895125" y="9452244"/>
            <a:ext cx="1904878" cy="705642"/>
          </a:xfrm>
          <a:prstGeom prst="roundRect">
            <a:avLst>
              <a:gd name="adj" fmla="val 21589"/>
            </a:avLst>
          </a:prstGeom>
          <a:solidFill>
            <a:srgbClr val="FDEBDF"/>
          </a:solidFill>
          <a:ln/>
        </p:spPr>
      </p:sp>
      <p:pic>
        <p:nvPicPr>
          <p:cNvPr id="28" name="ภาพ #4" descr="ภาพ #4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6623" y="9627260"/>
            <a:ext cx="355519" cy="355519"/>
          </a:xfrm>
          <a:prstGeom prst="rect">
            <a:avLst/>
          </a:prstGeom>
        </p:spPr>
      </p:pic>
      <p:sp>
        <p:nvSpPr>
          <p:cNvPr id="29" name="ข้อความ: เสี่ยง อุบัติเหตุ"/>
          <p:cNvSpPr txBox="1"/>
          <p:nvPr/>
        </p:nvSpPr>
        <p:spPr>
          <a:xfrm>
            <a:off x="7428311" y="9578523"/>
            <a:ext cx="721462" cy="502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th-TH" altLang="en-US" sz="1650" dirty="0">
                <a:solidFill>
                  <a:srgbClr val="14202B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เสี่ยง</a:t>
            </a:r>
            <a:endParaRPr lang="en-US" sz="1650" dirty="0"/>
          </a:p>
          <a:p>
            <a:pPr algn="l" indent="0" marL="0">
              <a:lnSpc>
                <a:spcPts val="1980"/>
              </a:lnSpc>
              <a:buNone/>
            </a:pPr>
            <a:r>
              <a:rPr lang="th-TH" altLang="en-US" sz="1650" dirty="0">
                <a:solidFill>
                  <a:srgbClr val="14202B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อุบัติเหตุ</a:t>
            </a:r>
            <a:endParaRPr lang="en-US" sz="1650" dirty="0"/>
          </a:p>
        </p:txBody>
      </p:sp>
      <p:sp>
        <p:nvSpPr>
          <p:cNvPr id="30" name="ข้อความ: ตัวชี้วัดจึงมีที่มา: Green Office …"/>
          <p:cNvSpPr txBox="1"/>
          <p:nvPr/>
        </p:nvSpPr>
        <p:spPr>
          <a:xfrm>
            <a:off x="800009" y="10301356"/>
            <a:ext cx="8080004" cy="122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th-TH" altLang="en-US" sz="23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ตัวชี้วัดจึงมีที่มา: Green Office 2569 ข้อ 5.2.1 ให้</a:t>
            </a:r>
            <a:pPr algn="l" indent="0" marL="0">
              <a:lnSpc>
                <a:spcPts val="3220"/>
              </a:lnSpc>
              <a:buNone/>
            </a:pPr>
            <a:r>
              <a:rPr lang="th-TH" altLang="en-US" sz="23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วัดเป็นตัวเลข</a:t>
            </a:r>
            <a:pPr algn="l" indent="0" marL="0">
              <a:lnSpc>
                <a:spcPts val="3220"/>
              </a:lnSpc>
              <a:buNone/>
            </a:pPr>
            <a:r>
              <a:rPr lang="th-TH" altLang="en-US" sz="23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ทุกปีด้วยเครื่องที่สอบเทียบ ห้ามใช้แอปมือถือ [1] แต่เครื่องมาตรฐานที่ถูกสุด (HIOKI FT3424) ราคา 28,184 ฿ จึงมีได้ไม่กี่เครื่อง</a:t>
            </a:r>
            <a:endParaRPr lang="en-US" sz="2300" dirty="0"/>
          </a:p>
        </p:txBody>
      </p:sp>
      <p:sp>
        <p:nvSpPr>
          <p:cNvPr id="31" name="กล่องพื้นหลัง"/>
          <p:cNvSpPr/>
          <p:nvPr/>
        </p:nvSpPr>
        <p:spPr>
          <a:xfrm>
            <a:off x="800009" y="11727363"/>
            <a:ext cx="7999994" cy="2649657"/>
          </a:xfrm>
          <a:prstGeom prst="roundRect">
            <a:avLst>
              <a:gd name="adj" fmla="val 6709"/>
            </a:avLst>
          </a:prstGeom>
          <a:solidFill>
            <a:srgbClr val="B4D5E5"/>
          </a:solidFill>
          <a:ln/>
        </p:spPr>
      </p:sp>
      <p:sp>
        <p:nvSpPr>
          <p:cNvPr id="32" name="ข้อความ: 300 lx"/>
          <p:cNvSpPr txBox="1"/>
          <p:nvPr/>
        </p:nvSpPr>
        <p:spPr>
          <a:xfrm>
            <a:off x="1079358" y="11746474"/>
            <a:ext cx="2004456" cy="1257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66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300</a:t>
            </a:r>
            <a:pPr algn="ctr" indent="0" marL="0">
              <a:buNone/>
            </a:pPr>
            <a:r>
              <a:rPr lang="en-US" altLang="en-US" sz="2600" dirty="0">
                <a:solidFill>
                  <a:srgbClr val="4A5866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 lx</a:t>
            </a:r>
            <a:endParaRPr lang="en-US" sz="6600" dirty="0"/>
          </a:p>
        </p:txBody>
      </p:sp>
      <p:sp>
        <p:nvSpPr>
          <p:cNvPr id="33" name="ข้อความ: ค่าเฉลี่ย พื้นที่สำนักงาน"/>
          <p:cNvSpPr txBox="1"/>
          <p:nvPr/>
        </p:nvSpPr>
        <p:spPr>
          <a:xfrm>
            <a:off x="1079358" y="12834061"/>
            <a:ext cx="2004456" cy="643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th-TH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ค่าเฉลี่ย</a:t>
            </a:r>
            <a:endParaRPr lang="en-US" sz="1950" dirty="0"/>
          </a:p>
          <a:p>
            <a:pPr algn="ctr" indent="0" marL="0">
              <a:lnSpc>
                <a:spcPts val="2535"/>
              </a:lnSpc>
              <a:buNone/>
            </a:pPr>
            <a:r>
              <a:rPr lang="th-TH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พื้นที่สำนักงาน</a:t>
            </a:r>
            <a:endParaRPr lang="en-US" sz="1950" dirty="0"/>
          </a:p>
        </p:txBody>
      </p:sp>
      <p:sp>
        <p:nvSpPr>
          <p:cNvPr id="34" name="ข้อความ: 150 lx"/>
          <p:cNvSpPr txBox="1"/>
          <p:nvPr/>
        </p:nvSpPr>
        <p:spPr>
          <a:xfrm>
            <a:off x="3185312" y="11746474"/>
            <a:ext cx="2004456" cy="1257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66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150</a:t>
            </a:r>
            <a:pPr algn="ctr" indent="0" marL="0">
              <a:buNone/>
            </a:pPr>
            <a:r>
              <a:rPr lang="en-US" altLang="en-US" sz="2600" dirty="0">
                <a:solidFill>
                  <a:srgbClr val="4A5866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 lx</a:t>
            </a:r>
            <a:endParaRPr lang="en-US" sz="6600" dirty="0"/>
          </a:p>
        </p:txBody>
      </p:sp>
      <p:sp>
        <p:nvSpPr>
          <p:cNvPr id="35" name="ข้อความ: จุดต่ำสุด ของพื้นที่"/>
          <p:cNvSpPr txBox="1"/>
          <p:nvPr/>
        </p:nvSpPr>
        <p:spPr>
          <a:xfrm>
            <a:off x="3185312" y="12834061"/>
            <a:ext cx="2004456" cy="643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th-TH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จุดต่ำสุด</a:t>
            </a:r>
            <a:endParaRPr lang="en-US" sz="1950" dirty="0"/>
          </a:p>
          <a:p>
            <a:pPr algn="ctr" indent="0" marL="0">
              <a:lnSpc>
                <a:spcPts val="2535"/>
              </a:lnSpc>
              <a:buNone/>
            </a:pPr>
            <a:r>
              <a:rPr lang="th-TH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ของพื้นที่</a:t>
            </a:r>
            <a:endParaRPr lang="en-US" sz="1950" dirty="0"/>
          </a:p>
        </p:txBody>
      </p:sp>
      <p:sp>
        <p:nvSpPr>
          <p:cNvPr id="36" name="ข้อความ: 400–500"/>
          <p:cNvSpPr txBox="1"/>
          <p:nvPr/>
        </p:nvSpPr>
        <p:spPr>
          <a:xfrm>
            <a:off x="5291176" y="11841663"/>
            <a:ext cx="3229478" cy="1057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5600" dirty="0">
                <a:solidFill>
                  <a:srgbClr val="00766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400–500</a:t>
            </a:r>
            <a:endParaRPr lang="en-US" sz="5600" dirty="0"/>
          </a:p>
        </p:txBody>
      </p:sp>
      <p:sp>
        <p:nvSpPr>
          <p:cNvPr id="37" name="ข้อความ: lux ณ จุดทำงาน (งานเขียน พิมพ์ อ่า…"/>
          <p:cNvSpPr txBox="1"/>
          <p:nvPr/>
        </p:nvSpPr>
        <p:spPr>
          <a:xfrm>
            <a:off x="5291176" y="12835067"/>
            <a:ext cx="3229478" cy="643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th-TH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lux ณ จุดทำงาน</a:t>
            </a:r>
            <a:endParaRPr lang="en-US" sz="1950" dirty="0"/>
          </a:p>
          <a:p>
            <a:pPr algn="ctr" indent="0" marL="0">
              <a:lnSpc>
                <a:spcPts val="2535"/>
              </a:lnSpc>
              <a:buNone/>
            </a:pPr>
            <a:r>
              <a:rPr lang="th-TH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(งานเขียน พิมพ์ อ่าน)</a:t>
            </a:r>
            <a:endParaRPr lang="en-US" sz="1950" dirty="0"/>
          </a:p>
        </p:txBody>
      </p:sp>
      <p:sp>
        <p:nvSpPr>
          <p:cNvPr id="38" name="ข้อความ: เกณฑ์ขั้นต่ำเพื่อสายตาคนทำงาน [2] …"/>
          <p:cNvSpPr txBox="1"/>
          <p:nvPr/>
        </p:nvSpPr>
        <p:spPr>
          <a:xfrm>
            <a:off x="1079358" y="13588624"/>
            <a:ext cx="7515819" cy="58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เกณฑ์ขั้นต่ำเพื่อสายตาคนทำงาน [2] · วัดที่ระนาบ 75 ซม. ทุกช่อง 2×2 ม. และ ณ จุดทำงาน ในสภาพทำงานปกติ ช่วงแสงธรรมชาติน้อยที่สุด [3]</a:t>
            </a:r>
            <a:endParaRPr lang="en-US" sz="1700" dirty="0"/>
          </a:p>
        </p:txBody>
      </p:sp>
      <p:sp>
        <p:nvSpPr>
          <p:cNvPr id="39" name="ข้อความ: วัตถุประสงค์"/>
          <p:cNvSpPr txBox="1"/>
          <p:nvPr/>
        </p:nvSpPr>
        <p:spPr>
          <a:xfrm>
            <a:off x="800009" y="14589709"/>
            <a:ext cx="7999994" cy="552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9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วัตถุประสงค์</a:t>
            </a:r>
            <a:endParaRPr lang="en-US" sz="2900" dirty="0"/>
          </a:p>
        </p:txBody>
      </p:sp>
      <p:sp>
        <p:nvSpPr>
          <p:cNvPr id="40" name="ข้อความ: ให้คนทำงานได้แสงที่เหมาะกับงานจริง…"/>
          <p:cNvSpPr txBox="1"/>
          <p:nvPr/>
        </p:nvSpPr>
        <p:spPr>
          <a:xfrm>
            <a:off x="1460297" y="15195225"/>
            <a:ext cx="7413041" cy="7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th-TH" altLang="en-US" sz="22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ให้คนทำงาน</a:t>
            </a:r>
            <a:pPr algn="l" indent="0" marL="0">
              <a:lnSpc>
                <a:spcPts val="2992"/>
              </a:lnSpc>
              <a:buNone/>
            </a:pPr>
            <a:r>
              <a:rPr lang="th-TH" altLang="en-US" sz="22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ได้แสงที่เหมาะกับงานจริง</a:t>
            </a:r>
            <a:pPr algn="l" indent="0" marL="0">
              <a:lnSpc>
                <a:spcPts val="2992"/>
              </a:lnSpc>
              <a:buNone/>
            </a:pPr>
            <a:r>
              <a:rPr lang="th-TH" altLang="en-US" sz="22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ด้วยเครื่องคัดกรอง (pre‑survey) ต้นทุนต่ำที่ตรวจสอบย้อนกลับได้</a:t>
            </a:r>
            <a:endParaRPr lang="en-US" sz="2200" dirty="0"/>
          </a:p>
        </p:txBody>
      </p:sp>
      <p:sp>
        <p:nvSpPr>
          <p:cNvPr id="41" name="ข้อความ: 1"/>
          <p:cNvSpPr/>
          <p:nvPr/>
        </p:nvSpPr>
        <p:spPr>
          <a:xfrm>
            <a:off x="800009" y="15181417"/>
            <a:ext cx="482437" cy="482437"/>
          </a:xfrm>
          <a:prstGeom prst="ellipse">
            <a:avLst/>
          </a:prstGeom>
          <a:solidFill>
            <a:srgbClr val="00766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3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1</a:t>
            </a:r>
            <a:endParaRPr lang="en-US" sz="2300" dirty="0"/>
          </a:p>
        </p:txBody>
      </p:sp>
      <p:sp>
        <p:nvSpPr>
          <p:cNvPr id="42" name="ข้อความ: เปลี่ยนความรู้ที่อยู่กับผู้พัฒนา ใ…"/>
          <p:cNvSpPr txBox="1"/>
          <p:nvPr/>
        </p:nvSpPr>
        <p:spPr>
          <a:xfrm>
            <a:off x="1460297" y="16030895"/>
            <a:ext cx="7413041" cy="7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th-TH" altLang="en-US" sz="22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เปลี่ยนความรู้ที่อยู่กับผู้พัฒนา ให้เป็น</a:t>
            </a:r>
            <a:pPr algn="l" indent="0" marL="0">
              <a:lnSpc>
                <a:spcPts val="2992"/>
              </a:lnSpc>
              <a:buNone/>
            </a:pPr>
            <a:r>
              <a:rPr lang="th-TH" altLang="en-US" sz="22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ความรู้ขององค์กร</a:t>
            </a:r>
            <a:pPr algn="l" indent="0" marL="0">
              <a:lnSpc>
                <a:spcPts val="2992"/>
              </a:lnSpc>
              <a:buNone/>
            </a:pPr>
            <a:r>
              <a:rPr lang="th-TH" altLang="en-US" sz="22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: โค้ด SOP คู่มือ ไฟล์ STL ในคลังสาธารณะ</a:t>
            </a:r>
            <a:endParaRPr lang="en-US" sz="2200" dirty="0"/>
          </a:p>
        </p:txBody>
      </p:sp>
      <p:sp>
        <p:nvSpPr>
          <p:cNvPr id="43" name="ข้อความ: 2"/>
          <p:cNvSpPr/>
          <p:nvPr/>
        </p:nvSpPr>
        <p:spPr>
          <a:xfrm>
            <a:off x="800009" y="16017088"/>
            <a:ext cx="482437" cy="482437"/>
          </a:xfrm>
          <a:prstGeom prst="ellipse">
            <a:avLst/>
          </a:prstGeom>
          <a:solidFill>
            <a:srgbClr val="00766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3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2</a:t>
            </a:r>
            <a:endParaRPr lang="en-US" sz="2300" dirty="0"/>
          </a:p>
        </p:txBody>
      </p:sp>
      <p:sp>
        <p:nvSpPr>
          <p:cNvPr id="44" name="ข้อความ: ปรับปรุงแสงด้วยข้อมูลเชิงประจักษ์ต…"/>
          <p:cNvSpPr txBox="1"/>
          <p:nvPr/>
        </p:nvSpPr>
        <p:spPr>
          <a:xfrm>
            <a:off x="1460297" y="16866657"/>
            <a:ext cx="7413041" cy="7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th-TH" altLang="en-US" sz="22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ปรับปรุงแสงด้วยข้อมูลเชิงประจักษ์ตามวงจร </a:t>
            </a:r>
            <a:pPr algn="l" indent="0" marL="0">
              <a:lnSpc>
                <a:spcPts val="2992"/>
              </a:lnSpc>
              <a:buNone/>
            </a:pPr>
            <a:r>
              <a:rPr lang="en-US" altLang="en-US" sz="22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PDCA</a:t>
            </a:r>
            <a:pPr algn="l" indent="0" marL="0">
              <a:lnSpc>
                <a:spcPts val="2992"/>
              </a:lnSpc>
              <a:buNone/>
            </a:pPr>
            <a:r>
              <a:rPr lang="en-US" altLang="en-US" sz="22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(</a:t>
            </a:r>
            <a:pPr algn="l" indent="0" marL="0">
              <a:lnSpc>
                <a:spcPts val="2992"/>
              </a:lnSpc>
              <a:buNone/>
            </a:pPr>
            <a:r>
              <a:rPr lang="th-TH" altLang="en-US" sz="22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ตรวจ → แก้ → ตรวจซ้ำ</a:t>
            </a:r>
            <a:pPr algn="l" indent="0" marL="0">
              <a:lnSpc>
                <a:spcPts val="2992"/>
              </a:lnSpc>
              <a:buNone/>
            </a:pPr>
            <a:r>
              <a:rPr lang="th-TH" altLang="en-US" sz="22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) ของ Green Office 5.2.1</a:t>
            </a:r>
            <a:endParaRPr lang="en-US" sz="2200" dirty="0"/>
          </a:p>
        </p:txBody>
      </p:sp>
      <p:sp>
        <p:nvSpPr>
          <p:cNvPr id="45" name="ข้อความ: 3"/>
          <p:cNvSpPr/>
          <p:nvPr/>
        </p:nvSpPr>
        <p:spPr>
          <a:xfrm>
            <a:off x="800009" y="16852849"/>
            <a:ext cx="482437" cy="482437"/>
          </a:xfrm>
          <a:prstGeom prst="ellipse">
            <a:avLst/>
          </a:prstGeom>
          <a:solidFill>
            <a:srgbClr val="00766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3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3</a:t>
            </a:r>
            <a:endParaRPr lang="en-US" sz="2300" dirty="0"/>
          </a:p>
        </p:txBody>
      </p:sp>
      <p:sp>
        <p:nvSpPr>
          <p:cNvPr id="46" name="ข้อความ: วงจรการจัดการความรู้ (PDCA + KM)"/>
          <p:cNvSpPr txBox="1"/>
          <p:nvPr/>
        </p:nvSpPr>
        <p:spPr>
          <a:xfrm>
            <a:off x="800009" y="17748961"/>
            <a:ext cx="7999994" cy="552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9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วงจรการจัดการความรู้ (PDCA + KM)</a:t>
            </a:r>
            <a:endParaRPr lang="en-US" sz="2900" dirty="0"/>
          </a:p>
        </p:txBody>
      </p:sp>
      <p:sp>
        <p:nvSpPr>
          <p:cNvPr id="47" name="ลูกศรวงจร KM"/>
          <p:cNvSpPr/>
          <p:nvPr/>
        </p:nvSpPr>
        <p:spPr>
          <a:xfrm>
            <a:off x="3359963" y="19072098"/>
            <a:ext cx="405719" cy="0"/>
          </a:xfrm>
          <a:prstGeom prst="line">
            <a:avLst/>
          </a:prstGeom>
          <a:noFill/>
          <a:ln w="57150">
            <a:solidFill>
              <a:srgbClr val="2163A1"/>
            </a:solidFill>
            <a:prstDash val="solid"/>
            <a:tailEnd type="triangle" w="med" len="med"/>
          </a:ln>
        </p:spPr>
      </p:sp>
      <p:sp>
        <p:nvSpPr>
          <p:cNvPr id="48" name="ลูกศรวงจร KM #2"/>
          <p:cNvSpPr/>
          <p:nvPr/>
        </p:nvSpPr>
        <p:spPr>
          <a:xfrm>
            <a:off x="5851428" y="19072098"/>
            <a:ext cx="405719" cy="0"/>
          </a:xfrm>
          <a:prstGeom prst="line">
            <a:avLst/>
          </a:prstGeom>
          <a:noFill/>
          <a:ln w="57150">
            <a:solidFill>
              <a:srgbClr val="2163A1"/>
            </a:solidFill>
            <a:prstDash val="solid"/>
            <a:tailEnd type="triangle" w="med" len="med"/>
          </a:ln>
        </p:spPr>
      </p:sp>
      <p:sp>
        <p:nvSpPr>
          <p:cNvPr id="49" name="ลูกศรวงจร KM #3"/>
          <p:cNvSpPr/>
          <p:nvPr/>
        </p:nvSpPr>
        <p:spPr>
          <a:xfrm>
            <a:off x="7291426" y="19586357"/>
            <a:ext cx="0" cy="954268"/>
          </a:xfrm>
          <a:prstGeom prst="line">
            <a:avLst/>
          </a:prstGeom>
          <a:noFill/>
          <a:ln w="57150">
            <a:solidFill>
              <a:srgbClr val="2163A1"/>
            </a:solidFill>
            <a:prstDash val="solid"/>
            <a:tailEnd type="triangle" w="med" len="med"/>
          </a:ln>
        </p:spPr>
      </p:sp>
      <p:sp>
        <p:nvSpPr>
          <p:cNvPr id="50" name="ลูกศรวงจร KM #4"/>
          <p:cNvSpPr/>
          <p:nvPr/>
        </p:nvSpPr>
        <p:spPr>
          <a:xfrm flipH="1">
            <a:off x="5834329" y="21037784"/>
            <a:ext cx="405719" cy="0"/>
          </a:xfrm>
          <a:prstGeom prst="line">
            <a:avLst/>
          </a:prstGeom>
          <a:noFill/>
          <a:ln w="57150">
            <a:solidFill>
              <a:srgbClr val="2163A1"/>
            </a:solidFill>
            <a:prstDash val="solid"/>
            <a:tailEnd type="triangle" w="med" len="med"/>
          </a:ln>
        </p:spPr>
      </p:sp>
      <p:sp>
        <p:nvSpPr>
          <p:cNvPr id="51" name="ลูกศรวงจร KM #5"/>
          <p:cNvSpPr/>
          <p:nvPr/>
        </p:nvSpPr>
        <p:spPr>
          <a:xfrm flipH="1">
            <a:off x="3342864" y="21037784"/>
            <a:ext cx="405719" cy="0"/>
          </a:xfrm>
          <a:prstGeom prst="line">
            <a:avLst/>
          </a:prstGeom>
          <a:noFill/>
          <a:ln w="57150">
            <a:solidFill>
              <a:srgbClr val="2163A1"/>
            </a:solidFill>
            <a:prstDash val="solid"/>
            <a:tailEnd type="triangle" w="med" len="med"/>
          </a:ln>
        </p:spPr>
      </p:sp>
      <p:sp>
        <p:nvSpPr>
          <p:cNvPr id="52" name="ลูกศรวงจร KM #6"/>
          <p:cNvSpPr/>
          <p:nvPr/>
        </p:nvSpPr>
        <p:spPr>
          <a:xfrm flipV="1">
            <a:off x="2308586" y="19569166"/>
            <a:ext cx="0" cy="954268"/>
          </a:xfrm>
          <a:prstGeom prst="line">
            <a:avLst/>
          </a:prstGeom>
          <a:noFill/>
          <a:ln w="57150">
            <a:solidFill>
              <a:srgbClr val="2163A1"/>
            </a:solidFill>
            <a:prstDash val="solid"/>
            <a:tailEnd type="triangle" w="med" len="med"/>
          </a:ln>
        </p:spPr>
      </p:sp>
      <p:sp>
        <p:nvSpPr>
          <p:cNvPr id="53" name="วงจร KM: กรอบ วางแผน"/>
          <p:cNvSpPr/>
          <p:nvPr/>
        </p:nvSpPr>
        <p:spPr>
          <a:xfrm>
            <a:off x="1291407" y="18592038"/>
            <a:ext cx="2034266" cy="960029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45720">
            <a:solidFill>
              <a:srgbClr val="00766A"/>
            </a:solidFill>
            <a:prstDash val="solid"/>
          </a:ln>
        </p:spPr>
      </p:sp>
      <p:sp>
        <p:nvSpPr>
          <p:cNvPr id="54" name="วงจร KM: เลข 1"/>
          <p:cNvSpPr/>
          <p:nvPr/>
        </p:nvSpPr>
        <p:spPr>
          <a:xfrm>
            <a:off x="1142817" y="18443448"/>
            <a:ext cx="434249" cy="434249"/>
          </a:xfrm>
          <a:prstGeom prst="ellipse">
            <a:avLst/>
          </a:prstGeom>
          <a:solidFill>
            <a:srgbClr val="00766A"/>
          </a:solidFill>
          <a:ln w="34290">
            <a:solidFill>
              <a:srgbClr val="FFFFFF"/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64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1</a:t>
            </a:r>
            <a:endParaRPr lang="en-US" sz="2640" dirty="0"/>
          </a:p>
        </p:txBody>
      </p:sp>
      <p:sp>
        <p:nvSpPr>
          <p:cNvPr id="55" name="วงจร KM: วางแผน"/>
          <p:cNvSpPr txBox="1"/>
          <p:nvPr/>
        </p:nvSpPr>
        <p:spPr>
          <a:xfrm>
            <a:off x="1402507" y="18691068"/>
            <a:ext cx="1949226" cy="5237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276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วางแผน</a:t>
            </a:r>
            <a:endParaRPr lang="en-US" sz="2760" dirty="0"/>
          </a:p>
        </p:txBody>
      </p:sp>
      <p:sp>
        <p:nvSpPr>
          <p:cNvPr id="56" name="วงจร KM: วางแผน (คำอธิบาย)"/>
          <p:cNvSpPr txBox="1"/>
          <p:nvPr/>
        </p:nvSpPr>
        <p:spPr>
          <a:xfrm>
            <a:off x="1146658" y="19112057"/>
            <a:ext cx="2461016" cy="3809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rgbClr val="4A5866"/>
                </a:solidFill>
                <a:latin typeface="IBM Plex Sans Thai Medium" pitchFamily="34" charset="0"/>
                <a:ea typeface="IBM Plex Sans Thai Medium" pitchFamily="34" charset="-122"/>
                <a:cs typeface="IBM Plex Sans Thai Medium" pitchFamily="34" charset="-120"/>
              </a:rPr>
              <a:t>P · เกณฑ์ + จุดวัด</a:t>
            </a:r>
            <a:endParaRPr lang="en-US" sz="1800" dirty="0"/>
          </a:p>
        </p:txBody>
      </p:sp>
      <p:sp>
        <p:nvSpPr>
          <p:cNvPr id="57" name="วงจร KM: กรอบ ตรวจวัด"/>
          <p:cNvSpPr/>
          <p:nvPr/>
        </p:nvSpPr>
        <p:spPr>
          <a:xfrm>
            <a:off x="3782873" y="18592038"/>
            <a:ext cx="2034266" cy="960029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45720">
            <a:solidFill>
              <a:srgbClr val="2163A1"/>
            </a:solidFill>
            <a:prstDash val="solid"/>
          </a:ln>
        </p:spPr>
      </p:sp>
      <p:sp>
        <p:nvSpPr>
          <p:cNvPr id="58" name="วงจร KM: เลข 2"/>
          <p:cNvSpPr/>
          <p:nvPr/>
        </p:nvSpPr>
        <p:spPr>
          <a:xfrm>
            <a:off x="3634283" y="18443448"/>
            <a:ext cx="434249" cy="434249"/>
          </a:xfrm>
          <a:prstGeom prst="ellipse">
            <a:avLst/>
          </a:prstGeom>
          <a:solidFill>
            <a:srgbClr val="2163A1"/>
          </a:solidFill>
          <a:ln w="34290">
            <a:solidFill>
              <a:srgbClr val="FFFFFF"/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64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2</a:t>
            </a:r>
            <a:endParaRPr lang="en-US" sz="2640" dirty="0"/>
          </a:p>
        </p:txBody>
      </p:sp>
      <p:sp>
        <p:nvSpPr>
          <p:cNvPr id="59" name="วงจร KM: ตรวจวัด"/>
          <p:cNvSpPr txBox="1"/>
          <p:nvPr/>
        </p:nvSpPr>
        <p:spPr>
          <a:xfrm>
            <a:off x="3889035" y="18691068"/>
            <a:ext cx="1959102" cy="5237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276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ตรวจวัด</a:t>
            </a:r>
            <a:endParaRPr lang="en-US" sz="2760" dirty="0"/>
          </a:p>
        </p:txBody>
      </p:sp>
      <p:sp>
        <p:nvSpPr>
          <p:cNvPr id="60" name="วงจร KM: ตรวจวัด (คำอธิบาย)"/>
          <p:cNvSpPr txBox="1"/>
          <p:nvPr/>
        </p:nvSpPr>
        <p:spPr>
          <a:xfrm>
            <a:off x="3743462" y="19112057"/>
            <a:ext cx="2250247" cy="3809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4A5866"/>
                </a:solidFill>
                <a:latin typeface="IBM Plex Sans Thai Medium" pitchFamily="34" charset="0"/>
                <a:ea typeface="IBM Plex Sans Thai Medium" pitchFamily="34" charset="-122"/>
                <a:cs typeface="IBM Plex Sans Thai Medium" pitchFamily="34" charset="-120"/>
              </a:rPr>
              <a:t>D · pre-survey</a:t>
            </a:r>
            <a:endParaRPr lang="en-US" sz="1800" dirty="0"/>
          </a:p>
        </p:txBody>
      </p:sp>
      <p:sp>
        <p:nvSpPr>
          <p:cNvPr id="61" name="วงจร KM: กรอบ ตรวจสอบ"/>
          <p:cNvSpPr/>
          <p:nvPr/>
        </p:nvSpPr>
        <p:spPr>
          <a:xfrm>
            <a:off x="6274247" y="18592038"/>
            <a:ext cx="2034266" cy="960029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45720">
            <a:solidFill>
              <a:srgbClr val="00766A"/>
            </a:solidFill>
            <a:prstDash val="solid"/>
          </a:ln>
        </p:spPr>
      </p:sp>
      <p:sp>
        <p:nvSpPr>
          <p:cNvPr id="62" name="วงจร KM: เลข 3"/>
          <p:cNvSpPr/>
          <p:nvPr/>
        </p:nvSpPr>
        <p:spPr>
          <a:xfrm>
            <a:off x="6125748" y="18443448"/>
            <a:ext cx="434249" cy="434249"/>
          </a:xfrm>
          <a:prstGeom prst="ellipse">
            <a:avLst/>
          </a:prstGeom>
          <a:solidFill>
            <a:srgbClr val="00766A"/>
          </a:solidFill>
          <a:ln w="34290">
            <a:solidFill>
              <a:srgbClr val="FFFFFF"/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64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3</a:t>
            </a:r>
            <a:endParaRPr lang="en-US" sz="2640" dirty="0"/>
          </a:p>
        </p:txBody>
      </p:sp>
      <p:sp>
        <p:nvSpPr>
          <p:cNvPr id="63" name="วงจร KM: ตรวจสอบ"/>
          <p:cNvSpPr txBox="1"/>
          <p:nvPr/>
        </p:nvSpPr>
        <p:spPr>
          <a:xfrm>
            <a:off x="6260074" y="18691068"/>
            <a:ext cx="2199864" cy="5237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276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ตรวจสอบ</a:t>
            </a:r>
            <a:endParaRPr lang="en-US" sz="2760" dirty="0"/>
          </a:p>
        </p:txBody>
      </p:sp>
      <p:sp>
        <p:nvSpPr>
          <p:cNvPr id="64" name="วงจร KM: ตรวจสอบ (คำอธิบาย)"/>
          <p:cNvSpPr txBox="1"/>
          <p:nvPr/>
        </p:nvSpPr>
        <p:spPr>
          <a:xfrm>
            <a:off x="6387633" y="19112057"/>
            <a:ext cx="1944746" cy="3809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rgbClr val="4A5866"/>
                </a:solidFill>
                <a:latin typeface="IBM Plex Sans Thai Medium" pitchFamily="34" charset="0"/>
                <a:ea typeface="IBM Plex Sans Thai Medium" pitchFamily="34" charset="-122"/>
                <a:cs typeface="IBM Plex Sans Thai Medium" pitchFamily="34" charset="-120"/>
              </a:rPr>
              <a:t>C · ยืนยันผล</a:t>
            </a:r>
            <a:endParaRPr lang="en-US" sz="1800" dirty="0"/>
          </a:p>
        </p:txBody>
      </p:sp>
      <p:sp>
        <p:nvSpPr>
          <p:cNvPr id="65" name="วงจร KM: กรอบ ปรับปรุง"/>
          <p:cNvSpPr/>
          <p:nvPr/>
        </p:nvSpPr>
        <p:spPr>
          <a:xfrm>
            <a:off x="6274247" y="20557724"/>
            <a:ext cx="2034266" cy="960029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45720">
            <a:solidFill>
              <a:srgbClr val="2163A1"/>
            </a:solidFill>
            <a:prstDash val="solid"/>
          </a:ln>
        </p:spPr>
      </p:sp>
      <p:sp>
        <p:nvSpPr>
          <p:cNvPr id="66" name="วงจร KM: เลข 4"/>
          <p:cNvSpPr/>
          <p:nvPr/>
        </p:nvSpPr>
        <p:spPr>
          <a:xfrm>
            <a:off x="6125748" y="20409225"/>
            <a:ext cx="434249" cy="434249"/>
          </a:xfrm>
          <a:prstGeom prst="ellipse">
            <a:avLst/>
          </a:prstGeom>
          <a:solidFill>
            <a:srgbClr val="2163A1"/>
          </a:solidFill>
          <a:ln w="34290">
            <a:solidFill>
              <a:srgbClr val="FFFFFF"/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64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4</a:t>
            </a:r>
            <a:endParaRPr lang="en-US" sz="2640" dirty="0"/>
          </a:p>
        </p:txBody>
      </p:sp>
      <p:sp>
        <p:nvSpPr>
          <p:cNvPr id="67" name="วงจร KM: ปรับปรุง"/>
          <p:cNvSpPr txBox="1"/>
          <p:nvPr/>
        </p:nvSpPr>
        <p:spPr>
          <a:xfrm>
            <a:off x="6366784" y="20656845"/>
            <a:ext cx="1986443" cy="5237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276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ปรับปรุง</a:t>
            </a:r>
            <a:endParaRPr lang="en-US" sz="2760" dirty="0"/>
          </a:p>
        </p:txBody>
      </p:sp>
      <p:sp>
        <p:nvSpPr>
          <p:cNvPr id="68" name="วงจร KM: ปรับปรุง (คำอธิบาย)"/>
          <p:cNvSpPr txBox="1"/>
          <p:nvPr/>
        </p:nvSpPr>
        <p:spPr>
          <a:xfrm>
            <a:off x="6159673" y="21077743"/>
            <a:ext cx="2400574" cy="3809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rgbClr val="4A5866"/>
                </a:solidFill>
                <a:latin typeface="IBM Plex Sans Thai Medium" pitchFamily="34" charset="0"/>
                <a:ea typeface="IBM Plex Sans Thai Medium" pitchFamily="34" charset="-122"/>
                <a:cs typeface="IBM Plex Sans Thai Medium" pitchFamily="34" charset="-120"/>
              </a:rPr>
              <a:t>A · แก้ + ตรวจซ้ำ</a:t>
            </a:r>
            <a:endParaRPr lang="en-US" sz="1800" dirty="0"/>
          </a:p>
        </p:txBody>
      </p:sp>
      <p:sp>
        <p:nvSpPr>
          <p:cNvPr id="69" name="วงจร KM: กรอบ ถอดบทเรียน"/>
          <p:cNvSpPr/>
          <p:nvPr/>
        </p:nvSpPr>
        <p:spPr>
          <a:xfrm>
            <a:off x="3782873" y="20557724"/>
            <a:ext cx="2034266" cy="960029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45720">
            <a:solidFill>
              <a:srgbClr val="00766A"/>
            </a:solidFill>
            <a:prstDash val="solid"/>
          </a:ln>
        </p:spPr>
      </p:sp>
      <p:sp>
        <p:nvSpPr>
          <p:cNvPr id="70" name="วงจร KM: เลข 5"/>
          <p:cNvSpPr/>
          <p:nvPr/>
        </p:nvSpPr>
        <p:spPr>
          <a:xfrm>
            <a:off x="3634283" y="20409225"/>
            <a:ext cx="434249" cy="434249"/>
          </a:xfrm>
          <a:prstGeom prst="ellipse">
            <a:avLst/>
          </a:prstGeom>
          <a:solidFill>
            <a:srgbClr val="00766A"/>
          </a:solidFill>
          <a:ln w="34290">
            <a:solidFill>
              <a:srgbClr val="FFFFFF"/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64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5</a:t>
            </a:r>
            <a:endParaRPr lang="en-US" sz="2640" dirty="0"/>
          </a:p>
        </p:txBody>
      </p:sp>
      <p:sp>
        <p:nvSpPr>
          <p:cNvPr id="71" name="วงจร KM: ถอดบทเรียน"/>
          <p:cNvSpPr txBox="1"/>
          <p:nvPr/>
        </p:nvSpPr>
        <p:spPr>
          <a:xfrm>
            <a:off x="3574664" y="20656845"/>
            <a:ext cx="2587752" cy="5237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276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ถอดบทเรียน</a:t>
            </a:r>
            <a:endParaRPr lang="en-US" sz="2760" dirty="0"/>
          </a:p>
        </p:txBody>
      </p:sp>
      <p:sp>
        <p:nvSpPr>
          <p:cNvPr id="72" name="วงจร KM: ถอดบทเรียน (คำอธิบาย)"/>
          <p:cNvSpPr txBox="1"/>
          <p:nvPr/>
        </p:nvSpPr>
        <p:spPr>
          <a:xfrm>
            <a:off x="3846698" y="21077743"/>
            <a:ext cx="2043775" cy="3809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rgbClr val="4A5866"/>
                </a:solidFill>
                <a:latin typeface="IBM Plex Sans Thai Medium" pitchFamily="34" charset="0"/>
                <a:ea typeface="IBM Plex Sans Thai Medium" pitchFamily="34" charset="-122"/>
                <a:cs typeface="IBM Plex Sans Thai Medium" pitchFamily="34" charset="-120"/>
              </a:rPr>
              <a:t>KM · บทเรียน</a:t>
            </a:r>
            <a:endParaRPr lang="en-US" sz="1800" dirty="0"/>
          </a:p>
        </p:txBody>
      </p:sp>
      <p:sp>
        <p:nvSpPr>
          <p:cNvPr id="73" name="วงจร KM: กรอบ ใช้ซ้ำ"/>
          <p:cNvSpPr/>
          <p:nvPr/>
        </p:nvSpPr>
        <p:spPr>
          <a:xfrm>
            <a:off x="1291407" y="20557724"/>
            <a:ext cx="2034266" cy="960029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45720">
            <a:solidFill>
              <a:srgbClr val="2163A1"/>
            </a:solidFill>
            <a:prstDash val="solid"/>
          </a:ln>
        </p:spPr>
      </p:sp>
      <p:sp>
        <p:nvSpPr>
          <p:cNvPr id="74" name="วงจร KM: เลข 6"/>
          <p:cNvSpPr/>
          <p:nvPr/>
        </p:nvSpPr>
        <p:spPr>
          <a:xfrm>
            <a:off x="1142817" y="20409225"/>
            <a:ext cx="434249" cy="434249"/>
          </a:xfrm>
          <a:prstGeom prst="ellipse">
            <a:avLst/>
          </a:prstGeom>
          <a:solidFill>
            <a:srgbClr val="2163A1"/>
          </a:solidFill>
          <a:ln w="34290">
            <a:solidFill>
              <a:srgbClr val="FFFFFF"/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64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6</a:t>
            </a:r>
            <a:endParaRPr lang="en-US" sz="2640" dirty="0"/>
          </a:p>
        </p:txBody>
      </p:sp>
      <p:sp>
        <p:nvSpPr>
          <p:cNvPr id="75" name="วงจร KM: ใช้ซ้ำ"/>
          <p:cNvSpPr txBox="1"/>
          <p:nvPr/>
        </p:nvSpPr>
        <p:spPr>
          <a:xfrm>
            <a:off x="1646743" y="20655564"/>
            <a:ext cx="1460845" cy="525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276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ใช้ซ้ำ</a:t>
            </a:r>
            <a:endParaRPr lang="en-US" sz="2760" dirty="0"/>
          </a:p>
        </p:txBody>
      </p:sp>
      <p:sp>
        <p:nvSpPr>
          <p:cNvPr id="76" name="วงจร KM: ใช้ซ้ำ (คำอธิบาย)"/>
          <p:cNvSpPr txBox="1"/>
          <p:nvPr/>
        </p:nvSpPr>
        <p:spPr>
          <a:xfrm>
            <a:off x="1144463" y="21077743"/>
            <a:ext cx="2465314" cy="3809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4A5866"/>
                </a:solidFill>
                <a:latin typeface="IBM Plex Sans Thai Medium" pitchFamily="34" charset="0"/>
                <a:ea typeface="IBM Plex Sans Thai Medium" pitchFamily="34" charset="-122"/>
                <a:cs typeface="IBM Plex Sans Thai Medium" pitchFamily="34" charset="-120"/>
              </a:rPr>
              <a:t>KM · public repo</a:t>
            </a:r>
            <a:endParaRPr lang="en-US" sz="1800" dirty="0"/>
          </a:p>
        </p:txBody>
      </p:sp>
      <p:sp>
        <p:nvSpPr>
          <p:cNvPr id="77" name="วงจร KM: LightCheck KM"/>
          <p:cNvSpPr txBox="1"/>
          <p:nvPr/>
        </p:nvSpPr>
        <p:spPr>
          <a:xfrm>
            <a:off x="2864724" y="19504426"/>
            <a:ext cx="3870564" cy="685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3600" dirty="0">
                <a:solidFill>
                  <a:srgbClr val="00766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LightCheck KM</a:t>
            </a:r>
            <a:endParaRPr lang="en-US" sz="3600" dirty="0"/>
          </a:p>
        </p:txBody>
      </p:sp>
      <p:sp>
        <p:nvSpPr>
          <p:cNvPr id="78" name="วงจร KM: PDCA + Tacit → Explicit"/>
          <p:cNvSpPr txBox="1"/>
          <p:nvPr/>
        </p:nvSpPr>
        <p:spPr>
          <a:xfrm>
            <a:off x="3025110" y="20066325"/>
            <a:ext cx="3549884" cy="4285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040" dirty="0">
                <a:solidFill>
                  <a:srgbClr val="14202B"/>
                </a:solidFill>
                <a:latin typeface="IBM Plex Sans Thai SemiBold" pitchFamily="34" charset="0"/>
                <a:ea typeface="IBM Plex Sans Thai SemiBold" pitchFamily="34" charset="-122"/>
                <a:cs typeface="IBM Plex Sans Thai SemiBold" pitchFamily="34" charset="-120"/>
              </a:rPr>
              <a:t>PDCA + Tacit → Explicit</a:t>
            </a:r>
            <a:endParaRPr lang="en-US" sz="2040" dirty="0"/>
          </a:p>
        </p:txBody>
      </p:sp>
      <p:sp>
        <p:nvSpPr>
          <p:cNvPr id="79" name="ข้อความ: ภาพที่ 1 PDCA ของการดูแลแสง + ชั้น…"/>
          <p:cNvSpPr txBox="1"/>
          <p:nvPr/>
        </p:nvSpPr>
        <p:spPr>
          <a:xfrm>
            <a:off x="800009" y="21807160"/>
            <a:ext cx="7999994" cy="352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7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ภาพที่ 1</a:t>
            </a:r>
            <a:pPr algn="l" indent="0" marL="0"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PDCA ของการดูแลแสง + ชั้น KM ทำให้ทุกรอบกลายเป็นความรู้ขององค์กร</a:t>
            </a:r>
            <a:endParaRPr lang="en-US" sz="1700" dirty="0"/>
          </a:p>
        </p:txBody>
      </p:sp>
      <p:sp>
        <p:nvSpPr>
          <p:cNvPr id="80" name="ข้อความ: อุปกรณ์และต้นทุน"/>
          <p:cNvSpPr txBox="1"/>
          <p:nvPr/>
        </p:nvSpPr>
        <p:spPr>
          <a:xfrm>
            <a:off x="800009" y="22268749"/>
            <a:ext cx="7999994" cy="552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9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อุปกรณ์และต้นทุน</a:t>
            </a:r>
            <a:endParaRPr lang="en-US" sz="2900" dirty="0"/>
          </a:p>
        </p:txBody>
      </p:sp>
      <p:pic>
        <p:nvPicPr>
          <p:cNvPr id="81" name="รูป TSL2591" descr="รูป TSL259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009" y="22835128"/>
            <a:ext cx="2427366" cy="1904787"/>
          </a:xfrm>
          <a:prstGeom prst="roundRect">
            <a:avLst>
              <a:gd name="adj" fmla="val 6667"/>
            </a:avLst>
          </a:prstGeom>
        </p:spPr>
      </p:pic>
      <p:sp>
        <p:nvSpPr>
          <p:cNvPr id="82" name="ข้อความ: TSL2591"/>
          <p:cNvSpPr txBox="1"/>
          <p:nvPr/>
        </p:nvSpPr>
        <p:spPr>
          <a:xfrm>
            <a:off x="800009" y="24768444"/>
            <a:ext cx="2427366" cy="399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TSL2591</a:t>
            </a:r>
            <a:endParaRPr lang="en-US" sz="2100" dirty="0"/>
          </a:p>
        </p:txBody>
      </p:sp>
      <p:sp>
        <p:nvSpPr>
          <p:cNvPr id="83" name="ข้อความ: หัวรับแสง · 200 ฿"/>
          <p:cNvSpPr txBox="1"/>
          <p:nvPr/>
        </p:nvSpPr>
        <p:spPr>
          <a:xfrm>
            <a:off x="800009" y="25084552"/>
            <a:ext cx="2427366" cy="399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19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หัวรับแสง · 200 ฿</a:t>
            </a:r>
            <a:endParaRPr lang="en-US" sz="1900" dirty="0"/>
          </a:p>
        </p:txBody>
      </p:sp>
      <p:pic>
        <p:nvPicPr>
          <p:cNvPr id="84" name="รูป Wemos D1 mini" descr="รูป Wemos D1 mini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9805" y="22835128"/>
            <a:ext cx="1990649" cy="1904787"/>
          </a:xfrm>
          <a:prstGeom prst="roundRect">
            <a:avLst>
              <a:gd name="adj" fmla="val 6667"/>
            </a:avLst>
          </a:prstGeom>
        </p:spPr>
      </p:pic>
      <p:sp>
        <p:nvSpPr>
          <p:cNvPr id="85" name="ข้อความ: Wemos D1 mini"/>
          <p:cNvSpPr txBox="1"/>
          <p:nvPr/>
        </p:nvSpPr>
        <p:spPr>
          <a:xfrm>
            <a:off x="3379805" y="24768444"/>
            <a:ext cx="1990649" cy="399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Wemos D1 mini</a:t>
            </a:r>
            <a:endParaRPr lang="en-US" sz="2100" dirty="0"/>
          </a:p>
        </p:txBody>
      </p:sp>
      <p:sp>
        <p:nvSpPr>
          <p:cNvPr id="86" name="ข้อความ: ESP8266 · 89 ฿"/>
          <p:cNvSpPr txBox="1"/>
          <p:nvPr/>
        </p:nvSpPr>
        <p:spPr>
          <a:xfrm>
            <a:off x="3379805" y="25084552"/>
            <a:ext cx="1990649" cy="399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19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ESP8266 · 89 ฿</a:t>
            </a:r>
            <a:endParaRPr lang="en-US" sz="1900" dirty="0"/>
          </a:p>
        </p:txBody>
      </p:sp>
      <p:pic>
        <p:nvPicPr>
          <p:cNvPr id="87" name="ภาพ component_lcd1602_front.svg" descr="ภาพ component_lcd1602_front.sv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2793" y="23303850"/>
            <a:ext cx="3277210" cy="1435974"/>
          </a:xfrm>
          <a:prstGeom prst="rect">
            <a:avLst/>
          </a:prstGeom>
        </p:spPr>
      </p:pic>
      <p:sp>
        <p:nvSpPr>
          <p:cNvPr id="88" name="ข้อความ: LCD1602 + I²C"/>
          <p:cNvSpPr txBox="1"/>
          <p:nvPr/>
        </p:nvSpPr>
        <p:spPr>
          <a:xfrm>
            <a:off x="5522793" y="24768444"/>
            <a:ext cx="3277210" cy="399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LCD1602 + I²C</a:t>
            </a:r>
            <a:endParaRPr lang="en-US" sz="2100" dirty="0"/>
          </a:p>
        </p:txBody>
      </p:sp>
      <p:sp>
        <p:nvSpPr>
          <p:cNvPr id="89" name="ข้อความ: จอแสดงผล · 70 ฿"/>
          <p:cNvSpPr txBox="1"/>
          <p:nvPr/>
        </p:nvSpPr>
        <p:spPr>
          <a:xfrm>
            <a:off x="5522793" y="25084552"/>
            <a:ext cx="3277210" cy="399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19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จอแสดงผล · 70 ฿</a:t>
            </a:r>
            <a:endParaRPr lang="en-US" sz="1900" dirty="0"/>
          </a:p>
        </p:txBody>
      </p:sp>
      <p:sp>
        <p:nvSpPr>
          <p:cNvPr id="90" name="ข้อความ: ภาพ: Adafruit Industries (CC BY-SA…"/>
          <p:cNvSpPr txBox="1"/>
          <p:nvPr/>
        </p:nvSpPr>
        <p:spPr>
          <a:xfrm>
            <a:off x="800009" y="25492009"/>
            <a:ext cx="7999994" cy="266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th-TH" altLang="en-US" sz="13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ภาพ: Adafruit Industries (CC BY-SA) · Tpkull / Wikimedia Commons (CC BY-SA 4.0)</a:t>
            </a:r>
            <a:endParaRPr lang="en-US" sz="1300" dirty="0"/>
          </a:p>
        </p:txBody>
      </p:sp>
      <p:sp>
        <p:nvSpPr>
          <p:cNvPr id="91" name="ข้อความ: LightCheck KM ต้นทุนจริง"/>
          <p:cNvSpPr txBox="1"/>
          <p:nvPr/>
        </p:nvSpPr>
        <p:spPr>
          <a:xfrm>
            <a:off x="800009" y="26023824"/>
            <a:ext cx="2158624" cy="57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1900" dirty="0">
                <a:solidFill>
                  <a:srgbClr val="14202B"/>
                </a:solidFill>
                <a:latin typeface="IBM Plex Sans Thai SemiBold" pitchFamily="34" charset="0"/>
                <a:ea typeface="IBM Plex Sans Thai SemiBold" pitchFamily="34" charset="-122"/>
                <a:cs typeface="IBM Plex Sans Thai SemiBold" pitchFamily="34" charset="-120"/>
              </a:rPr>
              <a:t>LightCheck KM</a:t>
            </a:r>
            <a:endParaRPr lang="en-US" sz="1900" dirty="0"/>
          </a:p>
          <a:p>
            <a:pPr algn="l" indent="0" marL="0">
              <a:lnSpc>
                <a:spcPts val="2280"/>
              </a:lnSpc>
              <a:buNone/>
            </a:pPr>
            <a:r>
              <a:rPr lang="th-TH" altLang="en-US" sz="19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ต้นทุนจริง</a:t>
            </a:r>
            <a:endParaRPr lang="en-US" sz="1900" dirty="0"/>
          </a:p>
        </p:txBody>
      </p:sp>
      <p:sp>
        <p:nvSpPr>
          <p:cNvPr id="92" name="แท่งเทียบราคา"/>
          <p:cNvSpPr/>
          <p:nvPr/>
        </p:nvSpPr>
        <p:spPr>
          <a:xfrm>
            <a:off x="3110972" y="26069453"/>
            <a:ext cx="79644" cy="380939"/>
          </a:xfrm>
          <a:prstGeom prst="rect">
            <a:avLst/>
          </a:prstGeom>
          <a:solidFill>
            <a:srgbClr val="00766A"/>
          </a:solidFill>
          <a:ln/>
        </p:spPr>
      </p:sp>
      <p:sp>
        <p:nvSpPr>
          <p:cNvPr id="93" name="ข้อความ: ≈ 385 ฿ (89 + 200 + 70 + PLA+ 54 g…"/>
          <p:cNvSpPr txBox="1"/>
          <p:nvPr/>
        </p:nvSpPr>
        <p:spPr>
          <a:xfrm>
            <a:off x="3974531" y="26052993"/>
            <a:ext cx="3940150" cy="399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900" dirty="0">
                <a:solidFill>
                  <a:srgbClr val="14202B"/>
                </a:solidFill>
                <a:latin typeface="IBM Plex Sans Thai SemiBold" pitchFamily="34" charset="0"/>
                <a:ea typeface="IBM Plex Sans Thai SemiBold" pitchFamily="34" charset="-122"/>
                <a:cs typeface="IBM Plex Sans Thai SemiBold" pitchFamily="34" charset="-120"/>
              </a:rPr>
              <a:t>≈ 385 ฿ </a:t>
            </a:r>
            <a:pPr algn="l" indent="0" marL="0">
              <a:buNone/>
            </a:pPr>
            <a:r>
              <a:rPr lang="en-US" altLang="en-US" sz="16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(89 + 200 + 70 + PLA+ 54 g ≈ 26)</a:t>
            </a:r>
            <a:endParaRPr lang="en-US" sz="1900" dirty="0"/>
          </a:p>
        </p:txBody>
      </p:sp>
      <p:sp>
        <p:nvSpPr>
          <p:cNvPr id="94" name="ข้อความ: HIOKI FT3424 ถูกที่สุดที่สำรวจได้"/>
          <p:cNvSpPr txBox="1"/>
          <p:nvPr/>
        </p:nvSpPr>
        <p:spPr>
          <a:xfrm>
            <a:off x="800009" y="26678900"/>
            <a:ext cx="2158624" cy="57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1900" dirty="0">
                <a:solidFill>
                  <a:srgbClr val="14202B"/>
                </a:solidFill>
                <a:latin typeface="IBM Plex Sans Thai SemiBold" pitchFamily="34" charset="0"/>
                <a:ea typeface="IBM Plex Sans Thai SemiBold" pitchFamily="34" charset="-122"/>
                <a:cs typeface="IBM Plex Sans Thai SemiBold" pitchFamily="34" charset="-120"/>
              </a:rPr>
              <a:t>HIOKI FT3424</a:t>
            </a:r>
            <a:endParaRPr lang="en-US" sz="1900" dirty="0"/>
          </a:p>
          <a:p>
            <a:pPr algn="l" indent="0" marL="0">
              <a:lnSpc>
                <a:spcPts val="2280"/>
              </a:lnSpc>
              <a:buNone/>
            </a:pPr>
            <a:r>
              <a:rPr lang="th-TH" altLang="en-US" sz="19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ถูกที่สุดที่สำรวจได้</a:t>
            </a:r>
            <a:endParaRPr lang="en-US" sz="1900" dirty="0"/>
          </a:p>
        </p:txBody>
      </p:sp>
      <p:sp>
        <p:nvSpPr>
          <p:cNvPr id="95" name="แท่งเทียบราคา #2"/>
          <p:cNvSpPr/>
          <p:nvPr/>
        </p:nvSpPr>
        <p:spPr>
          <a:xfrm>
            <a:off x="3110972" y="26724529"/>
            <a:ext cx="4525183" cy="380939"/>
          </a:xfrm>
          <a:prstGeom prst="rect">
            <a:avLst/>
          </a:prstGeom>
          <a:solidFill>
            <a:srgbClr val="2163A1"/>
          </a:solidFill>
          <a:ln/>
        </p:spPr>
      </p:sp>
      <p:sp>
        <p:nvSpPr>
          <p:cNvPr id="96" name="ข้อความ: 28,184 ฿"/>
          <p:cNvSpPr txBox="1"/>
          <p:nvPr/>
        </p:nvSpPr>
        <p:spPr>
          <a:xfrm>
            <a:off x="7788585" y="26708070"/>
            <a:ext cx="1011418" cy="399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900" dirty="0">
                <a:solidFill>
                  <a:srgbClr val="14202B"/>
                </a:solidFill>
                <a:latin typeface="IBM Plex Sans Thai SemiBold" pitchFamily="34" charset="0"/>
                <a:ea typeface="IBM Plex Sans Thai SemiBold" pitchFamily="34" charset="-122"/>
                <a:cs typeface="IBM Plex Sans Thai SemiBold" pitchFamily="34" charset="-120"/>
              </a:rPr>
              <a:t>28,184 ฿</a:t>
            </a:r>
            <a:endParaRPr lang="en-US" sz="1900" dirty="0"/>
          </a:p>
        </p:txBody>
      </p:sp>
      <p:sp>
        <p:nvSpPr>
          <p:cNvPr id="97" name="ข้อความ: HIOKI FT3424 (ญี่ปุ่น, JIS C 1609-…"/>
          <p:cNvSpPr txBox="1"/>
          <p:nvPr/>
        </p:nvSpPr>
        <p:spPr>
          <a:xfrm>
            <a:off x="800009" y="27226809"/>
            <a:ext cx="799999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th-TH" altLang="en-US" sz="145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HIOKI FT3424 (ญี่ปุ่น, JIS C 1609-1 AA / DIN 5032-7 B) 26,340 ฿ + VAT 7% = 28,183.80 ฿ [7]</a:t>
            </a:r>
            <a:endParaRPr lang="en-US" sz="1450" dirty="0"/>
          </a:p>
        </p:txBody>
      </p:sp>
      <p:sp>
        <p:nvSpPr>
          <p:cNvPr id="98" name="กล่องพื้นหลัง #2"/>
          <p:cNvSpPr/>
          <p:nvPr/>
        </p:nvSpPr>
        <p:spPr>
          <a:xfrm>
            <a:off x="800009" y="27665355"/>
            <a:ext cx="7999994" cy="1371417"/>
          </a:xfrm>
          <a:prstGeom prst="roundRect">
            <a:avLst>
              <a:gd name="adj" fmla="val 12962"/>
            </a:avLst>
          </a:prstGeom>
          <a:solidFill>
            <a:srgbClr val="DFF0EC"/>
          </a:solidFill>
          <a:ln/>
        </p:spPr>
      </p:sp>
      <p:sp>
        <p:nvSpPr>
          <p:cNvPr id="99" name="ข้อความ: ~73×"/>
          <p:cNvSpPr txBox="1"/>
          <p:nvPr/>
        </p:nvSpPr>
        <p:spPr>
          <a:xfrm>
            <a:off x="1079358" y="27665355"/>
            <a:ext cx="1820388" cy="13714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7200" dirty="0">
                <a:solidFill>
                  <a:srgbClr val="00766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~73×</a:t>
            </a:r>
            <a:endParaRPr lang="en-US" sz="7200" dirty="0"/>
          </a:p>
        </p:txBody>
      </p:sp>
      <p:sp>
        <p:nvSpPr>
          <p:cNvPr id="100" name="ข้อความ: ถูกกว่า แต่ไม่ได้เทียบเท่า: ต้นแบบ…"/>
          <p:cNvSpPr txBox="1"/>
          <p:nvPr/>
        </p:nvSpPr>
        <p:spPr>
          <a:xfrm>
            <a:off x="3128254" y="28046934"/>
            <a:ext cx="5446349" cy="67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th-TH" altLang="en-US" sz="2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ถูกกว่า แต่</a:t>
            </a:r>
            <a:pPr algn="l" indent="0" marL="0">
              <a:lnSpc>
                <a:spcPts val="2660"/>
              </a:lnSpc>
              <a:buNone/>
            </a:pPr>
            <a:r>
              <a:rPr lang="th-TH" altLang="en-US" sz="20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ไม่ได้เทียบเท่า</a:t>
            </a:r>
            <a:pPr algn="l" indent="0" marL="0">
              <a:lnSpc>
                <a:spcPts val="2660"/>
              </a:lnSpc>
              <a:buNone/>
            </a:pPr>
            <a:r>
              <a:rPr lang="th-TH" altLang="en-US" sz="2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: ต้นแบบหลายเครื่อง = คัดกรองให้ทั่ว · เครื่องมาตรฐาน = ยืนยันผลทางการ</a:t>
            </a:r>
            <a:endParaRPr lang="en-US" sz="2000" dirty="0"/>
          </a:p>
        </p:txBody>
      </p:sp>
      <p:sp>
        <p:nvSpPr>
          <p:cNvPr id="101" name="ข้อความ: ใครใช้ประโยชน์ได้อย่างไร"/>
          <p:cNvSpPr txBox="1"/>
          <p:nvPr/>
        </p:nvSpPr>
        <p:spPr>
          <a:xfrm>
            <a:off x="800009" y="29249370"/>
            <a:ext cx="7999994" cy="552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9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ใครใช้ประโยชน์ได้อย่างไร</a:t>
            </a:r>
            <a:endParaRPr lang="en-US" sz="2900" dirty="0"/>
          </a:p>
        </p:txBody>
      </p:sp>
      <p:sp>
        <p:nvSpPr>
          <p:cNvPr id="102" name="กล่องพื้นหลัง #3"/>
          <p:cNvSpPr/>
          <p:nvPr/>
        </p:nvSpPr>
        <p:spPr>
          <a:xfrm>
            <a:off x="800009" y="29815749"/>
            <a:ext cx="3911163" cy="1252088"/>
          </a:xfrm>
          <a:prstGeom prst="roundRect">
            <a:avLst>
              <a:gd name="adj" fmla="val 14197"/>
            </a:avLst>
          </a:prstGeom>
          <a:solidFill>
            <a:srgbClr val="E3EFF6"/>
          </a:solidFill>
          <a:ln/>
        </p:spPr>
      </p:sp>
      <p:sp>
        <p:nvSpPr>
          <p:cNvPr id="103" name="ข้อความ: คณะ / ส่วนงาน"/>
          <p:cNvSpPr txBox="1"/>
          <p:nvPr/>
        </p:nvSpPr>
        <p:spPr>
          <a:xfrm>
            <a:off x="1003097" y="29949069"/>
            <a:ext cx="3504895" cy="399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100" dirty="0">
                <a:solidFill>
                  <a:srgbClr val="00766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คณะ / ส่วนงาน</a:t>
            </a:r>
            <a:endParaRPr lang="en-US" sz="2100" dirty="0"/>
          </a:p>
        </p:txBody>
      </p:sp>
      <p:sp>
        <p:nvSpPr>
          <p:cNvPr id="104" name="ข้อความ: ไม่ต้องมีพื้นฐาน: ยืมเครื่อง → จดค…"/>
          <p:cNvSpPr txBox="1"/>
          <p:nvPr/>
        </p:nvSpPr>
        <p:spPr>
          <a:xfrm>
            <a:off x="1003097" y="30368504"/>
            <a:ext cx="3539917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1"/>
              </a:lnSpc>
              <a:buNone/>
            </a:pPr>
            <a:r>
              <a:rPr lang="th-TH" altLang="en-US" sz="17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ไม่ต้องมีพื้นฐาน: ยืมเครื่อง → จดค่าเมื่อจอขึ้น * → ส่งจุดเสี่ยงยืนยัน</a:t>
            </a:r>
            <a:endParaRPr lang="en-US" sz="1700" dirty="0"/>
          </a:p>
        </p:txBody>
      </p:sp>
      <p:sp>
        <p:nvSpPr>
          <p:cNvPr id="105" name="กล่องพื้นหลัง #4"/>
          <p:cNvSpPr/>
          <p:nvPr/>
        </p:nvSpPr>
        <p:spPr>
          <a:xfrm>
            <a:off x="4888840" y="29815749"/>
            <a:ext cx="3911163" cy="1252088"/>
          </a:xfrm>
          <a:prstGeom prst="roundRect">
            <a:avLst>
              <a:gd name="adj" fmla="val 14197"/>
            </a:avLst>
          </a:prstGeom>
          <a:solidFill>
            <a:srgbClr val="E3EFF6"/>
          </a:solidFill>
          <a:ln/>
        </p:spPr>
      </p:sp>
      <p:sp>
        <p:nvSpPr>
          <p:cNvPr id="106" name="ข้อความ: เจ้าหน้าที่เทคนิค / นักวิจัย"/>
          <p:cNvSpPr txBox="1"/>
          <p:nvPr/>
        </p:nvSpPr>
        <p:spPr>
          <a:xfrm>
            <a:off x="5091928" y="29949069"/>
            <a:ext cx="3504895" cy="399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1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เจ้าหน้าที่เทคนิค / นักวิจัย</a:t>
            </a:r>
            <a:endParaRPr lang="en-US" sz="2100" dirty="0"/>
          </a:p>
        </p:txBody>
      </p:sp>
      <p:sp>
        <p:nvSpPr>
          <p:cNvPr id="107" name="ข้อความ: ต่อยอด: Wi-Fi + dashboard, เชื่อม …"/>
          <p:cNvSpPr txBox="1"/>
          <p:nvPr/>
        </p:nvSpPr>
        <p:spPr>
          <a:xfrm>
            <a:off x="5091928" y="30368504"/>
            <a:ext cx="3539917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1"/>
              </a:lnSpc>
              <a:buNone/>
            </a:pPr>
            <a:r>
              <a:rPr lang="th-TH" altLang="en-US" sz="17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ต่อยอด: Wi-Fi + dashboard, เชื่อม SU Green Office, เพิ่ม CO₂/อุณหภูมิ/เสียง</a:t>
            </a:r>
            <a:endParaRPr lang="en-US" sz="1700" dirty="0"/>
          </a:p>
        </p:txBody>
      </p:sp>
      <p:sp>
        <p:nvSpPr>
          <p:cNvPr id="108" name="ข้อความ: REFERENCES"/>
          <p:cNvSpPr txBox="1"/>
          <p:nvPr/>
        </p:nvSpPr>
        <p:spPr>
          <a:xfrm>
            <a:off x="800009" y="31120690"/>
            <a:ext cx="7999994" cy="761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4000" spc="100" kern="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109" name="เส้นใต้หัวข้อ #2"/>
          <p:cNvSpPr/>
          <p:nvPr/>
        </p:nvSpPr>
        <p:spPr>
          <a:xfrm>
            <a:off x="800009" y="31888877"/>
            <a:ext cx="7999994" cy="88880"/>
          </a:xfrm>
          <a:prstGeom prst="rect">
            <a:avLst/>
          </a:prstGeom>
          <a:solidFill>
            <a:srgbClr val="2163A1"/>
          </a:solidFill>
          <a:ln/>
        </p:spPr>
      </p:sp>
      <p:sp>
        <p:nvSpPr>
          <p:cNvPr id="110" name="ข้อความ: 1. ทส. (2569). เกณฑ์ Green Office …"/>
          <p:cNvSpPr txBox="1"/>
          <p:nvPr/>
        </p:nvSpPr>
        <p:spPr>
          <a:xfrm>
            <a:off x="800009" y="32066545"/>
            <a:ext cx="388574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-304762" marL="304762">
              <a:buNone/>
            </a:pPr>
            <a:r>
              <a:rPr lang="th-TH" altLang="en-US" sz="14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1. ทส. (2569). เกณฑ์ Green Office ปี 2569</a:t>
            </a:r>
            <a:endParaRPr lang="en-US" sz="1450" dirty="0"/>
          </a:p>
        </p:txBody>
      </p:sp>
      <p:sp>
        <p:nvSpPr>
          <p:cNvPr id="111" name="ข้อความ: 6. Lorenzo et al. (2022). Sensors …"/>
          <p:cNvSpPr txBox="1"/>
          <p:nvPr/>
        </p:nvSpPr>
        <p:spPr>
          <a:xfrm>
            <a:off x="4914260" y="32066545"/>
            <a:ext cx="388574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-304762" marL="304762">
              <a:buNone/>
            </a:pPr>
            <a:r>
              <a:rPr lang="en-US" altLang="en-US" sz="14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6. Lorenzo et al. (2022). Sensors 22(19), 7107</a:t>
            </a:r>
            <a:endParaRPr lang="en-US" sz="1450" dirty="0"/>
          </a:p>
        </p:txBody>
      </p:sp>
      <p:sp>
        <p:nvSpPr>
          <p:cNvPr id="112" name="ข้อความ: 2. กสร. (2561). มาตรฐานความเข้มแสง…"/>
          <p:cNvSpPr txBox="1"/>
          <p:nvPr/>
        </p:nvSpPr>
        <p:spPr>
          <a:xfrm>
            <a:off x="800009" y="32340133"/>
            <a:ext cx="388574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-304762" marL="304762">
              <a:buNone/>
            </a:pPr>
            <a:r>
              <a:rPr lang="th-TH" altLang="en-US" sz="14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2. กสร. (2561). มาตรฐานความเข้มแสงสว่าง</a:t>
            </a:r>
            <a:endParaRPr lang="en-US" sz="1450" dirty="0"/>
          </a:p>
        </p:txBody>
      </p:sp>
      <p:sp>
        <p:nvSpPr>
          <p:cNvPr id="113" name="ข้อความ: 7. HIOKI. FT3424 Lux meter specifi…"/>
          <p:cNvSpPr txBox="1"/>
          <p:nvPr/>
        </p:nvSpPr>
        <p:spPr>
          <a:xfrm>
            <a:off x="4914260" y="32340133"/>
            <a:ext cx="388574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-304762" marL="304762">
              <a:buNone/>
            </a:pPr>
            <a:r>
              <a:rPr lang="en-US" altLang="en-US" sz="14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7. HIOKI. FT3424 Lux meter specifications</a:t>
            </a:r>
            <a:endParaRPr lang="en-US" sz="1450" dirty="0"/>
          </a:p>
        </p:txBody>
      </p:sp>
      <p:sp>
        <p:nvSpPr>
          <p:cNvPr id="114" name="ข้อความ: 3. กสร. (2561). หลักเกณฑ์การตรวจวั…"/>
          <p:cNvSpPr txBox="1"/>
          <p:nvPr/>
        </p:nvSpPr>
        <p:spPr>
          <a:xfrm>
            <a:off x="800009" y="32613813"/>
            <a:ext cx="388574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-304762" marL="304762">
              <a:buNone/>
            </a:pPr>
            <a:r>
              <a:rPr lang="th-TH" altLang="en-US" sz="14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3. กสร. (2561). หลักเกณฑ์การตรวจวัดแสง</a:t>
            </a:r>
            <a:endParaRPr lang="en-US" sz="1450" dirty="0"/>
          </a:p>
        </p:txBody>
      </p:sp>
      <p:sp>
        <p:nvSpPr>
          <p:cNvPr id="115" name="ข้อความ: 8. HSE (1997). Lighting at work, H…"/>
          <p:cNvSpPr txBox="1"/>
          <p:nvPr/>
        </p:nvSpPr>
        <p:spPr>
          <a:xfrm>
            <a:off x="4914260" y="32613813"/>
            <a:ext cx="388574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-304762" marL="304762">
              <a:buNone/>
            </a:pPr>
            <a:r>
              <a:rPr lang="en-US" altLang="en-US" sz="14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8. HSE (1997). Lighting at work, HSG38</a:t>
            </a:r>
            <a:endParaRPr lang="en-US" sz="1450" dirty="0"/>
          </a:p>
        </p:txBody>
      </p:sp>
      <p:sp>
        <p:nvSpPr>
          <p:cNvPr id="116" name="ข้อความ: 4. Adafruit. TSL2591 sensor guide"/>
          <p:cNvSpPr txBox="1"/>
          <p:nvPr/>
        </p:nvSpPr>
        <p:spPr>
          <a:xfrm>
            <a:off x="800009" y="32887493"/>
            <a:ext cx="388574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-304762" marL="304762">
              <a:buNone/>
            </a:pPr>
            <a:r>
              <a:rPr lang="en-US" altLang="en-US" sz="14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4. Adafruit. TSL2591 sensor guide</a:t>
            </a:r>
            <a:endParaRPr lang="en-US" sz="1450" dirty="0"/>
          </a:p>
        </p:txBody>
      </p:sp>
      <p:sp>
        <p:nvSpPr>
          <p:cNvPr id="117" name="ข้อความ: 9. CCOHS (2025). Lighting Ergonomi…"/>
          <p:cNvSpPr txBox="1"/>
          <p:nvPr/>
        </p:nvSpPr>
        <p:spPr>
          <a:xfrm>
            <a:off x="4914260" y="32887493"/>
            <a:ext cx="388574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-304762" marL="304762">
              <a:buNone/>
            </a:pPr>
            <a:r>
              <a:rPr lang="en-US" altLang="en-US" sz="14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9. CCOHS (2025). Lighting Ergonomics</a:t>
            </a:r>
            <a:endParaRPr lang="en-US" sz="1450" dirty="0"/>
          </a:p>
        </p:txBody>
      </p:sp>
      <p:sp>
        <p:nvSpPr>
          <p:cNvPr id="118" name="ข้อความ: 5. ams (2018). TSL2591 datasheet"/>
          <p:cNvSpPr txBox="1"/>
          <p:nvPr/>
        </p:nvSpPr>
        <p:spPr>
          <a:xfrm>
            <a:off x="800009" y="33161173"/>
            <a:ext cx="388574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-304762" marL="304762">
              <a:buNone/>
            </a:pPr>
            <a:r>
              <a:rPr lang="en-US" altLang="en-US" sz="14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5. ams (2018). TSL2591 datasheet</a:t>
            </a:r>
            <a:endParaRPr lang="en-US" sz="1450" dirty="0"/>
          </a:p>
        </p:txBody>
      </p:sp>
      <p:sp>
        <p:nvSpPr>
          <p:cNvPr id="119" name="ข้อความ: 10. DOE/PNNL (2016). Photometric F…"/>
          <p:cNvSpPr txBox="1"/>
          <p:nvPr/>
        </p:nvSpPr>
        <p:spPr>
          <a:xfrm>
            <a:off x="4914260" y="33161173"/>
            <a:ext cx="388574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-304762" marL="304762">
              <a:buNone/>
            </a:pPr>
            <a:r>
              <a:rPr lang="en-US" altLang="en-US" sz="14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10. DOE/PNNL (2016). Photometric Flicker</a:t>
            </a:r>
            <a:endParaRPr lang="en-US" sz="1450" dirty="0"/>
          </a:p>
        </p:txBody>
      </p:sp>
      <p:sp>
        <p:nvSpPr>
          <p:cNvPr id="120" name="ข้อความ: METHODS"/>
          <p:cNvSpPr txBox="1"/>
          <p:nvPr/>
        </p:nvSpPr>
        <p:spPr>
          <a:xfrm>
            <a:off x="10400020" y="5380970"/>
            <a:ext cx="7999994" cy="1057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5600" spc="100" kern="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METHODS</a:t>
            </a:r>
            <a:endParaRPr lang="en-US" sz="5600" dirty="0"/>
          </a:p>
        </p:txBody>
      </p:sp>
      <p:sp>
        <p:nvSpPr>
          <p:cNvPr id="121" name="ข้อความ: แนวคิดและกระบวนการดำเนินงาน"/>
          <p:cNvSpPr txBox="1"/>
          <p:nvPr/>
        </p:nvSpPr>
        <p:spPr>
          <a:xfrm>
            <a:off x="10400020" y="6254039"/>
            <a:ext cx="7999994" cy="476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2300" dirty="0">
                <a:solidFill>
                  <a:srgbClr val="4A5866"/>
                </a:solidFill>
                <a:latin typeface="IBM Plex Sans Thai Medium" pitchFamily="34" charset="0"/>
                <a:ea typeface="IBM Plex Sans Thai Medium" pitchFamily="34" charset="-122"/>
                <a:cs typeface="IBM Plex Sans Thai Medium" pitchFamily="34" charset="-120"/>
              </a:rPr>
              <a:t>แนวคิดและกระบวนการดำเนินงาน</a:t>
            </a:r>
            <a:endParaRPr lang="en-US" sz="2300" dirty="0"/>
          </a:p>
        </p:txBody>
      </p:sp>
      <p:sp>
        <p:nvSpPr>
          <p:cNvPr id="122" name="เส้นใต้หัวข้อ #3"/>
          <p:cNvSpPr/>
          <p:nvPr/>
        </p:nvSpPr>
        <p:spPr>
          <a:xfrm>
            <a:off x="10400020" y="6793718"/>
            <a:ext cx="7999994" cy="88880"/>
          </a:xfrm>
          <a:prstGeom prst="rect">
            <a:avLst/>
          </a:prstGeom>
          <a:solidFill>
            <a:srgbClr val="2163A1"/>
          </a:solidFill>
          <a:ln/>
        </p:spPr>
      </p:sp>
      <p:pic>
        <p:nvPicPr>
          <p:cNvPr id="123" name="ภาพ wiring_diagram.svg" descr="ภาพ wiring_diagram.sv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5910" y="7111197"/>
            <a:ext cx="7568123" cy="5423855"/>
          </a:xfrm>
          <a:prstGeom prst="rect">
            <a:avLst/>
          </a:prstGeom>
        </p:spPr>
      </p:pic>
      <p:sp>
        <p:nvSpPr>
          <p:cNvPr id="124" name="ข้อความ: ภาพที่ 2 ผังวงจร: I²C ร่วม 2 สาย (…"/>
          <p:cNvSpPr txBox="1"/>
          <p:nvPr/>
        </p:nvSpPr>
        <p:spPr>
          <a:xfrm>
            <a:off x="10400020" y="12612868"/>
            <a:ext cx="8080004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1"/>
              </a:lnSpc>
              <a:buNone/>
            </a:pPr>
            <a:r>
              <a:rPr lang="th-TH" altLang="en-US" sz="17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ภาพที่ 2</a:t>
            </a:r>
            <a:pPr algn="l" indent="0" marL="0">
              <a:lnSpc>
                <a:spcPts val="2261"/>
              </a:lnSpc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ผังวงจร: I²C ร่วม 2 สาย (SDA = D2, SCL = D1) · TSL2591 0x29 · LCD 0x3F · ไฟเลี้ยง USB-C 5 V จาก power bank</a:t>
            </a:r>
            <a:endParaRPr lang="en-US" sz="1700" dirty="0"/>
          </a:p>
        </p:txBody>
      </p:sp>
      <p:sp>
        <p:nvSpPr>
          <p:cNvPr id="125" name="ข้อความ: กล่องพิมพ์ 3 มิติ (ไฟล์ STL เปิดให…"/>
          <p:cNvSpPr txBox="1"/>
          <p:nvPr/>
        </p:nvSpPr>
        <p:spPr>
          <a:xfrm>
            <a:off x="10400020" y="13296290"/>
            <a:ext cx="7999994" cy="552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9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กล่องพิมพ์ 3 มิติ (ไฟล์ STL เปิดให้ดาวน์โหลด)</a:t>
            </a:r>
            <a:endParaRPr lang="en-US" sz="2900" dirty="0"/>
          </a:p>
        </p:txBody>
      </p:sp>
      <p:pic>
        <p:nvPicPr>
          <p:cNvPr id="126" name="ภาพ enclosure_hero.png" descr="ภาพ enclosure_her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34979" y="13811921"/>
            <a:ext cx="6730075" cy="4090660"/>
          </a:xfrm>
          <a:prstGeom prst="rect">
            <a:avLst/>
          </a:prstGeom>
        </p:spPr>
      </p:pic>
      <p:sp>
        <p:nvSpPr>
          <p:cNvPr id="127" name="ข้อความ: ภาพที่ 3 Render จากไฟล์ STL · 108×…"/>
          <p:cNvSpPr txBox="1"/>
          <p:nvPr/>
        </p:nvSpPr>
        <p:spPr>
          <a:xfrm>
            <a:off x="10400020" y="17980487"/>
            <a:ext cx="8080004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1"/>
              </a:lnSpc>
              <a:buNone/>
            </a:pPr>
            <a:r>
              <a:rPr lang="th-TH" altLang="en-US" sz="17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ภาพที่ 3</a:t>
            </a:r>
            <a:pPr algn="l" indent="0" marL="0">
              <a:lnSpc>
                <a:spcPts val="2261"/>
              </a:lnSpc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Render จากไฟล์ STL · 108×63×26 มม. · หัวรับแสงเสมอผิวฝา ไม่มีขอบบังแสง · ช่องนอต 1/4" ใต้กล่องสำหรับขาตั้งกล้องที่ระดับ 75 ซม.</a:t>
            </a:r>
            <a:endParaRPr lang="en-US" sz="1700" dirty="0"/>
          </a:p>
        </p:txBody>
      </p:sp>
      <p:pic>
        <p:nvPicPr>
          <p:cNvPr id="128" name="ภาพที่ 4 พิมพ์กล่อง Ender-6" descr="ภาพที่ 4 พิมพ์กล่อง Ender-6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00020" y="18654309"/>
            <a:ext cx="3873033" cy="2857134"/>
          </a:xfrm>
          <a:prstGeom prst="roundRect">
            <a:avLst>
              <a:gd name="adj" fmla="val 6222"/>
            </a:avLst>
          </a:prstGeom>
        </p:spPr>
      </p:pic>
      <p:sp>
        <p:nvSpPr>
          <p:cNvPr id="129" name="ข้อความ: ภาพที่ 4 พิมพ์ด้วย Creality Ender-…"/>
          <p:cNvSpPr txBox="1"/>
          <p:nvPr/>
        </p:nvSpPr>
        <p:spPr>
          <a:xfrm>
            <a:off x="10400020" y="21524062"/>
            <a:ext cx="3873033" cy="352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7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ภาพที่ 4</a:t>
            </a:r>
            <a:pPr algn="l" indent="0" marL="0"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พิมพ์ด้วย Creality Ender-6</a:t>
            </a:r>
            <a:endParaRPr lang="en-US" sz="1700" dirty="0"/>
          </a:p>
        </p:txBody>
      </p:sp>
      <p:pic>
        <p:nvPicPr>
          <p:cNvPr id="130" name="ภาพที่ 5 (คลิกขวา &gt; Change Picture เพื่อใส่รูปเครื่องจริง)" descr="ภาพที่ 5 (คลิกขวา &gt; Change Picture เพื่อใส่รูปเครื่องจริง)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526890" y="18654309"/>
            <a:ext cx="3873033" cy="2857134"/>
          </a:xfrm>
          <a:prstGeom prst="roundRect">
            <a:avLst>
              <a:gd name="adj" fmla="val 6222"/>
            </a:avLst>
          </a:prstGeom>
        </p:spPr>
      </p:pic>
      <p:sp>
        <p:nvSpPr>
          <p:cNvPr id="131" name="ข้อความ: ภาพที่ 5 เครื่องที่ประกอบเสร็จ พร้…"/>
          <p:cNvSpPr txBox="1"/>
          <p:nvPr/>
        </p:nvSpPr>
        <p:spPr>
          <a:xfrm>
            <a:off x="14526890" y="21524062"/>
            <a:ext cx="3873033" cy="352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7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ภาพที่ 5</a:t>
            </a:r>
            <a:pPr algn="l" indent="0" marL="0"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เครื่องที่ประกอบเสร็จ พร้อมใช้</a:t>
            </a:r>
            <a:endParaRPr lang="en-US" sz="1700" dirty="0"/>
          </a:p>
        </p:txBody>
      </p:sp>
      <p:sp>
        <p:nvSpPr>
          <p:cNvPr id="132" name="ข้อความ: อัลกอริทึมใน firmware v1.1"/>
          <p:cNvSpPr txBox="1"/>
          <p:nvPr/>
        </p:nvSpPr>
        <p:spPr>
          <a:xfrm>
            <a:off x="10400020" y="21985742"/>
            <a:ext cx="7999994" cy="552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9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อัลกอริทึมใน firmware v1.1</a:t>
            </a:r>
            <a:endParaRPr lang="en-US" sz="2900" dirty="0"/>
          </a:p>
        </p:txBody>
      </p:sp>
      <p:sp>
        <p:nvSpPr>
          <p:cNvPr id="133" name="ข้อความ: 1 #2"/>
          <p:cNvSpPr/>
          <p:nvPr/>
        </p:nvSpPr>
        <p:spPr>
          <a:xfrm>
            <a:off x="10400020" y="22577359"/>
            <a:ext cx="457109" cy="457109"/>
          </a:xfrm>
          <a:prstGeom prst="roundRect">
            <a:avLst>
              <a:gd name="adj" fmla="val 25005"/>
            </a:avLst>
          </a:prstGeom>
          <a:solidFill>
            <a:srgbClr val="2163A1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134" name="ข้อความ: Self-check I²C ก่อนวัด ป้องกันการบ…"/>
          <p:cNvSpPr txBox="1"/>
          <p:nvPr/>
        </p:nvSpPr>
        <p:spPr>
          <a:xfrm>
            <a:off x="11009559" y="22504481"/>
            <a:ext cx="6425489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Self-check I²C</a:t>
            </a:r>
            <a:pPr algn="l" indent="0" marL="0">
              <a:buNone/>
            </a:pPr>
            <a:r>
              <a:rPr lang="th-TH" altLang="en-US" sz="2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ก่อนวัด ป้องกันการบันทึกค่าจากระบบที่ต่อผิด</a:t>
            </a:r>
            <a:endParaRPr lang="en-US" sz="2000" dirty="0"/>
          </a:p>
        </p:txBody>
      </p:sp>
      <p:sp>
        <p:nvSpPr>
          <p:cNvPr id="135" name="ข้อความ: 2 #2"/>
          <p:cNvSpPr/>
          <p:nvPr/>
        </p:nvSpPr>
        <p:spPr>
          <a:xfrm>
            <a:off x="10400020" y="23123256"/>
            <a:ext cx="457109" cy="457109"/>
          </a:xfrm>
          <a:prstGeom prst="roundRect">
            <a:avLst>
              <a:gd name="adj" fmla="val 25005"/>
            </a:avLst>
          </a:prstGeom>
          <a:solidFill>
            <a:srgbClr val="2163A1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136" name="ข้อความ: ตรวจ saturation ตาม datasheet (36,…"/>
          <p:cNvSpPr txBox="1"/>
          <p:nvPr/>
        </p:nvSpPr>
        <p:spPr>
          <a:xfrm>
            <a:off x="11009559" y="23050287"/>
            <a:ext cx="6513820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0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ตรวจ saturation</a:t>
            </a:r>
            <a:pPr algn="l" indent="0" marL="0">
              <a:buNone/>
            </a:pPr>
            <a:r>
              <a:rPr lang="th-TH" altLang="en-US" sz="2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ตาม datasheet (36,863 / 65,535 counts)</a:t>
            </a:r>
            <a:endParaRPr lang="en-US" sz="2000" dirty="0"/>
          </a:p>
        </p:txBody>
      </p:sp>
      <p:sp>
        <p:nvSpPr>
          <p:cNvPr id="137" name="ข้อความ: 3 #2"/>
          <p:cNvSpPr/>
          <p:nvPr/>
        </p:nvSpPr>
        <p:spPr>
          <a:xfrm>
            <a:off x="10400020" y="23669061"/>
            <a:ext cx="457109" cy="457109"/>
          </a:xfrm>
          <a:prstGeom prst="roundRect">
            <a:avLst>
              <a:gd name="adj" fmla="val 25005"/>
            </a:avLst>
          </a:prstGeom>
          <a:solidFill>
            <a:srgbClr val="2163A1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138" name="ข้อความ: Auto-range มี hysteresis: 100–2,90…"/>
          <p:cNvSpPr txBox="1"/>
          <p:nvPr/>
        </p:nvSpPr>
        <p:spPr>
          <a:xfrm>
            <a:off x="11009559" y="23596092"/>
            <a:ext cx="6809537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0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Auto-range มี hysteresis</a:t>
            </a:r>
            <a:pPr algn="l" indent="0" marL="0">
              <a:buNone/>
            </a:pPr>
            <a:r>
              <a:rPr lang="th-TH" altLang="en-US" sz="2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: 100–2,900 lx อ่านที่ gain 25× เสมอ</a:t>
            </a:r>
            <a:endParaRPr lang="en-US" sz="2000" dirty="0"/>
          </a:p>
        </p:txBody>
      </p:sp>
      <p:sp>
        <p:nvSpPr>
          <p:cNvPr id="139" name="ข้อความ: 4"/>
          <p:cNvSpPr/>
          <p:nvPr/>
        </p:nvSpPr>
        <p:spPr>
          <a:xfrm>
            <a:off x="10400020" y="24214866"/>
            <a:ext cx="457109" cy="457109"/>
          </a:xfrm>
          <a:prstGeom prst="roundRect">
            <a:avLst>
              <a:gd name="adj" fmla="val 25005"/>
            </a:avLst>
          </a:prstGeom>
          <a:solidFill>
            <a:srgbClr val="00766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140" name="ข้อความ: เฉลี่ย 5 รอบ ลดผล LED กะพริบ · จอแ…"/>
          <p:cNvSpPr txBox="1"/>
          <p:nvPr/>
        </p:nvSpPr>
        <p:spPr>
          <a:xfrm>
            <a:off x="11009559" y="24141989"/>
            <a:ext cx="6784208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0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เฉลี่ย 5 รอบ</a:t>
            </a:r>
            <a:pPr algn="l" indent="0" marL="0">
              <a:buNone/>
            </a:pPr>
            <a:r>
              <a:rPr lang="th-TH" altLang="en-US" sz="2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ลดผล LED กะพริบ · จอแสดง </a:t>
            </a:r>
            <a:pPr algn="l" indent="0" marL="0">
              <a:buNone/>
            </a:pPr>
            <a:r>
              <a:rPr lang="en-US" altLang="en-US" sz="20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*</a:t>
            </a:r>
            <a:pPr algn="l" indent="0" marL="0">
              <a:buNone/>
            </a:pPr>
            <a:r>
              <a:rPr lang="th-TH" altLang="en-US" sz="2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เมื่อค่านิ่ง (CV &lt; 2%)</a:t>
            </a:r>
            <a:endParaRPr lang="en-US" sz="2000" dirty="0"/>
          </a:p>
        </p:txBody>
      </p:sp>
      <p:sp>
        <p:nvSpPr>
          <p:cNvPr id="141" name="ข้อความ: 5"/>
          <p:cNvSpPr/>
          <p:nvPr/>
        </p:nvSpPr>
        <p:spPr>
          <a:xfrm>
            <a:off x="10400020" y="24760672"/>
            <a:ext cx="457109" cy="457109"/>
          </a:xfrm>
          <a:prstGeom prst="roundRect">
            <a:avLst>
              <a:gd name="adj" fmla="val 25005"/>
            </a:avLst>
          </a:prstGeom>
          <a:solidFill>
            <a:srgbClr val="00766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5</a:t>
            </a:r>
            <a:endParaRPr lang="en-US" sz="2100" dirty="0"/>
          </a:p>
        </p:txBody>
      </p:sp>
      <p:sp>
        <p:nvSpPr>
          <p:cNvPr id="142" name="ข้อความ: ชดเชย + traceability: บันทึก Raw/C…"/>
          <p:cNvSpPr txBox="1"/>
          <p:nvPr/>
        </p:nvSpPr>
        <p:spPr>
          <a:xfrm>
            <a:off x="11009559" y="24687794"/>
            <a:ext cx="6913870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0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ชดเชย + traceability</a:t>
            </a:r>
            <a:pPr algn="l" indent="0" marL="0">
              <a:buNone/>
            </a:pPr>
            <a:r>
              <a:rPr lang="th-TH" altLang="en-US" sz="2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: บันทึก Raw/Corrected, gain และรุ่นสมการ</a:t>
            </a:r>
            <a:endParaRPr lang="en-US" sz="2000" dirty="0"/>
          </a:p>
        </p:txBody>
      </p:sp>
      <p:sp>
        <p:nvSpPr>
          <p:cNvPr id="143" name="กล่องพื้นหลัง #5"/>
          <p:cNvSpPr/>
          <p:nvPr/>
        </p:nvSpPr>
        <p:spPr>
          <a:xfrm>
            <a:off x="10400020" y="25408158"/>
            <a:ext cx="7999994" cy="917235"/>
          </a:xfrm>
          <a:prstGeom prst="roundRect">
            <a:avLst>
              <a:gd name="adj" fmla="val 19380"/>
            </a:avLst>
          </a:prstGeom>
          <a:solidFill>
            <a:srgbClr val="DFF0EC"/>
          </a:solidFill>
          <a:ln/>
        </p:spPr>
      </p:sp>
      <p:pic>
        <p:nvPicPr>
          <p:cNvPr id="144" name="ภาพ #5" descr="ภาพ #5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28528" y="25612801"/>
            <a:ext cx="507858" cy="507858"/>
          </a:xfrm>
          <a:prstGeom prst="rect">
            <a:avLst/>
          </a:prstGeom>
        </p:spPr>
      </p:pic>
      <p:sp>
        <p:nvSpPr>
          <p:cNvPr id="145" name="ข้อความ: บทเรียนหน้างาน: LED สว่างตามขนาดกร…"/>
          <p:cNvSpPr txBox="1"/>
          <p:nvPr/>
        </p:nvSpPr>
        <p:spPr>
          <a:xfrm>
            <a:off x="11263396" y="25597165"/>
            <a:ext cx="6977146" cy="612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2"/>
              </a:lnSpc>
              <a:buNone/>
            </a:pPr>
            <a:r>
              <a:rPr lang="th-TH" altLang="en-US" sz="18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บทเรียนหน้างาน:</a:t>
            </a:r>
            <a:pPr algn="l" indent="0" marL="0">
              <a:lnSpc>
                <a:spcPts val="2412"/>
              </a:lnSpc>
              <a:buNone/>
            </a:pPr>
            <a:r>
              <a:rPr lang="th-TH" altLang="en-US" sz="18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LED สว่างตามขนาดกระแส วูบ 100 ครั้ง/วินาทีจากไฟ 50 Hz [10] → integration 300 ms (30 รอบพอดี) + เฉลี่ย 5 ค่า</a:t>
            </a:r>
            <a:endParaRPr lang="en-US" sz="1800" dirty="0"/>
          </a:p>
        </p:txBody>
      </p:sp>
      <p:sp>
        <p:nvSpPr>
          <p:cNvPr id="146" name="กล่องพื้นหลัง #6"/>
          <p:cNvSpPr/>
          <p:nvPr/>
        </p:nvSpPr>
        <p:spPr>
          <a:xfrm>
            <a:off x="10400020" y="26553902"/>
            <a:ext cx="7999994" cy="6754033"/>
          </a:xfrm>
          <a:prstGeom prst="roundRect">
            <a:avLst>
              <a:gd name="adj" fmla="val 2632"/>
            </a:avLst>
          </a:prstGeom>
          <a:solidFill>
            <a:srgbClr val="E3EFF6"/>
          </a:solidFill>
          <a:ln/>
        </p:spPr>
      </p:sp>
      <p:sp>
        <p:nvSpPr>
          <p:cNvPr id="147" name="ข้อความ: สมการชดเชยความคลาดเคลื่อน"/>
          <p:cNvSpPr txBox="1"/>
          <p:nvPr/>
        </p:nvSpPr>
        <p:spPr>
          <a:xfrm>
            <a:off x="10679278" y="26715750"/>
            <a:ext cx="7441387" cy="552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9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สมการชดเชยความคลาดเคลื่อน</a:t>
            </a:r>
            <a:endParaRPr lang="en-US" sz="2900" dirty="0"/>
          </a:p>
        </p:txBody>
      </p:sp>
      <p:sp>
        <p:nvSpPr>
          <p:cNvPr id="148" name="ข้อความ: ADC CH0, CH1"/>
          <p:cNvSpPr/>
          <p:nvPr/>
        </p:nvSpPr>
        <p:spPr>
          <a:xfrm>
            <a:off x="10679278" y="27296394"/>
            <a:ext cx="1595537" cy="719450"/>
          </a:xfrm>
          <a:prstGeom prst="roundRect">
            <a:avLst>
              <a:gd name="adj" fmla="val 15887"/>
            </a:avLst>
          </a:prstGeom>
          <a:solidFill>
            <a:srgbClr val="FFFFFF"/>
          </a:solidFill>
          <a:ln w="19050">
            <a:solidFill>
              <a:srgbClr val="2163A1"/>
            </a:solidFill>
            <a:prstDash val="solid"/>
          </a:ln>
        </p:spPr>
        <p:txBody>
          <a:bodyPr wrap="none" lIns="120650" tIns="141986" rIns="120650" bIns="48514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altLang="en-US" sz="17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ADC</a:t>
            </a:r>
            <a:endParaRPr lang="en-US" sz="1700" dirty="0"/>
          </a:p>
          <a:p>
            <a:pPr algn="ctr" indent="0" marL="0">
              <a:lnSpc>
                <a:spcPts val="2040"/>
              </a:lnSpc>
              <a:buNone/>
            </a:pPr>
            <a:r>
              <a:rPr lang="en-US" altLang="en-US" sz="17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CH</a:t>
            </a:r>
            <a:pPr algn="ctr" indent="0" marL="0">
              <a:lnSpc>
                <a:spcPts val="2040"/>
              </a:lnSpc>
              <a:buNone/>
            </a:pPr>
            <a:r>
              <a:rPr lang="en-US" altLang="en-US" sz="1700" baseline="-25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0</a:t>
            </a:r>
            <a:pPr algn="ctr" indent="0" marL="0">
              <a:lnSpc>
                <a:spcPts val="2040"/>
              </a:lnSpc>
              <a:buNone/>
            </a:pPr>
            <a:r>
              <a:rPr lang="en-US" altLang="en-US" sz="17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, CH</a:t>
            </a:r>
            <a:pPr algn="ctr" indent="0" marL="0">
              <a:lnSpc>
                <a:spcPts val="2040"/>
              </a:lnSpc>
              <a:buNone/>
            </a:pPr>
            <a:r>
              <a:rPr lang="en-US" altLang="en-US" sz="1700" baseline="-25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1</a:t>
            </a:r>
            <a:endParaRPr lang="en-US" sz="1700" dirty="0"/>
          </a:p>
        </p:txBody>
      </p:sp>
      <p:sp>
        <p:nvSpPr>
          <p:cNvPr id="149" name="ข้อความ: →"/>
          <p:cNvSpPr txBox="1"/>
          <p:nvPr/>
        </p:nvSpPr>
        <p:spPr>
          <a:xfrm>
            <a:off x="12325563" y="27421850"/>
            <a:ext cx="251460" cy="46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2163A1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→</a:t>
            </a:r>
            <a:endParaRPr lang="en-US" sz="2200" dirty="0"/>
          </a:p>
        </p:txBody>
      </p:sp>
      <p:sp>
        <p:nvSpPr>
          <p:cNvPr id="150" name="ข้อความ: Raw Lux Eraw"/>
          <p:cNvSpPr/>
          <p:nvPr/>
        </p:nvSpPr>
        <p:spPr>
          <a:xfrm>
            <a:off x="12627864" y="27282130"/>
            <a:ext cx="1595719" cy="748071"/>
          </a:xfrm>
          <a:prstGeom prst="roundRect">
            <a:avLst>
              <a:gd name="adj" fmla="val 15279"/>
            </a:avLst>
          </a:prstGeom>
          <a:solidFill>
            <a:srgbClr val="FFFFFF"/>
          </a:solidFill>
          <a:ln w="19050">
            <a:solidFill>
              <a:srgbClr val="2163A1"/>
            </a:solidFill>
            <a:prstDash val="solid"/>
          </a:ln>
        </p:spPr>
        <p:txBody>
          <a:bodyPr wrap="none" lIns="120650" tIns="126365" rIns="120650" bIns="64135" rtlCol="0" anchor="ctr"/>
          <a:lstStyle/>
          <a:p>
            <a:pPr algn="ctr" indent="0" marL="0">
              <a:lnSpc>
                <a:spcPts val="2285"/>
              </a:lnSpc>
              <a:buNone/>
            </a:pPr>
            <a:r>
              <a:rPr lang="en-US" altLang="en-US" sz="17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Raw Lux</a:t>
            </a:r>
            <a:endParaRPr lang="en-US" sz="1700" dirty="0"/>
          </a:p>
          <a:p>
            <a:pPr algn="ctr" indent="0" marL="0">
              <a:lnSpc>
                <a:spcPts val="2285"/>
              </a:lnSpc>
              <a:buNone/>
            </a:pPr>
            <a:r>
              <a:rPr lang="en-US" altLang="en-US" sz="1904" i="1" dirty="0">
                <a:solidFill>
                  <a:srgbClr val="142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lnSpc>
                <a:spcPts val="2285"/>
              </a:lnSpc>
              <a:buNone/>
            </a:pPr>
            <a:r>
              <a:rPr lang="en-US" altLang="en-US" sz="1700" baseline="-25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raw</a:t>
            </a:r>
            <a:endParaRPr lang="en-US" sz="1700" dirty="0"/>
          </a:p>
        </p:txBody>
      </p:sp>
      <p:sp>
        <p:nvSpPr>
          <p:cNvPr id="151" name="ข้อความ: → #2"/>
          <p:cNvSpPr txBox="1"/>
          <p:nvPr/>
        </p:nvSpPr>
        <p:spPr>
          <a:xfrm>
            <a:off x="14274241" y="27421850"/>
            <a:ext cx="251460" cy="46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2163A1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→</a:t>
            </a:r>
            <a:endParaRPr lang="en-US" sz="2200" dirty="0"/>
          </a:p>
        </p:txBody>
      </p:sp>
      <p:sp>
        <p:nvSpPr>
          <p:cNvPr id="152" name="ข้อความ: เฉลี่ย 5 ค่า Ēraw"/>
          <p:cNvSpPr/>
          <p:nvPr/>
        </p:nvSpPr>
        <p:spPr>
          <a:xfrm>
            <a:off x="14576450" y="27282130"/>
            <a:ext cx="1595537" cy="748071"/>
          </a:xfrm>
          <a:prstGeom prst="roundRect">
            <a:avLst>
              <a:gd name="adj" fmla="val 15279"/>
            </a:avLst>
          </a:prstGeom>
          <a:solidFill>
            <a:srgbClr val="FFFFFF"/>
          </a:solidFill>
          <a:ln w="19050">
            <a:solidFill>
              <a:srgbClr val="2163A1"/>
            </a:solidFill>
            <a:prstDash val="solid"/>
          </a:ln>
        </p:spPr>
        <p:txBody>
          <a:bodyPr wrap="none" lIns="120650" tIns="126365" rIns="120650" bIns="64135" rtlCol="0" anchor="ctr"/>
          <a:lstStyle/>
          <a:p>
            <a:pPr algn="ctr" indent="0" marL="0">
              <a:lnSpc>
                <a:spcPts val="2285"/>
              </a:lnSpc>
              <a:buNone/>
            </a:pPr>
            <a:r>
              <a:rPr lang="th-TH" altLang="en-US" sz="17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เฉลี่ย 5 ค่า</a:t>
            </a:r>
            <a:endParaRPr lang="en-US" sz="1700" dirty="0"/>
          </a:p>
          <a:p>
            <a:pPr algn="ctr" indent="0" marL="0">
              <a:lnSpc>
                <a:spcPts val="2285"/>
              </a:lnSpc>
              <a:buNone/>
            </a:pPr>
            <a:r>
              <a:rPr lang="en-US" altLang="en-US" sz="1904" i="1" dirty="0">
                <a:solidFill>
                  <a:srgbClr val="142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Ē</a:t>
            </a:r>
            <a:pPr algn="ctr" indent="0" marL="0">
              <a:lnSpc>
                <a:spcPts val="2285"/>
              </a:lnSpc>
              <a:buNone/>
            </a:pPr>
            <a:r>
              <a:rPr lang="en-US" altLang="en-US" sz="1700" baseline="-25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raw</a:t>
            </a:r>
            <a:endParaRPr lang="en-US" sz="1700" dirty="0"/>
          </a:p>
        </p:txBody>
      </p:sp>
      <p:sp>
        <p:nvSpPr>
          <p:cNvPr id="153" name="ข้อความ: → #3"/>
          <p:cNvSpPr txBox="1"/>
          <p:nvPr/>
        </p:nvSpPr>
        <p:spPr>
          <a:xfrm>
            <a:off x="16222736" y="27421850"/>
            <a:ext cx="251460" cy="46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2163A1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→</a:t>
            </a:r>
            <a:endParaRPr lang="en-US" sz="2200" dirty="0"/>
          </a:p>
        </p:txBody>
      </p:sp>
      <p:sp>
        <p:nvSpPr>
          <p:cNvPr id="154" name="ข้อความ: ค่าหลังชดเชย Ecorr"/>
          <p:cNvSpPr/>
          <p:nvPr/>
        </p:nvSpPr>
        <p:spPr>
          <a:xfrm>
            <a:off x="16525037" y="27282130"/>
            <a:ext cx="1595719" cy="748071"/>
          </a:xfrm>
          <a:prstGeom prst="roundRect">
            <a:avLst>
              <a:gd name="adj" fmla="val 15279"/>
            </a:avLst>
          </a:prstGeom>
          <a:solidFill>
            <a:srgbClr val="FFFFFF"/>
          </a:solidFill>
          <a:ln w="19050">
            <a:solidFill>
              <a:srgbClr val="00766A"/>
            </a:solidFill>
            <a:prstDash val="solid"/>
          </a:ln>
        </p:spPr>
        <p:txBody>
          <a:bodyPr wrap="none" lIns="120650" tIns="126365" rIns="120650" bIns="64135" rtlCol="0" anchor="ctr"/>
          <a:lstStyle/>
          <a:p>
            <a:pPr algn="ctr" indent="0" marL="0">
              <a:lnSpc>
                <a:spcPts val="2285"/>
              </a:lnSpc>
              <a:buNone/>
            </a:pPr>
            <a:r>
              <a:rPr lang="th-TH" altLang="en-US" sz="17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ค่าหลังชดเชย</a:t>
            </a:r>
            <a:endParaRPr lang="en-US" sz="1700" dirty="0"/>
          </a:p>
          <a:p>
            <a:pPr algn="ctr" indent="0" marL="0">
              <a:lnSpc>
                <a:spcPts val="2285"/>
              </a:lnSpc>
              <a:buNone/>
            </a:pPr>
            <a:r>
              <a:rPr lang="en-US" altLang="en-US" sz="1904" i="1" dirty="0">
                <a:solidFill>
                  <a:srgbClr val="142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lnSpc>
                <a:spcPts val="2285"/>
              </a:lnSpc>
              <a:buNone/>
            </a:pPr>
            <a:r>
              <a:rPr lang="en-US" altLang="en-US" sz="1700" baseline="-25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corr</a:t>
            </a:r>
            <a:endParaRPr lang="en-US" sz="1700" dirty="0"/>
          </a:p>
        </p:txBody>
      </p:sp>
      <p:pic>
        <p:nvPicPr>
          <p:cNvPr id="155" name="สมการชดเชย (หลัก)" descr="สมการชดเชย (หลัก)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79278" y="28106370"/>
            <a:ext cx="7441387" cy="994227"/>
          </a:xfrm>
          <a:prstGeom prst="roundRect">
            <a:avLst>
              <a:gd name="adj" fmla="val 15327"/>
            </a:avLst>
          </a:prstGeom>
        </p:spPr>
      </p:pic>
      <p:pic>
        <p:nvPicPr>
          <p:cNvPr id="156" name="สมการ Raw lux และ CPL" descr="สมการ Raw lux และ CPL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79278" y="29202096"/>
            <a:ext cx="7441387" cy="821314"/>
          </a:xfrm>
          <a:prstGeom prst="rect">
            <a:avLst/>
          </a:prstGeom>
        </p:spPr>
      </p:pic>
      <p:pic>
        <p:nvPicPr>
          <p:cNvPr id="157" name="สมการ a และ b (least squares)" descr="สมการ a และ b (least squares)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79278" y="30099579"/>
            <a:ext cx="7441387" cy="889620"/>
          </a:xfrm>
          <a:prstGeom prst="rect">
            <a:avLst/>
          </a:prstGeom>
        </p:spPr>
      </p:pic>
      <p:sp>
        <p:nvSpPr>
          <p:cNvPr id="158" name="ข้อความ: x = Raw ของต้นแบบ, y = ค่าเครื่องอ…"/>
          <p:cNvSpPr txBox="1"/>
          <p:nvPr/>
        </p:nvSpPr>
        <p:spPr>
          <a:xfrm>
            <a:off x="10679278" y="31090972"/>
            <a:ext cx="7515819" cy="74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8"/>
              </a:lnSpc>
              <a:buNone/>
            </a:pPr>
            <a:r>
              <a:rPr lang="en-US" altLang="en-US" sz="2184" i="1" dirty="0">
                <a:solidFill>
                  <a:srgbClr val="142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lnSpc>
                <a:spcPts val="2948"/>
              </a:lnSpc>
              <a:buNone/>
            </a:pPr>
            <a:r>
              <a:rPr lang="th-TH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= Raw ของต้นแบบ, 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2184" i="1" dirty="0">
                <a:solidFill>
                  <a:srgbClr val="142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l" indent="0" marL="0">
              <a:lnSpc>
                <a:spcPts val="2948"/>
              </a:lnSpc>
              <a:buNone/>
            </a:pPr>
            <a:r>
              <a:rPr lang="th-TH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= ค่าเครื่องอ้างอิงที่มีใบสอบเทียบ (fit ด้วย least squares, ทดสอบบนชุด validation) · 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2184" i="1" dirty="0">
                <a:solidFill>
                  <a:srgbClr val="142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1950" baseline="-25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int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 = 300 ms · 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2184" i="1" dirty="0">
                <a:solidFill>
                  <a:srgbClr val="142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 = 25</a:t>
            </a:r>
            <a:endParaRPr lang="en-US" sz="2184" dirty="0"/>
          </a:p>
        </p:txBody>
      </p:sp>
      <p:sp>
        <p:nvSpPr>
          <p:cNvPr id="159" name="ข้อความ: ตัวอย่างผลจำลอง a = 1.596, b = −4.…"/>
          <p:cNvSpPr txBox="1"/>
          <p:nvPr/>
        </p:nvSpPr>
        <p:spPr>
          <a:xfrm>
            <a:off x="10679278" y="31941181"/>
            <a:ext cx="7515819" cy="112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8"/>
              </a:lnSpc>
              <a:buNone/>
            </a:pPr>
            <a:r>
              <a:rPr lang="th-TH" altLang="en-US" sz="1700" dirty="0">
                <a:solidFill>
                  <a:srgbClr val="6B5200"/>
                </a:solidFill>
                <a:highlight>
                  <a:srgbClr val="FFF2C4"/>
                </a:highlight>
                <a:latin typeface="IBM Plex Sans Thai SemiBold" pitchFamily="34" charset="0"/>
                <a:ea typeface="IBM Plex Sans Thai SemiBold" pitchFamily="34" charset="-122"/>
                <a:cs typeface="IBM Plex Sans Thai SemiBold" pitchFamily="34" charset="-120"/>
              </a:rPr>
              <a:t>ตัวอย่างผลจำลอง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2184" i="1" dirty="0">
                <a:solidFill>
                  <a:srgbClr val="142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= 1.596, 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2184" i="1" dirty="0">
                <a:solidFill>
                  <a:srgbClr val="142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= −4.2 lx: Raw 250 lx ⇒ 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2184" i="1" dirty="0">
                <a:solidFill>
                  <a:srgbClr val="142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1950" baseline="-250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corr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= 1.596×250 − 4.2 = </a:t>
            </a:r>
            <a:pPr algn="l" indent="0" marL="0">
              <a:lnSpc>
                <a:spcPts val="2948"/>
              </a:lnSpc>
              <a:buNone/>
            </a:pPr>
            <a:r>
              <a:rPr lang="en-US" altLang="en-US" sz="195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394.8 lx</a:t>
            </a:r>
            <a:pPr algn="l" indent="0" marL="0">
              <a:lnSpc>
                <a:spcPts val="2948"/>
              </a:lnSpc>
              <a:buNone/>
            </a:pPr>
            <a:r>
              <a:rPr lang="th-TH" altLang="en-US" sz="19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อยู่ในช่วงยืนยันของเกณฑ์ 400 lx (371–429 lx) → วัดซ้ำด้วยเครื่องมาตรฐาน</a:t>
            </a:r>
            <a:endParaRPr lang="en-US" sz="1700" dirty="0"/>
          </a:p>
        </p:txBody>
      </p:sp>
      <p:sp>
        <p:nvSpPr>
          <p:cNvPr id="160" name="ข้อความ: RESULTS"/>
          <p:cNvSpPr txBox="1"/>
          <p:nvPr/>
        </p:nvSpPr>
        <p:spPr>
          <a:xfrm>
            <a:off x="20050780" y="5380970"/>
            <a:ext cx="7999994" cy="1057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5600" spc="100" kern="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RESULTS</a:t>
            </a:r>
            <a:endParaRPr lang="en-US" sz="5600" dirty="0"/>
          </a:p>
        </p:txBody>
      </p:sp>
      <p:sp>
        <p:nvSpPr>
          <p:cNvPr id="161" name="ข้อความ: ผลลัพธ์จากการจัดการความรู้"/>
          <p:cNvSpPr txBox="1"/>
          <p:nvPr/>
        </p:nvSpPr>
        <p:spPr>
          <a:xfrm>
            <a:off x="20050780" y="6254039"/>
            <a:ext cx="7999994" cy="476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2300" dirty="0">
                <a:solidFill>
                  <a:srgbClr val="4A5866"/>
                </a:solidFill>
                <a:latin typeface="IBM Plex Sans Thai Medium" pitchFamily="34" charset="0"/>
                <a:ea typeface="IBM Plex Sans Thai Medium" pitchFamily="34" charset="-122"/>
                <a:cs typeface="IBM Plex Sans Thai Medium" pitchFamily="34" charset="-120"/>
              </a:rPr>
              <a:t>ผลลัพธ์จากการจัดการความรู้</a:t>
            </a:r>
            <a:endParaRPr lang="en-US" sz="2300" dirty="0"/>
          </a:p>
        </p:txBody>
      </p:sp>
      <p:sp>
        <p:nvSpPr>
          <p:cNvPr id="162" name="เส้นใต้หัวข้อ #4"/>
          <p:cNvSpPr/>
          <p:nvPr/>
        </p:nvSpPr>
        <p:spPr>
          <a:xfrm>
            <a:off x="20050780" y="6793718"/>
            <a:ext cx="7999994" cy="88880"/>
          </a:xfrm>
          <a:prstGeom prst="rect">
            <a:avLst/>
          </a:prstGeom>
          <a:solidFill>
            <a:srgbClr val="2163A1"/>
          </a:solidFill>
          <a:ln/>
        </p:spPr>
      </p:sp>
      <p:sp>
        <p:nvSpPr>
          <p:cNvPr id="163" name="ข้อความ: ยังไม่มีข้อมูลวัดคู่จริง จึงประเมิ…"/>
          <p:cNvSpPr txBox="1"/>
          <p:nvPr/>
        </p:nvSpPr>
        <p:spPr>
          <a:xfrm>
            <a:off x="20050780" y="7147590"/>
            <a:ext cx="8080004" cy="1062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8"/>
              </a:lnSpc>
              <a:buNone/>
            </a:pPr>
            <a:r>
              <a:rPr lang="th-TH" altLang="en-US" sz="20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ยังไม่มีข้อมูลวัดคู่จริง จึงประเมินด้วย</a:t>
            </a:r>
            <a:pPr algn="l" indent="0" marL="0">
              <a:lnSpc>
                <a:spcPts val="2788"/>
              </a:lnSpc>
              <a:buNone/>
            </a:pPr>
            <a:r>
              <a:rPr lang="th-TH" altLang="en-US" sz="205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วิธีเชิงอัลกอริทึม</a:t>
            </a:r>
            <a:pPr algn="l" indent="0" marL="0">
              <a:lnSpc>
                <a:spcPts val="2788"/>
              </a:lnSpc>
              <a:buNone/>
            </a:pPr>
            <a:r>
              <a:rPr lang="th-TH" altLang="en-US" sz="20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: Monte Carlo 5,000 รอบ จาก datasheet TSL2591 + สเปก Hioki FT3424 (±2% rdg.) </a:t>
            </a:r>
            <a:pPr algn="l" indent="0" marL="0">
              <a:lnSpc>
                <a:spcPts val="2788"/>
              </a:lnSpc>
              <a:buNone/>
            </a:pPr>
            <a:r>
              <a:rPr lang="th-TH" altLang="en-US" sz="1700" dirty="0">
                <a:solidFill>
                  <a:srgbClr val="6B5200"/>
                </a:solidFill>
                <a:highlight>
                  <a:srgbClr val="FFF2C4"/>
                </a:highlight>
                <a:latin typeface="IBM Plex Sans Thai SemiBold" pitchFamily="34" charset="0"/>
                <a:ea typeface="IBM Plex Sans Thai SemiBold" pitchFamily="34" charset="-122"/>
                <a:cs typeface="IBM Plex Sans Thai SemiBold" pitchFamily="34" charset="-120"/>
              </a:rPr>
              <a:t>ผลจำลอง</a:t>
            </a:r>
            <a:endParaRPr lang="en-US" sz="2050" dirty="0"/>
          </a:p>
        </p:txBody>
      </p:sp>
      <p:sp>
        <p:nvSpPr>
          <p:cNvPr id="164" name="กล่อง KPI (1)"/>
          <p:cNvSpPr/>
          <p:nvPr/>
        </p:nvSpPr>
        <p:spPr>
          <a:xfrm>
            <a:off x="20050780" y="8248985"/>
            <a:ext cx="3911163" cy="1685696"/>
          </a:xfrm>
          <a:prstGeom prst="roundRect">
            <a:avLst>
              <a:gd name="adj" fmla="val 10545"/>
            </a:avLst>
          </a:prstGeom>
          <a:solidFill>
            <a:srgbClr val="00766A"/>
          </a:solidFill>
          <a:ln/>
        </p:spPr>
      </p:sp>
      <p:sp>
        <p:nvSpPr>
          <p:cNvPr id="165" name="กล่อง KPI (2)"/>
          <p:cNvSpPr/>
          <p:nvPr/>
        </p:nvSpPr>
        <p:spPr>
          <a:xfrm>
            <a:off x="20050780" y="8344174"/>
            <a:ext cx="3911163" cy="1590507"/>
          </a:xfrm>
          <a:prstGeom prst="roundRect">
            <a:avLst>
              <a:gd name="adj" fmla="val 11176"/>
            </a:avLst>
          </a:prstGeom>
          <a:solidFill>
            <a:srgbClr val="E3EFF6"/>
          </a:solidFill>
          <a:ln/>
        </p:spPr>
      </p:sp>
      <p:sp>
        <p:nvSpPr>
          <p:cNvPr id="166" name="ข้อความ: ±7.3%"/>
          <p:cNvSpPr txBox="1"/>
          <p:nvPr/>
        </p:nvSpPr>
        <p:spPr>
          <a:xfrm>
            <a:off x="20228448" y="8299734"/>
            <a:ext cx="3555827" cy="10190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5400" dirty="0">
                <a:solidFill>
                  <a:srgbClr val="00766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±7.3%</a:t>
            </a:r>
            <a:endParaRPr lang="en-US" sz="5400" dirty="0"/>
          </a:p>
        </p:txBody>
      </p:sp>
      <p:sp>
        <p:nvSpPr>
          <p:cNvPr id="167" name="ข้อความ: ความคลาดเคลื่อน (95%) หลังชดเชย เท…"/>
          <p:cNvSpPr txBox="1"/>
          <p:nvPr/>
        </p:nvSpPr>
        <p:spPr>
          <a:xfrm>
            <a:off x="20228448" y="9220078"/>
            <a:ext cx="3591397" cy="552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6"/>
              </a:lnSpc>
              <a:buNone/>
            </a:pPr>
            <a:r>
              <a:rPr lang="th-TH" altLang="en-US" sz="17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ความคลาดเคลื่อน (95%) หลังชดเชย เทียบกับค่าจริง</a:t>
            </a:r>
            <a:endParaRPr lang="en-US" sz="1700" dirty="0"/>
          </a:p>
        </p:txBody>
      </p:sp>
      <p:sp>
        <p:nvSpPr>
          <p:cNvPr id="168" name="กรอบ (1)"/>
          <p:cNvSpPr/>
          <p:nvPr/>
        </p:nvSpPr>
        <p:spPr>
          <a:xfrm>
            <a:off x="24139611" y="8248985"/>
            <a:ext cx="3911163" cy="1685696"/>
          </a:xfrm>
          <a:prstGeom prst="roundRect">
            <a:avLst>
              <a:gd name="adj" fmla="val 10545"/>
            </a:avLst>
          </a:prstGeom>
          <a:solidFill>
            <a:srgbClr val="2163A1"/>
          </a:solidFill>
          <a:ln/>
        </p:spPr>
      </p:sp>
      <p:sp>
        <p:nvSpPr>
          <p:cNvPr id="169" name="กรอบ (2)"/>
          <p:cNvSpPr/>
          <p:nvPr/>
        </p:nvSpPr>
        <p:spPr>
          <a:xfrm>
            <a:off x="24139611" y="8344174"/>
            <a:ext cx="3911163" cy="1590507"/>
          </a:xfrm>
          <a:prstGeom prst="roundRect">
            <a:avLst>
              <a:gd name="adj" fmla="val 11176"/>
            </a:avLst>
          </a:prstGeom>
          <a:solidFill>
            <a:srgbClr val="E3EFF6"/>
          </a:solidFill>
          <a:ln/>
        </p:spPr>
      </p:sp>
      <p:sp>
        <p:nvSpPr>
          <p:cNvPr id="170" name="ข้อความ: 37% → 2.5%"/>
          <p:cNvSpPr txBox="1"/>
          <p:nvPr/>
        </p:nvSpPr>
        <p:spPr>
          <a:xfrm>
            <a:off x="24317279" y="8299734"/>
            <a:ext cx="3555827" cy="10190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4000" dirty="0">
                <a:solidFill>
                  <a:srgbClr val="4A5866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37%</a:t>
            </a:r>
            <a:pPr algn="l" indent="0" marL="0">
              <a:buNone/>
            </a:pPr>
            <a:r>
              <a:rPr lang="en-US" altLang="en-US" sz="3400" dirty="0">
                <a:solidFill>
                  <a:srgbClr val="4A5866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 → </a:t>
            </a:r>
            <a:pPr algn="l" indent="0" marL="0">
              <a:buNone/>
            </a:pPr>
            <a:r>
              <a:rPr lang="en-US" altLang="en-US" sz="54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2.5%</a:t>
            </a:r>
            <a:endParaRPr lang="en-US" sz="4000" dirty="0"/>
          </a:p>
        </p:txBody>
      </p:sp>
      <p:sp>
        <p:nvSpPr>
          <p:cNvPr id="171" name="ข้อความ: MAPE ก่อน → หลังชดเชย (P95 หลังชดเ…"/>
          <p:cNvSpPr txBox="1"/>
          <p:nvPr/>
        </p:nvSpPr>
        <p:spPr>
          <a:xfrm>
            <a:off x="24317279" y="9293047"/>
            <a:ext cx="3591397" cy="552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6"/>
              </a:lnSpc>
              <a:buNone/>
            </a:pPr>
            <a:r>
              <a:rPr lang="th-TH" altLang="en-US" sz="17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MAPE ก่อน → หลังชดเชย (P95 หลังชดเชย 4.0%)</a:t>
            </a:r>
            <a:endParaRPr lang="en-US" sz="1700" dirty="0"/>
          </a:p>
        </p:txBody>
      </p:sp>
      <p:sp>
        <p:nvSpPr>
          <p:cNvPr id="172" name="กล่อง KPI (1) #2"/>
          <p:cNvSpPr/>
          <p:nvPr/>
        </p:nvSpPr>
        <p:spPr>
          <a:xfrm>
            <a:off x="20050780" y="10112350"/>
            <a:ext cx="3911163" cy="1685696"/>
          </a:xfrm>
          <a:prstGeom prst="roundRect">
            <a:avLst>
              <a:gd name="adj" fmla="val 10545"/>
            </a:avLst>
          </a:prstGeom>
          <a:solidFill>
            <a:srgbClr val="E0601A"/>
          </a:solidFill>
          <a:ln/>
        </p:spPr>
      </p:sp>
      <p:sp>
        <p:nvSpPr>
          <p:cNvPr id="173" name="กล่อง KPI (2) #2"/>
          <p:cNvSpPr/>
          <p:nvPr/>
        </p:nvSpPr>
        <p:spPr>
          <a:xfrm>
            <a:off x="20050780" y="10207630"/>
            <a:ext cx="3911163" cy="1590507"/>
          </a:xfrm>
          <a:prstGeom prst="roundRect">
            <a:avLst>
              <a:gd name="adj" fmla="val 11176"/>
            </a:avLst>
          </a:prstGeom>
          <a:solidFill>
            <a:srgbClr val="E3EFF6"/>
          </a:solidFill>
          <a:ln/>
        </p:spPr>
      </p:sp>
      <p:sp>
        <p:nvSpPr>
          <p:cNvPr id="174" name="ข้อความ: 45% → 0.07%"/>
          <p:cNvSpPr txBox="1"/>
          <p:nvPr/>
        </p:nvSpPr>
        <p:spPr>
          <a:xfrm>
            <a:off x="20228448" y="10163099"/>
            <a:ext cx="3555827" cy="10190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4000" dirty="0">
                <a:solidFill>
                  <a:srgbClr val="4A5866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45%</a:t>
            </a:r>
            <a:pPr algn="l" indent="0" marL="0">
              <a:buNone/>
            </a:pPr>
            <a:r>
              <a:rPr lang="en-US" altLang="en-US" sz="3400" dirty="0">
                <a:solidFill>
                  <a:srgbClr val="4A5866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 → </a:t>
            </a:r>
            <a:pPr algn="l" indent="0" marL="0">
              <a:buNone/>
            </a:pPr>
            <a:r>
              <a:rPr lang="en-US" altLang="en-US" sz="5400" dirty="0">
                <a:solidFill>
                  <a:srgbClr val="E0601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0.07%</a:t>
            </a:r>
            <a:endParaRPr lang="en-US" sz="4000" dirty="0"/>
          </a:p>
        </p:txBody>
      </p:sp>
      <p:sp>
        <p:nvSpPr>
          <p:cNvPr id="175" name="ข้อความ: ตัดสินผ่าน/ไม่ผ่านผิดที่เกณฑ์ 300 …"/>
          <p:cNvSpPr txBox="1"/>
          <p:nvPr/>
        </p:nvSpPr>
        <p:spPr>
          <a:xfrm>
            <a:off x="20228448" y="11156412"/>
            <a:ext cx="3591397" cy="552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6"/>
              </a:lnSpc>
              <a:buNone/>
            </a:pPr>
            <a:r>
              <a:rPr lang="th-TH" altLang="en-US" sz="17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ตัดสินผ่าน/ไม่ผ่านผิดที่เกณฑ์ 300 lx (guard band: ส่งยืนยัน 13% ของจุด)</a:t>
            </a:r>
            <a:endParaRPr lang="en-US" sz="1700" dirty="0"/>
          </a:p>
        </p:txBody>
      </p:sp>
      <p:sp>
        <p:nvSpPr>
          <p:cNvPr id="176" name="กรอบ (1) #2"/>
          <p:cNvSpPr/>
          <p:nvPr/>
        </p:nvSpPr>
        <p:spPr>
          <a:xfrm>
            <a:off x="24139611" y="10112350"/>
            <a:ext cx="3911163" cy="1685696"/>
          </a:xfrm>
          <a:prstGeom prst="roundRect">
            <a:avLst>
              <a:gd name="adj" fmla="val 10545"/>
            </a:avLst>
          </a:prstGeom>
          <a:solidFill>
            <a:srgbClr val="2163A1"/>
          </a:solidFill>
          <a:ln/>
        </p:spPr>
      </p:sp>
      <p:sp>
        <p:nvSpPr>
          <p:cNvPr id="177" name="กรอบ (2) #2"/>
          <p:cNvSpPr/>
          <p:nvPr/>
        </p:nvSpPr>
        <p:spPr>
          <a:xfrm>
            <a:off x="24139611" y="10207630"/>
            <a:ext cx="3911163" cy="1590507"/>
          </a:xfrm>
          <a:prstGeom prst="roundRect">
            <a:avLst>
              <a:gd name="adj" fmla="val 11176"/>
            </a:avLst>
          </a:prstGeom>
          <a:solidFill>
            <a:srgbClr val="E3EFF6"/>
          </a:solidFill>
          <a:ln/>
        </p:spPr>
      </p:sp>
      <p:sp>
        <p:nvSpPr>
          <p:cNvPr id="178" name="ข้อความ: 41 → 0"/>
          <p:cNvSpPr txBox="1"/>
          <p:nvPr/>
        </p:nvSpPr>
        <p:spPr>
          <a:xfrm>
            <a:off x="24317279" y="10163099"/>
            <a:ext cx="3555827" cy="10190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4000" dirty="0">
                <a:solidFill>
                  <a:srgbClr val="4A5866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41</a:t>
            </a:r>
            <a:pPr algn="l" indent="0" marL="0">
              <a:buNone/>
            </a:pPr>
            <a:r>
              <a:rPr lang="en-US" altLang="en-US" sz="3400" dirty="0">
                <a:solidFill>
                  <a:srgbClr val="4A5866"/>
                </a:solidFill>
                <a:latin typeface="Kanit Medium" pitchFamily="34" charset="0"/>
                <a:ea typeface="Kanit Medium" pitchFamily="34" charset="-122"/>
                <a:cs typeface="Kanit Medium" pitchFamily="34" charset="-120"/>
              </a:rPr>
              <a:t> → </a:t>
            </a:r>
            <a:pPr algn="l" indent="0" marL="0">
              <a:buNone/>
            </a:pPr>
            <a:r>
              <a:rPr lang="en-US" altLang="en-US" sz="54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0</a:t>
            </a:r>
            <a:endParaRPr lang="en-US" sz="4000" dirty="0"/>
          </a:p>
        </p:txBody>
      </p:sp>
      <p:sp>
        <p:nvSpPr>
          <p:cNvPr id="179" name="ข้อความ: ระดับแสงที่ auto-range แกว่งจน SAT…"/>
          <p:cNvSpPr txBox="1"/>
          <p:nvPr/>
        </p:nvSpPr>
        <p:spPr>
          <a:xfrm>
            <a:off x="24317279" y="11156412"/>
            <a:ext cx="3591397" cy="552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6"/>
              </a:lnSpc>
              <a:buNone/>
            </a:pPr>
            <a:r>
              <a:rPr lang="th-TH" altLang="en-US" sz="17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ระดับแสงที่ auto-range แกว่งจน SATURATED (v1.0 → v1.1, 521 ระดับ)</a:t>
            </a:r>
            <a:endParaRPr lang="en-US" sz="1700" dirty="0"/>
          </a:p>
        </p:txBody>
      </p:sp>
      <p:pic>
        <p:nvPicPr>
          <p:cNvPr id="180" name="ภาพ fig_cal_scatter_poster.svg" descr="ภาพ fig_cal_scatter_poster.sv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066679" y="11924873"/>
            <a:ext cx="5968197" cy="4609856"/>
          </a:xfrm>
          <a:prstGeom prst="rect">
            <a:avLst/>
          </a:prstGeom>
        </p:spPr>
      </p:pic>
      <p:sp>
        <p:nvSpPr>
          <p:cNvPr id="181" name="ข้อความ: ภาพที่ 6 ต้นแบบเทียบเครื่องอ้างอิง…"/>
          <p:cNvSpPr txBox="1"/>
          <p:nvPr/>
        </p:nvSpPr>
        <p:spPr>
          <a:xfrm>
            <a:off x="20050780" y="16612636"/>
            <a:ext cx="8080004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1"/>
              </a:lnSpc>
              <a:buNone/>
            </a:pPr>
            <a:r>
              <a:rPr lang="th-TH" altLang="en-US" sz="17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ภาพที่ 6</a:t>
            </a:r>
            <a:pPr algn="l" indent="0" marL="0">
              <a:lnSpc>
                <a:spcPts val="2261"/>
              </a:lnSpc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ต้นแบบเทียบเครื่องอ้างอิง: ก่อนชดเชยอ่านต่ำกว่าจริงราว 1/3 (ประมาณจาก datasheet) หลังชดเชยเข้าใกล้ y = x</a:t>
            </a:r>
            <a:endParaRPr lang="en-US" sz="1700" dirty="0"/>
          </a:p>
        </p:txBody>
      </p:sp>
      <p:sp>
        <p:nvSpPr>
          <p:cNvPr id="182" name="กล่องพื้นหลัง (1)"/>
          <p:cNvSpPr/>
          <p:nvPr/>
        </p:nvSpPr>
        <p:spPr>
          <a:xfrm>
            <a:off x="20050780" y="17311787"/>
            <a:ext cx="7999994" cy="5325008"/>
          </a:xfrm>
          <a:prstGeom prst="roundRect">
            <a:avLst>
              <a:gd name="adj" fmla="val 3338"/>
            </a:avLst>
          </a:prstGeom>
          <a:solidFill>
            <a:srgbClr val="E0601A"/>
          </a:solidFill>
          <a:ln/>
        </p:spPr>
      </p:sp>
      <p:sp>
        <p:nvSpPr>
          <p:cNvPr id="183" name="กล่องพื้นหลัง (2)"/>
          <p:cNvSpPr/>
          <p:nvPr/>
        </p:nvSpPr>
        <p:spPr>
          <a:xfrm>
            <a:off x="20174590" y="17311787"/>
            <a:ext cx="7876184" cy="5325008"/>
          </a:xfrm>
          <a:prstGeom prst="roundRect">
            <a:avLst>
              <a:gd name="adj" fmla="val 3338"/>
            </a:avLst>
          </a:prstGeom>
          <a:solidFill>
            <a:srgbClr val="FDEBDF"/>
          </a:solidFill>
          <a:ln/>
        </p:spPr>
      </p:sp>
      <p:sp>
        <p:nvSpPr>
          <p:cNvPr id="184" name="ข้อความ: ผลการใช้งานจริง"/>
          <p:cNvSpPr/>
          <p:nvPr/>
        </p:nvSpPr>
        <p:spPr>
          <a:xfrm>
            <a:off x="20403099" y="17502256"/>
            <a:ext cx="2041947" cy="423824"/>
          </a:xfrm>
          <a:prstGeom prst="roundRect">
            <a:avLst>
              <a:gd name="adj" fmla="val 49989"/>
            </a:avLst>
          </a:prstGeom>
          <a:solidFill>
            <a:srgbClr val="00766A"/>
          </a:solidFill>
          <a:ln/>
        </p:spPr>
        <p:txBody>
          <a:bodyPr wrap="none" lIns="203200" tIns="63500" rIns="203200" bIns="63500" rtlCol="0" anchor="ctr"/>
          <a:lstStyle/>
          <a:p>
            <a:pPr algn="l" indent="0" marL="0">
              <a:buNone/>
            </a:pPr>
            <a:r>
              <a:rPr lang="th-TH" altLang="en-US" sz="1800" dirty="0">
                <a:solidFill>
                  <a:srgbClr val="FFFFFF"/>
                </a:solidFill>
                <a:latin typeface="IBM Plex Sans Thai SemiBold" pitchFamily="34" charset="0"/>
                <a:ea typeface="IBM Plex Sans Thai SemiBold" pitchFamily="34" charset="-122"/>
                <a:cs typeface="IBM Plex Sans Thai SemiBold" pitchFamily="34" charset="-120"/>
              </a:rPr>
              <a:t>ผลการใช้งานจริง</a:t>
            </a:r>
            <a:endParaRPr lang="en-US" sz="1800" dirty="0"/>
          </a:p>
        </p:txBody>
      </p:sp>
      <p:sp>
        <p:nvSpPr>
          <p:cNvPr id="185" name="ข้อความ: 10–30%"/>
          <p:cNvSpPr txBox="1"/>
          <p:nvPr/>
        </p:nvSpPr>
        <p:spPr>
          <a:xfrm>
            <a:off x="20403099" y="17814889"/>
            <a:ext cx="2498507" cy="1057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5600" dirty="0">
                <a:solidFill>
                  <a:srgbClr val="E0601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10–30%</a:t>
            </a:r>
            <a:endParaRPr lang="en-US" sz="5600" dirty="0"/>
          </a:p>
        </p:txBody>
      </p:sp>
      <p:sp>
        <p:nvSpPr>
          <p:cNvPr id="186" name="ข้อความ: ห้องทำงานเกือบทุกห้องของสำนักดิจิท…"/>
          <p:cNvSpPr txBox="1"/>
          <p:nvPr/>
        </p:nvSpPr>
        <p:spPr>
          <a:xfrm>
            <a:off x="23104785" y="17612076"/>
            <a:ext cx="4764573" cy="1062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8"/>
              </a:lnSpc>
              <a:buNone/>
            </a:pPr>
            <a:r>
              <a:rPr lang="th-TH" altLang="en-US" sz="20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ห้องทำงาน</a:t>
            </a:r>
            <a:pPr algn="l" indent="0" marL="0">
              <a:lnSpc>
                <a:spcPts val="2788"/>
              </a:lnSpc>
              <a:buNone/>
            </a:pPr>
            <a:r>
              <a:rPr lang="th-TH" altLang="en-US" sz="205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เกือบทุกห้อง</a:t>
            </a:r>
            <a:pPr algn="l" indent="0" marL="0">
              <a:lnSpc>
                <a:spcPts val="2788"/>
              </a:lnSpc>
              <a:buNone/>
            </a:pPr>
            <a:r>
              <a:rPr lang="th-TH" altLang="en-US" sz="20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ของสำนักดิจิทัลเทคโนโลยี (ยกเว้นห้องประชุม) มีแสง</a:t>
            </a:r>
            <a:pPr algn="l" indent="0" marL="0">
              <a:lnSpc>
                <a:spcPts val="2788"/>
              </a:lnSpc>
              <a:buNone/>
            </a:pPr>
            <a:r>
              <a:rPr lang="th-TH" altLang="en-US" sz="205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ต่ำกว่าระดับมาตรฐาน</a:t>
            </a:r>
            <a:pPr algn="l" indent="0" marL="0">
              <a:lnSpc>
                <a:spcPts val="2788"/>
              </a:lnSpc>
              <a:buNone/>
            </a:pPr>
            <a:r>
              <a:rPr lang="th-TH" altLang="en-US" sz="20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→ ผู้บริหารวางแผนปรับปรุง</a:t>
            </a:r>
            <a:endParaRPr lang="en-US" sz="2050" dirty="0"/>
          </a:p>
        </p:txBody>
      </p:sp>
      <p:sp>
        <p:nvSpPr>
          <p:cNvPr id="187" name="กล่องสูตร"/>
          <p:cNvSpPr/>
          <p:nvPr/>
        </p:nvSpPr>
        <p:spPr>
          <a:xfrm>
            <a:off x="20403099" y="18824844"/>
            <a:ext cx="7419076" cy="1436888"/>
          </a:xfrm>
          <a:prstGeom prst="roundRect">
            <a:avLst>
              <a:gd name="adj" fmla="val 8839"/>
            </a:avLst>
          </a:prstGeom>
          <a:solidFill>
            <a:srgbClr val="FFFFFF"/>
          </a:solidFill>
          <a:ln/>
        </p:spPr>
      </p:sp>
      <p:sp>
        <p:nvSpPr>
          <p:cNvPr id="188" name="ข้อความ: ขาดเล็กน้อย เปลี่ยนหลอด LED วัตต์ส…"/>
          <p:cNvSpPr txBox="1"/>
          <p:nvPr/>
        </p:nvSpPr>
        <p:spPr>
          <a:xfrm>
            <a:off x="20555529" y="19152840"/>
            <a:ext cx="1904787" cy="82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th-TH" altLang="en-US" sz="1800" dirty="0">
                <a:solidFill>
                  <a:srgbClr val="E0601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ขาดเล็กน้อย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th-TH" altLang="en-US" sz="1800" dirty="0">
                <a:solidFill>
                  <a:srgbClr val="E0601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เปลี่ยนหลอด LED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th-TH" altLang="en-US" sz="1800" dirty="0">
                <a:solidFill>
                  <a:srgbClr val="E0601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วัตต์สูงขึ้น</a:t>
            </a:r>
            <a:endParaRPr lang="en-US" sz="1800" dirty="0"/>
          </a:p>
        </p:txBody>
      </p:sp>
      <p:pic>
        <p:nvPicPr>
          <p:cNvPr id="189" name="สูตรเปลี่ยนวัตต์หลอด" descr="สูตรเปลี่ยนวัตต์หลอด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612655" y="18926343"/>
            <a:ext cx="2805379" cy="931865"/>
          </a:xfrm>
          <a:prstGeom prst="rect">
            <a:avLst/>
          </a:prstGeom>
        </p:spPr>
      </p:pic>
      <p:sp>
        <p:nvSpPr>
          <p:cNvPr id="190" name="ข้อความ: เช่น วัดได้ 270 lx: 18 W → 22 W"/>
          <p:cNvSpPr txBox="1"/>
          <p:nvPr/>
        </p:nvSpPr>
        <p:spPr>
          <a:xfrm>
            <a:off x="22612655" y="19851807"/>
            <a:ext cx="5057181" cy="352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65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เช่น วัดได้ 270 lx: 18 W → 22 W</a:t>
            </a:r>
            <a:endParaRPr lang="en-US" sz="1650" dirty="0"/>
          </a:p>
        </p:txBody>
      </p:sp>
      <p:sp>
        <p:nvSpPr>
          <p:cNvPr id="191" name="กล่องสูตร #2"/>
          <p:cNvSpPr/>
          <p:nvPr/>
        </p:nvSpPr>
        <p:spPr>
          <a:xfrm>
            <a:off x="20403099" y="20363231"/>
            <a:ext cx="7419076" cy="1436888"/>
          </a:xfrm>
          <a:prstGeom prst="roundRect">
            <a:avLst>
              <a:gd name="adj" fmla="val 8839"/>
            </a:avLst>
          </a:prstGeom>
          <a:solidFill>
            <a:srgbClr val="FFFFFF"/>
          </a:solidFill>
          <a:ln/>
        </p:spPr>
      </p:sp>
      <p:sp>
        <p:nvSpPr>
          <p:cNvPr id="192" name="ข้อความ: ขาดมาก ติดหลอดไฟเพิ่ม"/>
          <p:cNvSpPr txBox="1"/>
          <p:nvPr/>
        </p:nvSpPr>
        <p:spPr>
          <a:xfrm>
            <a:off x="20555529" y="20828386"/>
            <a:ext cx="1904787" cy="548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th-TH" altLang="en-US" sz="1800" dirty="0">
                <a:solidFill>
                  <a:srgbClr val="E0601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ขาดมาก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th-TH" altLang="en-US" sz="1800" dirty="0">
                <a:solidFill>
                  <a:srgbClr val="E0601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ติดหลอดไฟเพิ่ม</a:t>
            </a:r>
            <a:endParaRPr lang="en-US" sz="1800" dirty="0"/>
          </a:p>
        </p:txBody>
      </p:sp>
      <p:pic>
        <p:nvPicPr>
          <p:cNvPr id="193" name="สูตรเพิ่มจำนวนหลอด" descr="สูตรเพิ่มจำนวนหลอด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612655" y="20464729"/>
            <a:ext cx="3081528" cy="931865"/>
          </a:xfrm>
          <a:prstGeom prst="rect">
            <a:avLst/>
          </a:prstGeom>
        </p:spPr>
      </p:pic>
      <p:sp>
        <p:nvSpPr>
          <p:cNvPr id="194" name="ข้อความ: เช่น วัดได้ 220 lx, 6 ดวง → 9 ดวง"/>
          <p:cNvSpPr txBox="1"/>
          <p:nvPr/>
        </p:nvSpPr>
        <p:spPr>
          <a:xfrm>
            <a:off x="22612655" y="21390193"/>
            <a:ext cx="5057181" cy="352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65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เช่น วัดได้ 220 lx, 6 ดวง → 9 ดวง</a:t>
            </a:r>
            <a:endParaRPr lang="en-US" sz="1650" dirty="0"/>
          </a:p>
        </p:txBody>
      </p:sp>
      <p:sp>
        <p:nvSpPr>
          <p:cNvPr id="195" name="ข้อความ: Lumen method: E = NΦ·UF·MF/A ⇒ E ∝…"/>
          <p:cNvSpPr txBox="1"/>
          <p:nvPr/>
        </p:nvSpPr>
        <p:spPr>
          <a:xfrm>
            <a:off x="20403099" y="21899240"/>
            <a:ext cx="7493234" cy="58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Lumen method: E = NΦ·UF·MF/A ⇒ E ∝ NΦ · เป้าหมาย = เกณฑ์ × (1 + U</a:t>
            </a:r>
            <a:pPr algn="l" indent="0" marL="0">
              <a:lnSpc>
                <a:spcPts val="2295"/>
              </a:lnSpc>
              <a:buNone/>
            </a:pPr>
            <a:r>
              <a:rPr lang="en-US" altLang="en-US" sz="1700" baseline="-250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95</a:t>
            </a:r>
            <a:pPr algn="l" indent="0" marL="0">
              <a:lnSpc>
                <a:spcPts val="2295"/>
              </a:lnSpc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) · ยืนยันด้วยเครื่องมาตรฐานก่อนจัดซื้อ</a:t>
            </a:r>
            <a:endParaRPr lang="en-US" sz="1700" dirty="0"/>
          </a:p>
        </p:txBody>
      </p:sp>
      <p:sp>
        <p:nvSpPr>
          <p:cNvPr id="196" name="ข้อความ: CONCLUSIONS"/>
          <p:cNvSpPr txBox="1"/>
          <p:nvPr/>
        </p:nvSpPr>
        <p:spPr>
          <a:xfrm>
            <a:off x="20050780" y="22709673"/>
            <a:ext cx="7999994" cy="1057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5600" spc="100" kern="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CONCLUSIONS</a:t>
            </a:r>
            <a:endParaRPr lang="en-US" sz="5600" dirty="0"/>
          </a:p>
        </p:txBody>
      </p:sp>
      <p:sp>
        <p:nvSpPr>
          <p:cNvPr id="197" name="ข้อความ: สรุปและบทเรียน"/>
          <p:cNvSpPr txBox="1"/>
          <p:nvPr/>
        </p:nvSpPr>
        <p:spPr>
          <a:xfrm>
            <a:off x="20050780" y="23582742"/>
            <a:ext cx="7999994" cy="476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2300" dirty="0">
                <a:solidFill>
                  <a:srgbClr val="4A5866"/>
                </a:solidFill>
                <a:latin typeface="IBM Plex Sans Thai Medium" pitchFamily="34" charset="0"/>
                <a:ea typeface="IBM Plex Sans Thai Medium" pitchFamily="34" charset="-122"/>
                <a:cs typeface="IBM Plex Sans Thai Medium" pitchFamily="34" charset="-120"/>
              </a:rPr>
              <a:t>สรุปและบทเรียน</a:t>
            </a:r>
            <a:endParaRPr lang="en-US" sz="2300" dirty="0"/>
          </a:p>
        </p:txBody>
      </p:sp>
      <p:sp>
        <p:nvSpPr>
          <p:cNvPr id="198" name="เส้นใต้หัวข้อ #5"/>
          <p:cNvSpPr/>
          <p:nvPr/>
        </p:nvSpPr>
        <p:spPr>
          <a:xfrm>
            <a:off x="20050780" y="24122512"/>
            <a:ext cx="7999994" cy="88880"/>
          </a:xfrm>
          <a:prstGeom prst="rect">
            <a:avLst/>
          </a:prstGeom>
          <a:solidFill>
            <a:srgbClr val="2163A1"/>
          </a:solidFill>
          <a:ln/>
        </p:spPr>
      </p:sp>
      <p:sp>
        <p:nvSpPr>
          <p:cNvPr id="199" name="ข้อความ: ใช้ได้จริง: เครื่องละ ~385 ฿ พบห้อ…"/>
          <p:cNvSpPr txBox="1"/>
          <p:nvPr/>
        </p:nvSpPr>
        <p:spPr>
          <a:xfrm>
            <a:off x="20634899" y="24392260"/>
            <a:ext cx="7415875" cy="43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1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ใช้ได้จริง</a:t>
            </a:r>
            <a:pPr algn="l" indent="0" marL="0">
              <a:buNone/>
            </a:pPr>
            <a:r>
              <a:rPr lang="th-TH" altLang="en-US" sz="21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: เครื่องละ ~385 ฿ พบห้องแสงไม่พอ → แผนปรับปรุงทันที</a:t>
            </a:r>
            <a:endParaRPr lang="en-US" sz="2100" dirty="0"/>
          </a:p>
        </p:txBody>
      </p:sp>
      <p:sp>
        <p:nvSpPr>
          <p:cNvPr id="200" name="ข้อความ: 1."/>
          <p:cNvSpPr txBox="1"/>
          <p:nvPr/>
        </p:nvSpPr>
        <p:spPr>
          <a:xfrm>
            <a:off x="20050780" y="24351021"/>
            <a:ext cx="205831" cy="571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1.</a:t>
            </a:r>
            <a:endParaRPr lang="en-US" sz="3000" dirty="0"/>
          </a:p>
        </p:txBody>
      </p:sp>
      <p:sp>
        <p:nvSpPr>
          <p:cNvPr id="201" name="ข้อความ: บทเรียนหน้างาน: LED วูบ 100 ครั้ง/…"/>
          <p:cNvSpPr txBox="1"/>
          <p:nvPr/>
        </p:nvSpPr>
        <p:spPr>
          <a:xfrm>
            <a:off x="20634899" y="24906519"/>
            <a:ext cx="7490033" cy="714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th-TH" altLang="en-US" sz="2100" b="1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บทเรียนหน้างาน</a:t>
            </a:r>
            <a:pPr algn="l" indent="0" marL="0">
              <a:lnSpc>
                <a:spcPts val="2814"/>
              </a:lnSpc>
              <a:buNone/>
            </a:pPr>
            <a:r>
              <a:rPr lang="th-TH" altLang="en-US" sz="21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: LED วูบ 100 ครั้ง/วินาทีตามไฟ 50 Hz → เฉลี่ย 5 ค่า ค่านิ่งขึ้น ~2.3 เท่า</a:t>
            </a:r>
            <a:endParaRPr lang="en-US" sz="2100" dirty="0"/>
          </a:p>
        </p:txBody>
      </p:sp>
      <p:sp>
        <p:nvSpPr>
          <p:cNvPr id="202" name="ข้อความ: 2."/>
          <p:cNvSpPr txBox="1"/>
          <p:nvPr/>
        </p:nvSpPr>
        <p:spPr>
          <a:xfrm>
            <a:off x="20050780" y="24784538"/>
            <a:ext cx="269748" cy="571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2.</a:t>
            </a:r>
            <a:endParaRPr lang="en-US" sz="3000" dirty="0"/>
          </a:p>
        </p:txBody>
      </p:sp>
      <p:sp>
        <p:nvSpPr>
          <p:cNvPr id="203" name="ข้อความ: ความรู้เป็นโค้ด SOP คู่มือ STL ที่…"/>
          <p:cNvSpPr txBox="1"/>
          <p:nvPr/>
        </p:nvSpPr>
        <p:spPr>
          <a:xfrm>
            <a:off x="20634899" y="25616550"/>
            <a:ext cx="7415875" cy="43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1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ความรู้เป็นโค้ด SOP คู่มือ STL ที่ทำซ้ำได้โดยไม่ต้องพึ่งผู้พัฒนา</a:t>
            </a:r>
            <a:endParaRPr lang="en-US" sz="2100" dirty="0"/>
          </a:p>
        </p:txBody>
      </p:sp>
      <p:sp>
        <p:nvSpPr>
          <p:cNvPr id="204" name="ข้อความ: 3."/>
          <p:cNvSpPr txBox="1"/>
          <p:nvPr/>
        </p:nvSpPr>
        <p:spPr>
          <a:xfrm>
            <a:off x="20050780" y="25575311"/>
            <a:ext cx="274411" cy="571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3.</a:t>
            </a:r>
            <a:endParaRPr lang="en-US" sz="3000" dirty="0"/>
          </a:p>
        </p:txBody>
      </p:sp>
      <p:sp>
        <p:nvSpPr>
          <p:cNvPr id="205" name="กรอบ #5"/>
          <p:cNvSpPr/>
          <p:nvPr/>
        </p:nvSpPr>
        <p:spPr>
          <a:xfrm>
            <a:off x="20050780" y="26224535"/>
            <a:ext cx="7999994" cy="1622603"/>
          </a:xfrm>
          <a:prstGeom prst="roundRect">
            <a:avLst>
              <a:gd name="adj" fmla="val 10955"/>
            </a:avLst>
          </a:prstGeom>
          <a:solidFill>
            <a:srgbClr val="DFF0EC"/>
          </a:solidFill>
          <a:ln/>
        </p:spPr>
      </p:sp>
      <p:sp>
        <p:nvSpPr>
          <p:cNvPr id="206" name="ข้อความ: เปิดให้ร่วมพัฒนาต่อบน GitHub"/>
          <p:cNvSpPr txBox="1"/>
          <p:nvPr/>
        </p:nvSpPr>
        <p:spPr>
          <a:xfrm>
            <a:off x="20279289" y="26329325"/>
            <a:ext cx="7542886" cy="438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2300" dirty="0">
                <a:solidFill>
                  <a:srgbClr val="00766A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เปิดให้ร่วมพัฒนาต่อบน GitHub</a:t>
            </a:r>
            <a:endParaRPr lang="en-US" sz="2300" dirty="0"/>
          </a:p>
        </p:txBody>
      </p:sp>
      <p:sp>
        <p:nvSpPr>
          <p:cNvPr id="207" name="ข้อความ: · วัดคู่จริงกับเครื่องมาตรฐาน"/>
          <p:cNvSpPr txBox="1"/>
          <p:nvPr/>
        </p:nvSpPr>
        <p:spPr>
          <a:xfrm>
            <a:off x="20279289" y="26740074"/>
            <a:ext cx="3669762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7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· วัดคู่จริงกับเครื่องมาตรฐาน</a:t>
            </a:r>
            <a:endParaRPr lang="en-US" sz="1750" dirty="0"/>
          </a:p>
        </p:txBody>
      </p:sp>
      <p:sp>
        <p:nvSpPr>
          <p:cNvPr id="208" name="ข้อความ: · สมการแยกตามชนิดหลอด"/>
          <p:cNvSpPr txBox="1"/>
          <p:nvPr/>
        </p:nvSpPr>
        <p:spPr>
          <a:xfrm>
            <a:off x="24152230" y="26740074"/>
            <a:ext cx="3669944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7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· สมการแยกตามชนิดหลอด</a:t>
            </a:r>
            <a:endParaRPr lang="en-US" sz="1750" dirty="0"/>
          </a:p>
        </p:txBody>
      </p:sp>
      <p:sp>
        <p:nvSpPr>
          <p:cNvPr id="209" name="ข้อความ: · Wi-Fi logging + dashboard"/>
          <p:cNvSpPr txBox="1"/>
          <p:nvPr/>
        </p:nvSpPr>
        <p:spPr>
          <a:xfrm>
            <a:off x="20279289" y="27053987"/>
            <a:ext cx="3669762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17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· Wi-Fi logging + dashboard</a:t>
            </a:r>
            <a:endParaRPr lang="en-US" sz="1750" dirty="0"/>
          </a:p>
        </p:txBody>
      </p:sp>
      <p:sp>
        <p:nvSpPr>
          <p:cNvPr id="210" name="ข้อความ: · ฝากระจายแสง (cosine)"/>
          <p:cNvSpPr txBox="1"/>
          <p:nvPr/>
        </p:nvSpPr>
        <p:spPr>
          <a:xfrm>
            <a:off x="24152230" y="27053987"/>
            <a:ext cx="3669944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7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· ฝากระจายแสง (cosine)</a:t>
            </a:r>
            <a:endParaRPr lang="en-US" sz="1750" dirty="0"/>
          </a:p>
        </p:txBody>
      </p:sp>
      <p:sp>
        <p:nvSpPr>
          <p:cNvPr id="211" name="ข้อความ: · แผนที่ความสว่างจากกริด"/>
          <p:cNvSpPr txBox="1"/>
          <p:nvPr/>
        </p:nvSpPr>
        <p:spPr>
          <a:xfrm>
            <a:off x="20279289" y="27367992"/>
            <a:ext cx="3669762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7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· แผนที่ความสว่างจากกริด</a:t>
            </a:r>
            <a:endParaRPr lang="en-US" sz="1750" dirty="0"/>
          </a:p>
        </p:txBody>
      </p:sp>
      <p:sp>
        <p:nvSpPr>
          <p:cNvPr id="212" name="ข้อความ: · เซนเซอร์ CO₂/อุณหภูมิ/เสียง"/>
          <p:cNvSpPr txBox="1"/>
          <p:nvPr/>
        </p:nvSpPr>
        <p:spPr>
          <a:xfrm>
            <a:off x="24152230" y="27367992"/>
            <a:ext cx="3669944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7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· เซนเซอร์ CO₂/อุณหภูมิ/เสียง</a:t>
            </a:r>
            <a:endParaRPr lang="en-US" sz="1750" dirty="0"/>
          </a:p>
        </p:txBody>
      </p:sp>
      <p:sp>
        <p:nvSpPr>
          <p:cNvPr id="213" name="กล่องพื้นหลัง #7"/>
          <p:cNvSpPr/>
          <p:nvPr/>
        </p:nvSpPr>
        <p:spPr>
          <a:xfrm>
            <a:off x="20050780" y="27948636"/>
            <a:ext cx="7999994" cy="5449367"/>
          </a:xfrm>
          <a:prstGeom prst="roundRect">
            <a:avLst>
              <a:gd name="adj" fmla="val 3262"/>
            </a:avLst>
          </a:prstGeom>
          <a:solidFill>
            <a:srgbClr val="B4D5E5"/>
          </a:solidFill>
          <a:ln/>
        </p:spPr>
      </p:sp>
      <p:sp>
        <p:nvSpPr>
          <p:cNvPr id="214" name="ข้อความ: เผยแพร่แล้ว · สแกนเพื่อนำไปใช้"/>
          <p:cNvSpPr txBox="1"/>
          <p:nvPr/>
        </p:nvSpPr>
        <p:spPr>
          <a:xfrm>
            <a:off x="20304618" y="28085156"/>
            <a:ext cx="7492228" cy="571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3000" dirty="0">
                <a:solidFill>
                  <a:srgbClr val="14202B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เผยแพร่แล้ว · สแกนเพื่อนำไปใช้</a:t>
            </a:r>
            <a:endParaRPr lang="en-US" sz="3000" dirty="0"/>
          </a:p>
        </p:txBody>
      </p:sp>
      <p:sp>
        <p:nvSpPr>
          <p:cNvPr id="215" name="ข้อความ: github.com/banpot/LightCheck-KM"/>
          <p:cNvSpPr txBox="1"/>
          <p:nvPr/>
        </p:nvSpPr>
        <p:spPr>
          <a:xfrm>
            <a:off x="20304618" y="28557992"/>
            <a:ext cx="7492228" cy="514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2700" u="none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  <a:hlinkClick r:id="rId21" invalidUrl="" action="" tgtFrame="" tooltip="https://github.com/banpot/LightCheck-K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github.com/banpot/LightCheck-KM</a:t>
            </a:r>
            <a:endParaRPr lang="en-US" sz="2700" dirty="0"/>
          </a:p>
        </p:txBody>
      </p:sp>
      <p:pic>
        <p:nvPicPr>
          <p:cNvPr id="216" name="QR GitHub" descr="QR GitHub">
            <a:hlinkClick r:id="rId23" tooltip="https://github.com/banpot/LightCheck-KM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304618" y="29153449"/>
            <a:ext cx="2996763" cy="2996763"/>
          </a:xfrm>
          <a:prstGeom prst="roundRect">
            <a:avLst>
              <a:gd name="adj" fmla="val 2542"/>
            </a:avLst>
          </a:prstGeom>
        </p:spPr>
      </p:pic>
      <p:sp>
        <p:nvSpPr>
          <p:cNvPr id="217" name="ข้อความ: สแกน QR → คู่มือ, firmware, STL"/>
          <p:cNvSpPr txBox="1"/>
          <p:nvPr/>
        </p:nvSpPr>
        <p:spPr>
          <a:xfrm>
            <a:off x="24012418" y="29284940"/>
            <a:ext cx="3784519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8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สแกน QR → คู่มือ, firmware, STL</a:t>
            </a:r>
            <a:endParaRPr lang="en-US" sz="1850" dirty="0"/>
          </a:p>
        </p:txBody>
      </p:sp>
      <p:sp>
        <p:nvSpPr>
          <p:cNvPr id="218" name="ข้อความ: 1 #3"/>
          <p:cNvSpPr/>
          <p:nvPr/>
        </p:nvSpPr>
        <p:spPr>
          <a:xfrm>
            <a:off x="23504469" y="29345199"/>
            <a:ext cx="380939" cy="380939"/>
          </a:xfrm>
          <a:prstGeom prst="ellipse">
            <a:avLst/>
          </a:prstGeom>
          <a:solidFill>
            <a:srgbClr val="00766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219" name="ข้อความ: ซื้ออุปกรณ์ 359 ฿ + พิมพ์กล่อง 54 …"/>
          <p:cNvSpPr txBox="1"/>
          <p:nvPr/>
        </p:nvSpPr>
        <p:spPr>
          <a:xfrm>
            <a:off x="24012418" y="29674566"/>
            <a:ext cx="3784519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8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ซื้ออุปกรณ์ 359 ฿ + พิมพ์กล่อง 54 g</a:t>
            </a:r>
            <a:endParaRPr lang="en-US" sz="1850" dirty="0"/>
          </a:p>
        </p:txBody>
      </p:sp>
      <p:sp>
        <p:nvSpPr>
          <p:cNvPr id="220" name="ข้อความ: 2 #3"/>
          <p:cNvSpPr/>
          <p:nvPr/>
        </p:nvSpPr>
        <p:spPr>
          <a:xfrm>
            <a:off x="23504469" y="29734825"/>
            <a:ext cx="380939" cy="380939"/>
          </a:xfrm>
          <a:prstGeom prst="ellipse">
            <a:avLst/>
          </a:prstGeom>
          <a:solidFill>
            <a:srgbClr val="00766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221" name="ข้อความ: ต่อสายตามผัง + อัปโหลด firmware"/>
          <p:cNvSpPr txBox="1"/>
          <p:nvPr/>
        </p:nvSpPr>
        <p:spPr>
          <a:xfrm>
            <a:off x="24012418" y="30064100"/>
            <a:ext cx="3784519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8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ต่อสายตามผัง + อัปโหลด firmware</a:t>
            </a:r>
            <a:endParaRPr lang="en-US" sz="1850" dirty="0"/>
          </a:p>
        </p:txBody>
      </p:sp>
      <p:sp>
        <p:nvSpPr>
          <p:cNvPr id="222" name="ข้อความ: 3 #3"/>
          <p:cNvSpPr/>
          <p:nvPr/>
        </p:nvSpPr>
        <p:spPr>
          <a:xfrm>
            <a:off x="23504469" y="30124359"/>
            <a:ext cx="380939" cy="380939"/>
          </a:xfrm>
          <a:prstGeom prst="ellipse">
            <a:avLst/>
          </a:prstGeom>
          <a:solidFill>
            <a:srgbClr val="00766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223" name="ข้อความ: สอบเทียบกับเครื่องมาตรฐาน 1 ครั้ง"/>
          <p:cNvSpPr txBox="1"/>
          <p:nvPr/>
        </p:nvSpPr>
        <p:spPr>
          <a:xfrm>
            <a:off x="24012418" y="30453726"/>
            <a:ext cx="3784519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8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สอบเทียบกับเครื่องมาตรฐาน 1 ครั้ง</a:t>
            </a:r>
            <a:endParaRPr lang="en-US" sz="1850" dirty="0"/>
          </a:p>
        </p:txBody>
      </p:sp>
      <p:sp>
        <p:nvSpPr>
          <p:cNvPr id="224" name="ข้อความ: 4 #2"/>
          <p:cNvSpPr/>
          <p:nvPr/>
        </p:nvSpPr>
        <p:spPr>
          <a:xfrm>
            <a:off x="23504469" y="30513985"/>
            <a:ext cx="380939" cy="380939"/>
          </a:xfrm>
          <a:prstGeom prst="ellipse">
            <a:avLst/>
          </a:prstGeom>
          <a:solidFill>
            <a:srgbClr val="00766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25" name="ข้อความ: วัดตาม SOP: จดค่าเมื่อจอขึ้น * จุด…"/>
          <p:cNvSpPr txBox="1"/>
          <p:nvPr/>
        </p:nvSpPr>
        <p:spPr>
          <a:xfrm>
            <a:off x="24012418" y="30933055"/>
            <a:ext cx="3822283" cy="601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8"/>
              </a:lnSpc>
              <a:buNone/>
            </a:pPr>
            <a:r>
              <a:rPr lang="th-TH" altLang="en-US" sz="18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วัดตาม SOP: จดค่าเมื่อจอขึ้น * จุดใกล้เกณฑ์ส่งยืนยัน</a:t>
            </a:r>
            <a:endParaRPr lang="en-US" sz="1850" dirty="0"/>
          </a:p>
        </p:txBody>
      </p:sp>
      <p:sp>
        <p:nvSpPr>
          <p:cNvPr id="226" name="ข้อความ: 5 #2"/>
          <p:cNvSpPr/>
          <p:nvPr/>
        </p:nvSpPr>
        <p:spPr>
          <a:xfrm>
            <a:off x="23504469" y="30903611"/>
            <a:ext cx="380939" cy="380939"/>
          </a:xfrm>
          <a:prstGeom prst="ellipse">
            <a:avLst/>
          </a:prstGeom>
          <a:solidFill>
            <a:srgbClr val="00766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227" name="ข้อความ: ขอรับการถ่ายทอด: เปิด Issue ใน rep…"/>
          <p:cNvSpPr txBox="1"/>
          <p:nvPr/>
        </p:nvSpPr>
        <p:spPr>
          <a:xfrm>
            <a:off x="24012418" y="31533633"/>
            <a:ext cx="3784519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th-TH" altLang="en-US" sz="185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ขอรับการถ่ายทอด: เปิด Issue ใน repo</a:t>
            </a:r>
            <a:endParaRPr lang="en-US" sz="1850" dirty="0"/>
          </a:p>
        </p:txBody>
      </p:sp>
      <p:sp>
        <p:nvSpPr>
          <p:cNvPr id="228" name="ข้อความ: 6"/>
          <p:cNvSpPr/>
          <p:nvPr/>
        </p:nvSpPr>
        <p:spPr>
          <a:xfrm>
            <a:off x="23504469" y="31593892"/>
            <a:ext cx="380939" cy="380939"/>
          </a:xfrm>
          <a:prstGeom prst="ellipse">
            <a:avLst/>
          </a:prstGeom>
          <a:solidFill>
            <a:srgbClr val="00766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6</a:t>
            </a:r>
            <a:endParaRPr lang="en-US" sz="1800" dirty="0"/>
          </a:p>
        </p:txBody>
      </p:sp>
      <p:sp>
        <p:nvSpPr>
          <p:cNvPr id="229" name="เส้นคั่นสถิติ"/>
          <p:cNvSpPr/>
          <p:nvPr/>
        </p:nvSpPr>
        <p:spPr>
          <a:xfrm>
            <a:off x="20304618" y="32277040"/>
            <a:ext cx="7492228" cy="19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0" name="ข้อความ: 20"/>
          <p:cNvSpPr txBox="1"/>
          <p:nvPr/>
        </p:nvSpPr>
        <p:spPr>
          <a:xfrm>
            <a:off x="20304618" y="32289750"/>
            <a:ext cx="1090513" cy="761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40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20</a:t>
            </a:r>
            <a:endParaRPr lang="en-US" sz="4000" dirty="0"/>
          </a:p>
        </p:txBody>
      </p:sp>
      <p:sp>
        <p:nvSpPr>
          <p:cNvPr id="231" name="ข้อความ: เอกสาร/คู่มือ"/>
          <p:cNvSpPr txBox="1"/>
          <p:nvPr/>
        </p:nvSpPr>
        <p:spPr>
          <a:xfrm>
            <a:off x="20304618" y="32892888"/>
            <a:ext cx="1090513" cy="3332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16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เอกสาร/คู่มือ</a:t>
            </a:r>
            <a:endParaRPr lang="en-US" sz="1600" dirty="0"/>
          </a:p>
        </p:txBody>
      </p:sp>
      <p:sp>
        <p:nvSpPr>
          <p:cNvPr id="232" name="ข้อความ: 2 #4"/>
          <p:cNvSpPr txBox="1"/>
          <p:nvPr/>
        </p:nvSpPr>
        <p:spPr>
          <a:xfrm>
            <a:off x="22329739" y="32289750"/>
            <a:ext cx="707106" cy="761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40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2</a:t>
            </a:r>
            <a:endParaRPr lang="en-US" sz="4000" dirty="0"/>
          </a:p>
        </p:txBody>
      </p:sp>
      <p:sp>
        <p:nvSpPr>
          <p:cNvPr id="233" name="ข้อความ: ไฟล์ STL"/>
          <p:cNvSpPr txBox="1"/>
          <p:nvPr/>
        </p:nvSpPr>
        <p:spPr>
          <a:xfrm>
            <a:off x="22329739" y="32892888"/>
            <a:ext cx="707106" cy="3332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16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ไฟล์ STL</a:t>
            </a:r>
            <a:endParaRPr lang="en-US" sz="1600" dirty="0"/>
          </a:p>
        </p:txBody>
      </p:sp>
      <p:sp>
        <p:nvSpPr>
          <p:cNvPr id="234" name="ข้อความ: 19"/>
          <p:cNvSpPr txBox="1"/>
          <p:nvPr/>
        </p:nvSpPr>
        <p:spPr>
          <a:xfrm>
            <a:off x="23971453" y="32289750"/>
            <a:ext cx="1464594" cy="761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40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19</a:t>
            </a:r>
            <a:endParaRPr lang="en-US" sz="4000" dirty="0"/>
          </a:p>
        </p:txBody>
      </p:sp>
      <p:sp>
        <p:nvSpPr>
          <p:cNvPr id="235" name="ข้อความ: เครื่องมือ Python"/>
          <p:cNvSpPr txBox="1"/>
          <p:nvPr/>
        </p:nvSpPr>
        <p:spPr>
          <a:xfrm>
            <a:off x="23971453" y="32892888"/>
            <a:ext cx="1464594" cy="3332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th-TH" altLang="en-US" sz="16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เครื่องมือ Python</a:t>
            </a:r>
            <a:endParaRPr lang="en-US" sz="1600" dirty="0"/>
          </a:p>
        </p:txBody>
      </p:sp>
      <p:sp>
        <p:nvSpPr>
          <p:cNvPr id="236" name="ข้อความ: Public"/>
          <p:cNvSpPr txBox="1"/>
          <p:nvPr/>
        </p:nvSpPr>
        <p:spPr>
          <a:xfrm>
            <a:off x="26370656" y="32384939"/>
            <a:ext cx="1426190" cy="571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dirty="0">
                <a:solidFill>
                  <a:srgbClr val="2163A1"/>
                </a:solidFill>
                <a:latin typeface="Kanit SemiBold" pitchFamily="34" charset="0"/>
                <a:ea typeface="Kanit SemiBold" pitchFamily="34" charset="-122"/>
                <a:cs typeface="Kanit SemiBold" pitchFamily="34" charset="-120"/>
              </a:rPr>
              <a:t>Public</a:t>
            </a:r>
            <a:endParaRPr lang="en-US" sz="3000" dirty="0"/>
          </a:p>
        </p:txBody>
      </p:sp>
      <p:sp>
        <p:nvSpPr>
          <p:cNvPr id="237" name="ข้อความ: MIT / CC BY 4.0"/>
          <p:cNvSpPr txBox="1"/>
          <p:nvPr/>
        </p:nvSpPr>
        <p:spPr>
          <a:xfrm>
            <a:off x="26370656" y="32891517"/>
            <a:ext cx="1426190" cy="3332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14202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MIT / CC BY 4.0</a:t>
            </a:r>
            <a:endParaRPr lang="en-US" sz="1600" dirty="0"/>
          </a:p>
        </p:txBody>
      </p:sp>
      <p:sp>
        <p:nvSpPr>
          <p:cNvPr id="238" name="แถบสีท้ายโปสเตอร์"/>
          <p:cNvSpPr/>
          <p:nvPr/>
        </p:nvSpPr>
        <p:spPr>
          <a:xfrm>
            <a:off x="0" y="33650743"/>
            <a:ext cx="28800034" cy="152339"/>
          </a:xfrm>
          <a:prstGeom prst="rect">
            <a:avLst/>
          </a:prstGeom>
          <a:solidFill>
            <a:srgbClr val="2163A1"/>
          </a:solidFill>
          <a:ln/>
        </p:spPr>
      </p:sp>
      <p:sp>
        <p:nvSpPr>
          <p:cNvPr id="239" name="ข้อความ: Silpakorn KM Day 2569"/>
          <p:cNvSpPr txBox="1"/>
          <p:nvPr/>
        </p:nvSpPr>
        <p:spPr>
          <a:xfrm>
            <a:off x="888797" y="34088832"/>
            <a:ext cx="4192250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i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Silpakorn KM Day 2569</a:t>
            </a:r>
            <a:endParaRPr lang="en-US" sz="3000" dirty="0"/>
          </a:p>
        </p:txBody>
      </p:sp>
      <p:sp>
        <p:nvSpPr>
          <p:cNvPr id="240" name="ข้อความ: 18 Dec 2026"/>
          <p:cNvSpPr txBox="1"/>
          <p:nvPr/>
        </p:nvSpPr>
        <p:spPr>
          <a:xfrm>
            <a:off x="888797" y="35091929"/>
            <a:ext cx="2181850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i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Dec 2026</a:t>
            </a:r>
            <a:endParaRPr lang="en-US" sz="3000" dirty="0"/>
          </a:p>
        </p:txBody>
      </p:sp>
      <p:sp>
        <p:nvSpPr>
          <p:cNvPr id="241" name="ข้อความ: OFFICE THE PRESIDENT SILPAKORN UNI…"/>
          <p:cNvSpPr txBox="1"/>
          <p:nvPr/>
        </p:nvSpPr>
        <p:spPr>
          <a:xfrm>
            <a:off x="18145994" y="34180912"/>
            <a:ext cx="9108064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2950" b="1" i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THE PRESIDENT SILPAKORN UNIVERSITY</a:t>
            </a:r>
            <a:endParaRPr lang="en-US" sz="2950" dirty="0"/>
          </a:p>
        </p:txBody>
      </p:sp>
      <p:sp>
        <p:nvSpPr>
          <p:cNvPr id="242" name="ข้อความ: 22, Borommarachachonani Rd., Talin…"/>
          <p:cNvSpPr txBox="1"/>
          <p:nvPr/>
        </p:nvSpPr>
        <p:spPr>
          <a:xfrm>
            <a:off x="18145994" y="35196719"/>
            <a:ext cx="9476933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altLang="en-US" sz="2950" b="1" i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 Borommarachachonani Rd., Talingchan, Bangkok</a:t>
            </a:r>
            <a:endParaRPr lang="en-US" sz="2950" dirty="0"/>
          </a:p>
        </p:txBody>
      </p:sp>
      <p:sp>
        <p:nvSpPr>
          <p:cNvPr id="243" name="ข้อความ: ตัวเลขที่ติดป้าย ผลจำลอง มาจากแบบจ…"/>
          <p:cNvSpPr txBox="1"/>
          <p:nvPr/>
        </p:nvSpPr>
        <p:spPr>
          <a:xfrm>
            <a:off x="6730075" y="34321181"/>
            <a:ext cx="11174517" cy="58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95"/>
              </a:lnSpc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ตัวเลขที่ติดป้าย </a:t>
            </a:r>
            <a:pPr algn="ctr" indent="0" marL="0">
              <a:lnSpc>
                <a:spcPts val="2295"/>
              </a:lnSpc>
              <a:buNone/>
            </a:pPr>
            <a:r>
              <a:rPr lang="th-TH" altLang="en-US" sz="1700" dirty="0">
                <a:solidFill>
                  <a:srgbClr val="6B5200"/>
                </a:solidFill>
                <a:highlight>
                  <a:srgbClr val="FFF2C4"/>
                </a:highlight>
                <a:latin typeface="IBM Plex Sans Thai SemiBold" pitchFamily="34" charset="0"/>
                <a:ea typeface="IBM Plex Sans Thai SemiBold" pitchFamily="34" charset="-122"/>
                <a:cs typeface="IBM Plex Sans Thai SemiBold" pitchFamily="34" charset="-120"/>
              </a:rPr>
              <a:t>ผลจำลอง</a:t>
            </a:r>
            <a:pPr algn="ctr" indent="0" marL="0">
              <a:lnSpc>
                <a:spcPts val="2295"/>
              </a:lnSpc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มาจากแบบจำลองเชิงอัลกอริทึม ไม่ใช่ข้อมูลวัดจริง</a:t>
            </a:r>
            <a:endParaRPr lang="en-US" sz="1700" dirty="0"/>
          </a:p>
          <a:p>
            <a:pPr algn="ctr" indent="0" marL="0">
              <a:lnSpc>
                <a:spcPts val="2295"/>
              </a:lnSpc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สร้างซ้ำได้ด้วยคำสั่ง </a:t>
            </a:r>
            <a:pPr algn="ctr" indent="0" marL="0">
              <a:lnSpc>
                <a:spcPts val="2295"/>
              </a:lnSpc>
              <a:buNone/>
            </a:pPr>
            <a:r>
              <a:rPr lang="en-US" altLang="en-US" sz="1700" b="1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make all</a:t>
            </a:r>
            <a:pPr algn="ctr" indent="0" marL="0">
              <a:lnSpc>
                <a:spcPts val="2295"/>
              </a:lnSpc>
              <a:buNone/>
            </a:pPr>
            <a:r>
              <a:rPr lang="th-TH" altLang="en-US" sz="1700" dirty="0">
                <a:solidFill>
                  <a:srgbClr val="4A586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 ใน repository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163A1"/>
      </a:hlink>
      <a:folHlink>
        <a:srgbClr val="2163A1"/>
      </a:folHlink>
    </a:clrScheme>
    <a:fontScheme name="Office">
      <a:majorFont>
        <a:latin typeface="Kanit SemiBold"/>
        <a:ea typeface=""/>
        <a:cs typeface="Kanit SemiBold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Kanit SemiBold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Thai"/>
        <a:ea typeface=""/>
        <a:cs typeface="IBM Plex Sans Tha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IBM Plex Sans Tha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สำนักดิจิทัลเทคโนโลยี มหาวิทยาลัยศิลปากร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LightCheck KM poster 80x100 cm (Silpakorn KM Day 2569)</dc:title>
  <dc:subject>Editable poster source</dc:subject>
  <dc:creator>ว่าที่ ร.ต. ดร. บรรพต ดลวิทยากุล</dc:creator>
  <cp:lastModifiedBy>ว่าที่ ร.ต. ดร. บรรพต ดลวิทยากุล</cp:lastModifiedBy>
  <cp:revision>1</cp:revision>
  <dcterms:created xsi:type="dcterms:W3CDTF">2026-10-23T08:51:40Z</dcterms:created>
  <dcterms:modified xsi:type="dcterms:W3CDTF">2026-10-23T08:51:40Z</dcterms:modified>
</cp:coreProperties>
</file>